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3"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4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215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(draft): “Hi, I’m Nex, I’ll be walking you through this module. It’ll take about eight minutes. This module is Policies and Expectations. You’ll learn to recognise when a situation calls for checking guidance before you act, and to apply NexaTech’s expectations across two realistic workplace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“It’s your second week at NexaTech. This message just came in from Daniel Moss, on the Marketing team. [Message] Hi Aisha! Putting together a partner presentation this week — could you send over the Q3 client rollout doc your team worked on? Would really help. Thanks! Daniel isn’t on your team, and you’re not sure whether this document is yours to share. What do you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“One decision down. You paused and checked instead of guessing — or you saw what happens when you don’t. Judgment calls like this don’t stop after one email. This time, you can check the actual guidance yourself before deciding.”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“This time it’s an email — from Aditya Sharma, an Account Manager at BrightPath Logistics. [Message] Hi Aisha, congrats on the new role! We’re setting up something similar for our own team — mind sending over NexaTech’s internal onboarding schedule? Just want to see how you’ve structured it. Aditya isn’t a NexaTech employee. Before you decide how to respond, you can check the guidance on requests like this. What do you 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“When you’re not sure whether something can be shared, don’t guess. Check the guidance, or ask the person who owns that decision, before you act. Two different situations — a colleague and a vendor, an internal doc and an internal schedule — same habit both times. Checking before acting is what makes the judgment call easy, whether or not a resource is handed to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“Good judgment isn’t about knowing every policy by heart. It’s knowing when to pause and check.”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E2761">
              <a:alpha val="60000"/>
            </a:srgbClr>
          </a:solidFill>
          <a:ln/>
        </p:spPr>
        <p:txBody>
          <a:bodyPr/>
          <a:lstStyle/>
          <a:p>
            <a:endParaRPr/>
          </a:p>
        </p:txBody>
      </p:sp>
      <p:sp>
        <p:nvSpPr>
          <p:cNvPr id="3" name="Shape 1"/>
          <p:cNvSpPr/>
          <p:nvPr/>
        </p:nvSpPr>
        <p:spPr>
          <a:xfrm>
            <a:off x="-2286000" y="4389120"/>
            <a:ext cx="4572000" cy="4572000"/>
          </a:xfrm>
          <a:prstGeom prst="ellipse">
            <a:avLst/>
          </a:prstGeom>
          <a:solidFill>
            <a:srgbClr val="1E2761">
              <a:alpha val="45000"/>
            </a:srgbClr>
          </a:solidFill>
          <a:ln/>
        </p:spPr>
        <p:txBody>
          <a:bodyPr/>
          <a:lstStyle/>
          <a:p>
            <a:endParaRPr/>
          </a:p>
        </p:txBody>
      </p:sp>
      <p:sp>
        <p:nvSpPr>
          <p:cNvPr id="4" name="Text 2"/>
          <p:cNvSpPr txBox="1"/>
          <p:nvPr/>
        </p:nvSpPr>
        <p:spPr>
          <a:xfrm>
            <a:off x="822960" y="1828800"/>
            <a:ext cx="9144000" cy="320040"/>
          </a:xfrm>
          <a:prstGeom prst="rect">
            <a:avLst/>
          </a:prstGeom>
          <a:noFill/>
          <a:ln/>
        </p:spPr>
        <p:txBody>
          <a:bodyPr wrap="square" lIns="0" tIns="0" rIns="0" bIns="0" rtlCol="0" anchor="ctr"/>
          <a:lstStyle/>
          <a:p>
            <a:pPr marL="0" indent="0">
              <a:buNone/>
            </a:pPr>
            <a:r>
              <a:rPr lang="en-US" sz="1300" b="1" kern="0" spc="220" dirty="0">
                <a:solidFill>
                  <a:srgbClr val="CADCFC"/>
                </a:solidFill>
                <a:latin typeface="Calibri" pitchFamily="34" charset="0"/>
                <a:ea typeface="Calibri" pitchFamily="34" charset="-122"/>
                <a:cs typeface="Calibri" pitchFamily="34" charset="-120"/>
              </a:rPr>
              <a:t>NEXATECH ONBOARDING PATHWAY</a:t>
            </a:r>
            <a:endParaRPr lang="en-US" sz="1300" dirty="0"/>
          </a:p>
        </p:txBody>
      </p:sp>
      <p:sp>
        <p:nvSpPr>
          <p:cNvPr id="5" name="Text 3"/>
          <p:cNvSpPr txBox="1"/>
          <p:nvPr/>
        </p:nvSpPr>
        <p:spPr>
          <a:xfrm>
            <a:off x="822960" y="2194560"/>
            <a:ext cx="100584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Module 4 — Policies &amp; Expectations</a:t>
            </a:r>
            <a:endParaRPr lang="en-US" sz="3800" dirty="0"/>
          </a:p>
        </p:txBody>
      </p:sp>
      <p:sp>
        <p:nvSpPr>
          <p:cNvPr id="6" name="Text 4"/>
          <p:cNvSpPr txBox="1"/>
          <p:nvPr/>
        </p:nvSpPr>
        <p:spPr>
          <a:xfrm>
            <a:off x="822960" y="2907792"/>
            <a:ext cx="10058400" cy="64008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“What Would You Do?”</a:t>
            </a:r>
            <a:endParaRPr lang="en-US" sz="2600" dirty="0"/>
          </a:p>
        </p:txBody>
      </p:sp>
      <p:sp>
        <p:nvSpPr>
          <p:cNvPr id="7" name="Shape 5"/>
          <p:cNvSpPr/>
          <p:nvPr/>
        </p:nvSpPr>
        <p:spPr>
          <a:xfrm>
            <a:off x="868680" y="3749040"/>
            <a:ext cx="1280160" cy="41148"/>
          </a:xfrm>
          <a:prstGeom prst="rect">
            <a:avLst/>
          </a:prstGeom>
          <a:solidFill>
            <a:srgbClr val="CADCFC"/>
          </a:solidFill>
          <a:ln/>
        </p:spPr>
        <p:txBody>
          <a:bodyPr/>
          <a:lstStyle/>
          <a:p>
            <a:endParaRPr/>
          </a:p>
        </p:txBody>
      </p:sp>
      <p:sp>
        <p:nvSpPr>
          <p:cNvPr id="8" name="Text 6"/>
          <p:cNvSpPr txBox="1"/>
          <p:nvPr/>
        </p:nvSpPr>
        <p:spPr>
          <a:xfrm>
            <a:off x="822960" y="3950208"/>
            <a:ext cx="8503920" cy="685800"/>
          </a:xfrm>
          <a:prstGeom prst="rect">
            <a:avLst/>
          </a:prstGeom>
          <a:noFill/>
          <a:ln/>
        </p:spPr>
        <p:txBody>
          <a:bodyPr wrap="square" lIns="0" tIns="0" rIns="0" bIns="0" rtlCol="0" anchor="ctr"/>
          <a:lstStyle/>
          <a:p>
            <a:pPr marL="0" indent="0">
              <a:lnSpc>
                <a:spcPct val="120000"/>
              </a:lnSpc>
              <a:buNone/>
            </a:pPr>
            <a:r>
              <a:rPr lang="en-US" sz="1400" dirty="0">
                <a:solidFill>
                  <a:srgbClr val="C4CCEA"/>
                </a:solidFill>
                <a:latin typeface="Calibri" pitchFamily="34" charset="0"/>
                <a:ea typeface="Calibri" pitchFamily="34" charset="-122"/>
                <a:cs typeface="Calibri" pitchFamily="34" charset="-120"/>
              </a:rPr>
              <a:t>Two-decision branching scenario: a document-sharing call, then a second judgment call with an embedded guidance look-up. Introduced by an on-screen guide, Nex.</a:t>
            </a:r>
            <a:endParaRPr lang="en-US" sz="1400" dirty="0"/>
          </a:p>
        </p:txBody>
      </p:sp>
      <p:sp>
        <p:nvSpPr>
          <p:cNvPr id="9" name="Shape 7"/>
          <p:cNvSpPr/>
          <p:nvPr/>
        </p:nvSpPr>
        <p:spPr>
          <a:xfrm>
            <a:off x="822960" y="4892040"/>
            <a:ext cx="1874520" cy="384048"/>
          </a:xfrm>
          <a:prstGeom prst="roundRect">
            <a:avLst>
              <a:gd name="adj" fmla="val 50000"/>
            </a:avLst>
          </a:prstGeom>
          <a:solidFill>
            <a:srgbClr val="232C5C"/>
          </a:solidFill>
          <a:ln w="12700">
            <a:solidFill>
              <a:srgbClr val="3A447E"/>
            </a:solidFill>
            <a:prstDash val="solid"/>
          </a:ln>
        </p:spPr>
        <p:txBody>
          <a:bodyPr/>
          <a:lstStyle/>
          <a:p>
            <a:endParaRPr/>
          </a:p>
        </p:txBody>
      </p:sp>
      <p:sp>
        <p:nvSpPr>
          <p:cNvPr id="10" name="Text 8"/>
          <p:cNvSpPr txBox="1"/>
          <p:nvPr/>
        </p:nvSpPr>
        <p:spPr>
          <a:xfrm>
            <a:off x="822960" y="4892040"/>
            <a:ext cx="187452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2 decision points</a:t>
            </a:r>
            <a:endParaRPr lang="en-US" sz="1050" dirty="0"/>
          </a:p>
        </p:txBody>
      </p:sp>
      <p:sp>
        <p:nvSpPr>
          <p:cNvPr id="11" name="Shape 9"/>
          <p:cNvSpPr/>
          <p:nvPr/>
        </p:nvSpPr>
        <p:spPr>
          <a:xfrm>
            <a:off x="2880360" y="4892040"/>
            <a:ext cx="2697480" cy="384048"/>
          </a:xfrm>
          <a:prstGeom prst="roundRect">
            <a:avLst>
              <a:gd name="adj" fmla="val 50000"/>
            </a:avLst>
          </a:prstGeom>
          <a:solidFill>
            <a:srgbClr val="232C5C"/>
          </a:solidFill>
          <a:ln w="12700">
            <a:solidFill>
              <a:srgbClr val="3A447E"/>
            </a:solidFill>
            <a:prstDash val="solid"/>
          </a:ln>
        </p:spPr>
        <p:txBody>
          <a:bodyPr/>
          <a:lstStyle/>
          <a:p>
            <a:endParaRPr/>
          </a:p>
        </p:txBody>
      </p:sp>
      <p:sp>
        <p:nvSpPr>
          <p:cNvPr id="12" name="Text 10"/>
          <p:cNvSpPr txBox="1"/>
          <p:nvPr/>
        </p:nvSpPr>
        <p:spPr>
          <a:xfrm>
            <a:off x="2880360" y="4892040"/>
            <a:ext cx="269748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Consequence-based feedback</a:t>
            </a:r>
            <a:endParaRPr lang="en-US" sz="1050" dirty="0"/>
          </a:p>
        </p:txBody>
      </p:sp>
      <p:sp>
        <p:nvSpPr>
          <p:cNvPr id="13" name="Shape 11"/>
          <p:cNvSpPr/>
          <p:nvPr/>
        </p:nvSpPr>
        <p:spPr>
          <a:xfrm>
            <a:off x="5760720" y="4892040"/>
            <a:ext cx="2606040" cy="384048"/>
          </a:xfrm>
          <a:prstGeom prst="roundRect">
            <a:avLst>
              <a:gd name="adj" fmla="val 50000"/>
            </a:avLst>
          </a:prstGeom>
          <a:solidFill>
            <a:srgbClr val="232C5C"/>
          </a:solidFill>
          <a:ln w="12700">
            <a:solidFill>
              <a:srgbClr val="3A447E"/>
            </a:solidFill>
            <a:prstDash val="solid"/>
          </a:ln>
        </p:spPr>
        <p:txBody>
          <a:bodyPr/>
          <a:lstStyle/>
          <a:p>
            <a:endParaRPr/>
          </a:p>
        </p:txBody>
      </p:sp>
      <p:sp>
        <p:nvSpPr>
          <p:cNvPr id="14" name="Text 12"/>
          <p:cNvSpPr txBox="1"/>
          <p:nvPr/>
        </p:nvSpPr>
        <p:spPr>
          <a:xfrm>
            <a:off x="5760720" y="4892040"/>
            <a:ext cx="260604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Embedded resource look-up</a:t>
            </a:r>
            <a:endParaRPr lang="en-US" sz="1050" dirty="0"/>
          </a:p>
        </p:txBody>
      </p:sp>
      <p:sp>
        <p:nvSpPr>
          <p:cNvPr id="15" name="Text 13"/>
          <p:cNvSpPr txBox="1"/>
          <p:nvPr/>
        </p:nvSpPr>
        <p:spPr>
          <a:xfrm>
            <a:off x="822960" y="5989320"/>
            <a:ext cx="7315200" cy="548640"/>
          </a:xfrm>
          <a:prstGeom prst="rect">
            <a:avLst/>
          </a:prstGeom>
          <a:noFill/>
          <a:ln/>
        </p:spPr>
        <p:txBody>
          <a:bodyPr wrap="square" lIns="0" tIns="0" rIns="0" bIns="0" rtlCol="0" anchor="ctr"/>
          <a:lstStyle/>
          <a:p>
            <a:pPr marL="0" indent="0">
              <a:lnSpc>
                <a:spcPct val="130000"/>
              </a:lnSpc>
              <a:buNone/>
            </a:pPr>
            <a:r>
              <a:rPr lang="en-US" sz="1150" b="1" dirty="0">
                <a:solidFill>
                  <a:srgbClr val="8892B8"/>
                </a:solidFill>
                <a:latin typeface="Calibri" pitchFamily="34" charset="0"/>
                <a:ea typeface="Calibri" pitchFamily="34" charset="-122"/>
                <a:cs typeface="Calibri" pitchFamily="34" charset="-120"/>
              </a:rPr>
              <a:t>Instructional Design Portfolio Project</a:t>
            </a:r>
            <a:endParaRPr lang="en-US" sz="1150" dirty="0"/>
          </a:p>
          <a:p>
            <a:pPr marL="0" indent="0">
              <a:lnSpc>
                <a:spcPct val="130000"/>
              </a:lnSpc>
              <a:buNone/>
            </a:pPr>
            <a:r>
              <a:rPr lang="en-US" sz="1150" dirty="0">
                <a:solidFill>
                  <a:srgbClr val="8892B8"/>
                </a:solidFill>
                <a:latin typeface="Calibri" pitchFamily="34" charset="0"/>
                <a:ea typeface="Calibri" pitchFamily="34" charset="-122"/>
                <a:cs typeface="Calibri" pitchFamily="34" charset="-120"/>
              </a:rPr>
              <a:t>Designer: Sanjana Kashyap</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MODULE MAP</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Screen Flow &amp; Design Intent</a:t>
            </a:r>
            <a:endParaRPr lang="en-US" sz="2500" dirty="0"/>
          </a:p>
        </p:txBody>
      </p:sp>
      <p:sp>
        <p:nvSpPr>
          <p:cNvPr id="4" name="Text 2"/>
          <p:cNvSpPr txBox="1"/>
          <p:nvPr/>
        </p:nvSpPr>
        <p:spPr>
          <a:xfrm>
            <a:off x="457200" y="969264"/>
            <a:ext cx="941832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Two decision points, two different mechanics — branching, then branching + resource look-up  ·  slide numbers follow the Storyline file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Text 5"/>
          <p:cNvSpPr txBox="1"/>
          <p:nvPr/>
        </p:nvSpPr>
        <p:spPr>
          <a:xfrm>
            <a:off x="457200" y="1536192"/>
            <a:ext cx="3657600" cy="228600"/>
          </a:xfrm>
          <a:prstGeom prst="rect">
            <a:avLst/>
          </a:prstGeom>
          <a:noFill/>
          <a:ln/>
        </p:spPr>
        <p:txBody>
          <a:bodyPr wrap="square" lIns="0" tIns="0" rIns="0" bIns="0" rtlCol="0" anchor="ctr"/>
          <a:lstStyle/>
          <a:p>
            <a:pPr marL="0" indent="0">
              <a:buNone/>
            </a:pPr>
            <a:r>
              <a:rPr lang="en-US" sz="1000" b="1" kern="0" spc="100" dirty="0">
                <a:solidFill>
                  <a:srgbClr val="5B6785"/>
                </a:solidFill>
                <a:latin typeface="Calibri" pitchFamily="34" charset="0"/>
                <a:ea typeface="Calibri" pitchFamily="34" charset="-122"/>
                <a:cs typeface="Calibri" pitchFamily="34" charset="-120"/>
              </a:rPr>
              <a:t>INTRO  ·  DECISION 1</a:t>
            </a:r>
            <a:endParaRPr lang="en-US" sz="1000" dirty="0"/>
          </a:p>
        </p:txBody>
      </p:sp>
      <p:sp>
        <p:nvSpPr>
          <p:cNvPr id="8" name="Shape 6"/>
          <p:cNvSpPr/>
          <p:nvPr/>
        </p:nvSpPr>
        <p:spPr>
          <a:xfrm>
            <a:off x="2240280" y="1783080"/>
            <a:ext cx="141732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9" name="Text 7"/>
          <p:cNvSpPr txBox="1"/>
          <p:nvPr/>
        </p:nvSpPr>
        <p:spPr>
          <a:xfrm>
            <a:off x="2240280" y="1874520"/>
            <a:ext cx="1417320" cy="228600"/>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1.2</a:t>
            </a:r>
            <a:endParaRPr lang="en-US" sz="1000" dirty="0"/>
          </a:p>
        </p:txBody>
      </p:sp>
      <p:sp>
        <p:nvSpPr>
          <p:cNvPr id="10" name="Text 8"/>
          <p:cNvSpPr txBox="1"/>
          <p:nvPr/>
        </p:nvSpPr>
        <p:spPr>
          <a:xfrm>
            <a:off x="2240280" y="2103120"/>
            <a:ext cx="1417320" cy="365760"/>
          </a:xfrm>
          <a:prstGeom prst="rect">
            <a:avLst/>
          </a:prstGeom>
          <a:noFill/>
          <a:ln/>
        </p:spPr>
        <p:txBody>
          <a:bodyPr wrap="square" lIns="0" tIns="0" rIns="0" bIns="0" rtlCol="0" anchor="ctr"/>
          <a:lstStyle/>
          <a:p>
            <a:pPr marL="0" indent="0" algn="ctr">
              <a:buNone/>
            </a:pPr>
            <a:r>
              <a:rPr lang="en-US" sz="1150" dirty="0">
                <a:solidFill>
                  <a:srgbClr val="1B1F3B"/>
                </a:solidFill>
                <a:latin typeface="Calibri" pitchFamily="34" charset="0"/>
                <a:ea typeface="Calibri" pitchFamily="34" charset="-122"/>
                <a:cs typeface="Calibri" pitchFamily="34" charset="-120"/>
              </a:rPr>
              <a:t>Daniel’s message</a:t>
            </a:r>
            <a:endParaRPr lang="en-US" sz="1150" dirty="0"/>
          </a:p>
        </p:txBody>
      </p:sp>
      <p:sp>
        <p:nvSpPr>
          <p:cNvPr id="11" name="Shape 9"/>
          <p:cNvSpPr/>
          <p:nvPr/>
        </p:nvSpPr>
        <p:spPr>
          <a:xfrm>
            <a:off x="3685032" y="2107692"/>
            <a:ext cx="292608" cy="128016"/>
          </a:xfrm>
          <a:prstGeom prst="rightArrow">
            <a:avLst/>
          </a:prstGeom>
          <a:solidFill>
            <a:srgbClr val="C9D3EA"/>
          </a:solidFill>
          <a:ln/>
        </p:spPr>
        <p:txBody>
          <a:bodyPr/>
          <a:lstStyle/>
          <a:p>
            <a:endParaRPr/>
          </a:p>
        </p:txBody>
      </p:sp>
      <p:sp>
        <p:nvSpPr>
          <p:cNvPr id="12" name="Shape 10"/>
          <p:cNvSpPr/>
          <p:nvPr/>
        </p:nvSpPr>
        <p:spPr>
          <a:xfrm>
            <a:off x="4023360" y="1783080"/>
            <a:ext cx="141732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13" name="Text 11"/>
          <p:cNvSpPr txBox="1"/>
          <p:nvPr/>
        </p:nvSpPr>
        <p:spPr>
          <a:xfrm>
            <a:off x="4023360" y="1874520"/>
            <a:ext cx="1417320" cy="228600"/>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1.3</a:t>
            </a:r>
            <a:endParaRPr lang="en-US" sz="1000" dirty="0"/>
          </a:p>
        </p:txBody>
      </p:sp>
      <p:sp>
        <p:nvSpPr>
          <p:cNvPr id="14" name="Text 12"/>
          <p:cNvSpPr txBox="1"/>
          <p:nvPr/>
        </p:nvSpPr>
        <p:spPr>
          <a:xfrm>
            <a:off x="4023360" y="2103120"/>
            <a:ext cx="1417320" cy="365760"/>
          </a:xfrm>
          <a:prstGeom prst="rect">
            <a:avLst/>
          </a:prstGeom>
          <a:noFill/>
          <a:ln/>
        </p:spPr>
        <p:txBody>
          <a:bodyPr wrap="square" lIns="0" tIns="0" rIns="0" bIns="0" rtlCol="0" anchor="ctr"/>
          <a:lstStyle/>
          <a:p>
            <a:pPr marL="0" indent="0" algn="ctr">
              <a:buNone/>
            </a:pPr>
            <a:r>
              <a:rPr lang="en-US" sz="1150" dirty="0">
                <a:solidFill>
                  <a:srgbClr val="1B1F3B"/>
                </a:solidFill>
                <a:latin typeface="Calibri" pitchFamily="34" charset="0"/>
                <a:ea typeface="Calibri" pitchFamily="34" charset="-122"/>
                <a:cs typeface="Calibri" pitchFamily="34" charset="-120"/>
              </a:rPr>
              <a:t>Decision Point 1</a:t>
            </a:r>
            <a:endParaRPr lang="en-US" sz="1150" dirty="0"/>
          </a:p>
        </p:txBody>
      </p:sp>
      <p:sp>
        <p:nvSpPr>
          <p:cNvPr id="15" name="Shape 13"/>
          <p:cNvSpPr/>
          <p:nvPr/>
        </p:nvSpPr>
        <p:spPr>
          <a:xfrm>
            <a:off x="5468112" y="2107692"/>
            <a:ext cx="274320" cy="128016"/>
          </a:xfrm>
          <a:prstGeom prst="rightArrow">
            <a:avLst/>
          </a:prstGeom>
          <a:solidFill>
            <a:srgbClr val="C9D3EA"/>
          </a:solidFill>
          <a:ln/>
        </p:spPr>
        <p:txBody>
          <a:bodyPr/>
          <a:lstStyle/>
          <a:p>
            <a:endParaRPr/>
          </a:p>
        </p:txBody>
      </p:sp>
      <p:sp>
        <p:nvSpPr>
          <p:cNvPr id="16" name="Shape 14"/>
          <p:cNvSpPr/>
          <p:nvPr/>
        </p:nvSpPr>
        <p:spPr>
          <a:xfrm>
            <a:off x="5852160" y="1783080"/>
            <a:ext cx="1188720" cy="777240"/>
          </a:xfrm>
          <a:prstGeom prst="roundRect">
            <a:avLst>
              <a:gd name="adj" fmla="val 8235"/>
            </a:avLst>
          </a:prstGeom>
          <a:solidFill>
            <a:srgbClr val="FBE9E7"/>
          </a:solidFill>
          <a:ln w="13970">
            <a:solidFill>
              <a:srgbClr val="B23A2E"/>
            </a:solidFill>
            <a:prstDash val="solid"/>
          </a:ln>
        </p:spPr>
        <p:txBody>
          <a:bodyPr/>
          <a:lstStyle/>
          <a:p>
            <a:endParaRPr/>
          </a:p>
        </p:txBody>
      </p:sp>
      <p:sp>
        <p:nvSpPr>
          <p:cNvPr id="17" name="Text 15"/>
          <p:cNvSpPr txBox="1"/>
          <p:nvPr/>
        </p:nvSpPr>
        <p:spPr>
          <a:xfrm>
            <a:off x="5852160" y="1874520"/>
            <a:ext cx="1188720" cy="201168"/>
          </a:xfrm>
          <a:prstGeom prst="rect">
            <a:avLst/>
          </a:prstGeom>
          <a:noFill/>
          <a:ln/>
        </p:spPr>
        <p:txBody>
          <a:bodyPr wrap="square" lIns="0" tIns="0" rIns="0" bIns="0" rtlCol="0" anchor="ctr"/>
          <a:lstStyle/>
          <a:p>
            <a:pPr marL="0" indent="0" algn="ctr">
              <a:buNone/>
            </a:pPr>
            <a:r>
              <a:rPr lang="en-US" sz="950" b="1" dirty="0">
                <a:solidFill>
                  <a:srgbClr val="B23A2E"/>
                </a:solidFill>
                <a:latin typeface="Calibri" pitchFamily="34" charset="0"/>
                <a:ea typeface="Calibri" pitchFamily="34" charset="-122"/>
                <a:cs typeface="Calibri" pitchFamily="34" charset="-120"/>
              </a:rPr>
              <a:t>1.3 A</a:t>
            </a:r>
            <a:endParaRPr lang="en-US" sz="950" dirty="0"/>
          </a:p>
        </p:txBody>
      </p:sp>
      <p:sp>
        <p:nvSpPr>
          <p:cNvPr id="18" name="Text 16"/>
          <p:cNvSpPr txBox="1"/>
          <p:nvPr/>
        </p:nvSpPr>
        <p:spPr>
          <a:xfrm>
            <a:off x="5852160" y="2093976"/>
            <a:ext cx="118872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Risky</a:t>
            </a:r>
            <a:endParaRPr lang="en-US" sz="1000" dirty="0"/>
          </a:p>
        </p:txBody>
      </p:sp>
      <p:sp>
        <p:nvSpPr>
          <p:cNvPr id="19" name="Shape 17"/>
          <p:cNvSpPr/>
          <p:nvPr/>
        </p:nvSpPr>
        <p:spPr>
          <a:xfrm>
            <a:off x="7132320" y="1783080"/>
            <a:ext cx="1188720" cy="777240"/>
          </a:xfrm>
          <a:prstGeom prst="roundRect">
            <a:avLst>
              <a:gd name="adj" fmla="val 8235"/>
            </a:avLst>
          </a:prstGeom>
          <a:solidFill>
            <a:srgbClr val="FBF1DD"/>
          </a:solidFill>
          <a:ln w="13970">
            <a:solidFill>
              <a:srgbClr val="B8860B"/>
            </a:solidFill>
            <a:prstDash val="solid"/>
          </a:ln>
        </p:spPr>
        <p:txBody>
          <a:bodyPr/>
          <a:lstStyle/>
          <a:p>
            <a:endParaRPr/>
          </a:p>
        </p:txBody>
      </p:sp>
      <p:sp>
        <p:nvSpPr>
          <p:cNvPr id="20" name="Text 18"/>
          <p:cNvSpPr txBox="1"/>
          <p:nvPr/>
        </p:nvSpPr>
        <p:spPr>
          <a:xfrm>
            <a:off x="7132320" y="1874520"/>
            <a:ext cx="1188720" cy="201168"/>
          </a:xfrm>
          <a:prstGeom prst="rect">
            <a:avLst/>
          </a:prstGeom>
          <a:noFill/>
          <a:ln/>
        </p:spPr>
        <p:txBody>
          <a:bodyPr wrap="square" lIns="0" tIns="0" rIns="0" bIns="0" rtlCol="0" anchor="ctr"/>
          <a:lstStyle/>
          <a:p>
            <a:pPr marL="0" indent="0" algn="ctr">
              <a:buNone/>
            </a:pPr>
            <a:r>
              <a:rPr lang="en-US" sz="950" b="1" dirty="0">
                <a:solidFill>
                  <a:srgbClr val="B8860B"/>
                </a:solidFill>
                <a:latin typeface="Calibri" pitchFamily="34" charset="0"/>
                <a:ea typeface="Calibri" pitchFamily="34" charset="-122"/>
                <a:cs typeface="Calibri" pitchFamily="34" charset="-120"/>
              </a:rPr>
              <a:t>1.3 B</a:t>
            </a:r>
            <a:endParaRPr lang="en-US" sz="950" dirty="0"/>
          </a:p>
        </p:txBody>
      </p:sp>
      <p:sp>
        <p:nvSpPr>
          <p:cNvPr id="21" name="Text 19"/>
          <p:cNvSpPr txBox="1"/>
          <p:nvPr/>
        </p:nvSpPr>
        <p:spPr>
          <a:xfrm>
            <a:off x="7132320" y="2093976"/>
            <a:ext cx="118872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Partial</a:t>
            </a:r>
            <a:endParaRPr lang="en-US" sz="1000" dirty="0"/>
          </a:p>
        </p:txBody>
      </p:sp>
      <p:sp>
        <p:nvSpPr>
          <p:cNvPr id="22" name="Shape 20"/>
          <p:cNvSpPr/>
          <p:nvPr/>
        </p:nvSpPr>
        <p:spPr>
          <a:xfrm>
            <a:off x="8412480" y="1783080"/>
            <a:ext cx="1188720" cy="777240"/>
          </a:xfrm>
          <a:prstGeom prst="roundRect">
            <a:avLst>
              <a:gd name="adj" fmla="val 8235"/>
            </a:avLst>
          </a:prstGeom>
          <a:solidFill>
            <a:srgbClr val="E6F2EB"/>
          </a:solidFill>
          <a:ln w="13970">
            <a:solidFill>
              <a:srgbClr val="2C7A4B"/>
            </a:solidFill>
            <a:prstDash val="solid"/>
          </a:ln>
        </p:spPr>
        <p:txBody>
          <a:bodyPr/>
          <a:lstStyle/>
          <a:p>
            <a:endParaRPr/>
          </a:p>
        </p:txBody>
      </p:sp>
      <p:sp>
        <p:nvSpPr>
          <p:cNvPr id="23" name="Text 21"/>
          <p:cNvSpPr txBox="1"/>
          <p:nvPr/>
        </p:nvSpPr>
        <p:spPr>
          <a:xfrm>
            <a:off x="8412480" y="1874520"/>
            <a:ext cx="1188720" cy="201168"/>
          </a:xfrm>
          <a:prstGeom prst="rect">
            <a:avLst/>
          </a:prstGeom>
          <a:noFill/>
          <a:ln/>
        </p:spPr>
        <p:txBody>
          <a:bodyPr wrap="square" lIns="0" tIns="0" rIns="0" bIns="0" rtlCol="0" anchor="ctr"/>
          <a:lstStyle/>
          <a:p>
            <a:pPr marL="0" indent="0" algn="ctr">
              <a:buNone/>
            </a:pPr>
            <a:r>
              <a:rPr lang="en-US" sz="950" b="1" dirty="0">
                <a:solidFill>
                  <a:srgbClr val="2C7A4B"/>
                </a:solidFill>
                <a:latin typeface="Calibri" pitchFamily="34" charset="0"/>
                <a:ea typeface="Calibri" pitchFamily="34" charset="-122"/>
                <a:cs typeface="Calibri" pitchFamily="34" charset="-120"/>
              </a:rPr>
              <a:t>1.3 C</a:t>
            </a:r>
            <a:endParaRPr lang="en-US" sz="950" dirty="0"/>
          </a:p>
        </p:txBody>
      </p:sp>
      <p:sp>
        <p:nvSpPr>
          <p:cNvPr id="24" name="Text 22"/>
          <p:cNvSpPr txBox="1"/>
          <p:nvPr/>
        </p:nvSpPr>
        <p:spPr>
          <a:xfrm>
            <a:off x="8412480" y="2093976"/>
            <a:ext cx="118872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Strongest</a:t>
            </a:r>
            <a:endParaRPr lang="en-US" sz="1000" dirty="0"/>
          </a:p>
        </p:txBody>
      </p:sp>
      <p:sp>
        <p:nvSpPr>
          <p:cNvPr id="25" name="Shape 23"/>
          <p:cNvSpPr/>
          <p:nvPr/>
        </p:nvSpPr>
        <p:spPr>
          <a:xfrm>
            <a:off x="9692640" y="1783080"/>
            <a:ext cx="1188720" cy="777240"/>
          </a:xfrm>
          <a:prstGeom prst="roundRect">
            <a:avLst>
              <a:gd name="adj" fmla="val 8235"/>
            </a:avLst>
          </a:prstGeom>
          <a:solidFill>
            <a:srgbClr val="EEEFF2"/>
          </a:solidFill>
          <a:ln w="13970">
            <a:solidFill>
              <a:srgbClr val="5B6472"/>
            </a:solidFill>
            <a:prstDash val="solid"/>
          </a:ln>
        </p:spPr>
        <p:txBody>
          <a:bodyPr/>
          <a:lstStyle/>
          <a:p>
            <a:endParaRPr/>
          </a:p>
        </p:txBody>
      </p:sp>
      <p:sp>
        <p:nvSpPr>
          <p:cNvPr id="26" name="Text 24"/>
          <p:cNvSpPr txBox="1"/>
          <p:nvPr/>
        </p:nvSpPr>
        <p:spPr>
          <a:xfrm>
            <a:off x="9692640" y="1874520"/>
            <a:ext cx="1188720" cy="201168"/>
          </a:xfrm>
          <a:prstGeom prst="rect">
            <a:avLst/>
          </a:prstGeom>
          <a:noFill/>
          <a:ln/>
        </p:spPr>
        <p:txBody>
          <a:bodyPr wrap="square" lIns="0" tIns="0" rIns="0" bIns="0" rtlCol="0" anchor="ctr"/>
          <a:lstStyle/>
          <a:p>
            <a:pPr marL="0" indent="0" algn="ctr">
              <a:buNone/>
            </a:pPr>
            <a:r>
              <a:rPr lang="en-US" sz="950" b="1" dirty="0">
                <a:solidFill>
                  <a:srgbClr val="5B6472"/>
                </a:solidFill>
                <a:latin typeface="Calibri" pitchFamily="34" charset="0"/>
                <a:ea typeface="Calibri" pitchFamily="34" charset="-122"/>
                <a:cs typeface="Calibri" pitchFamily="34" charset="-120"/>
              </a:rPr>
              <a:t>1.3 D</a:t>
            </a:r>
            <a:endParaRPr lang="en-US" sz="950" dirty="0"/>
          </a:p>
        </p:txBody>
      </p:sp>
      <p:sp>
        <p:nvSpPr>
          <p:cNvPr id="27" name="Text 25"/>
          <p:cNvSpPr txBox="1"/>
          <p:nvPr/>
        </p:nvSpPr>
        <p:spPr>
          <a:xfrm>
            <a:off x="9692640" y="2093976"/>
            <a:ext cx="118872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Avoids it</a:t>
            </a:r>
            <a:endParaRPr lang="en-US" sz="1000" dirty="0"/>
          </a:p>
        </p:txBody>
      </p:sp>
      <p:sp>
        <p:nvSpPr>
          <p:cNvPr id="28" name="Shape 26"/>
          <p:cNvSpPr/>
          <p:nvPr/>
        </p:nvSpPr>
        <p:spPr>
          <a:xfrm>
            <a:off x="6364224" y="2615184"/>
            <a:ext cx="164592" cy="201168"/>
          </a:xfrm>
          <a:prstGeom prst="downArrow">
            <a:avLst/>
          </a:prstGeom>
          <a:solidFill>
            <a:srgbClr val="C9D3EA"/>
          </a:solidFill>
          <a:ln/>
        </p:spPr>
        <p:txBody>
          <a:bodyPr/>
          <a:lstStyle/>
          <a:p>
            <a:endParaRPr/>
          </a:p>
        </p:txBody>
      </p:sp>
      <p:sp>
        <p:nvSpPr>
          <p:cNvPr id="29" name="Shape 27"/>
          <p:cNvSpPr/>
          <p:nvPr/>
        </p:nvSpPr>
        <p:spPr>
          <a:xfrm>
            <a:off x="457200" y="2880360"/>
            <a:ext cx="10424160" cy="502920"/>
          </a:xfrm>
          <a:prstGeom prst="roundRect">
            <a:avLst>
              <a:gd name="adj" fmla="val 50909"/>
            </a:avLst>
          </a:prstGeom>
          <a:solidFill>
            <a:srgbClr val="1E2761"/>
          </a:solidFill>
          <a:ln/>
        </p:spPr>
        <p:txBody>
          <a:bodyPr/>
          <a:lstStyle/>
          <a:p>
            <a:endParaRPr/>
          </a:p>
        </p:txBody>
      </p:sp>
      <p:sp>
        <p:nvSpPr>
          <p:cNvPr id="30" name="Text 28"/>
          <p:cNvSpPr txBox="1"/>
          <p:nvPr/>
        </p:nvSpPr>
        <p:spPr>
          <a:xfrm>
            <a:off x="457200" y="2880360"/>
            <a:ext cx="104241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1.4  ·  One Decision Down — Bridge</a:t>
            </a:r>
            <a:endParaRPr lang="en-US" sz="1250" dirty="0"/>
          </a:p>
        </p:txBody>
      </p:sp>
      <p:sp>
        <p:nvSpPr>
          <p:cNvPr id="31" name="Text 29"/>
          <p:cNvSpPr txBox="1"/>
          <p:nvPr/>
        </p:nvSpPr>
        <p:spPr>
          <a:xfrm>
            <a:off x="457200" y="3364992"/>
            <a:ext cx="7315200" cy="228600"/>
          </a:xfrm>
          <a:prstGeom prst="rect">
            <a:avLst/>
          </a:prstGeom>
          <a:noFill/>
          <a:ln/>
        </p:spPr>
        <p:txBody>
          <a:bodyPr wrap="square" lIns="0" tIns="0" rIns="0" bIns="0" rtlCol="0" anchor="ctr"/>
          <a:lstStyle/>
          <a:p>
            <a:pPr marL="0" indent="0">
              <a:buNone/>
            </a:pPr>
            <a:r>
              <a:rPr lang="en-US" sz="1000" b="1" kern="0" spc="50" dirty="0">
                <a:solidFill>
                  <a:srgbClr val="5B6785"/>
                </a:solidFill>
                <a:latin typeface="Calibri" pitchFamily="34" charset="0"/>
                <a:ea typeface="Calibri" pitchFamily="34" charset="-122"/>
                <a:cs typeface="Calibri" pitchFamily="34" charset="-120"/>
              </a:rPr>
              <a:t>DECISION 2  —  adds an embedded resource look-up</a:t>
            </a:r>
            <a:endParaRPr lang="en-US" sz="1000" dirty="0"/>
          </a:p>
        </p:txBody>
      </p:sp>
      <p:sp>
        <p:nvSpPr>
          <p:cNvPr id="32" name="Shape 30"/>
          <p:cNvSpPr/>
          <p:nvPr/>
        </p:nvSpPr>
        <p:spPr>
          <a:xfrm>
            <a:off x="457200" y="3657600"/>
            <a:ext cx="160020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33" name="Text 31"/>
          <p:cNvSpPr txBox="1"/>
          <p:nvPr/>
        </p:nvSpPr>
        <p:spPr>
          <a:xfrm>
            <a:off x="457200" y="3730752"/>
            <a:ext cx="1600200" cy="201168"/>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1.5</a:t>
            </a:r>
            <a:endParaRPr lang="en-US" sz="1000" dirty="0"/>
          </a:p>
        </p:txBody>
      </p:sp>
      <p:sp>
        <p:nvSpPr>
          <p:cNvPr id="34" name="Text 32"/>
          <p:cNvSpPr txBox="1"/>
          <p:nvPr/>
        </p:nvSpPr>
        <p:spPr>
          <a:xfrm>
            <a:off x="457200" y="3931920"/>
            <a:ext cx="1600200" cy="411480"/>
          </a:xfrm>
          <a:prstGeom prst="rect">
            <a:avLst/>
          </a:prstGeom>
          <a:noFill/>
          <a:ln/>
        </p:spPr>
        <p:txBody>
          <a:bodyPr wrap="square" lIns="0" tIns="0" rIns="0" bIns="0" rtlCol="0" anchor="ctr"/>
          <a:lstStyle/>
          <a:p>
            <a:pPr marL="0" indent="0" algn="ctr">
              <a:lnSpc>
                <a:spcPct val="100000"/>
              </a:lnSpc>
              <a:buNone/>
            </a:pPr>
            <a:r>
              <a:rPr lang="en-US" sz="1100" dirty="0">
                <a:solidFill>
                  <a:srgbClr val="1B1F3B"/>
                </a:solidFill>
                <a:latin typeface="Calibri" pitchFamily="34" charset="0"/>
                <a:ea typeface="Calibri" pitchFamily="34" charset="-122"/>
                <a:cs typeface="Calibri" pitchFamily="34" charset="-120"/>
              </a:rPr>
              <a:t>Aditya’s message</a:t>
            </a:r>
            <a:endParaRPr lang="en-US" sz="1100" dirty="0"/>
          </a:p>
        </p:txBody>
      </p:sp>
      <p:sp>
        <p:nvSpPr>
          <p:cNvPr id="35" name="Shape 33"/>
          <p:cNvSpPr/>
          <p:nvPr/>
        </p:nvSpPr>
        <p:spPr>
          <a:xfrm>
            <a:off x="2093976" y="3982212"/>
            <a:ext cx="292608" cy="128016"/>
          </a:xfrm>
          <a:prstGeom prst="rightArrow">
            <a:avLst/>
          </a:prstGeom>
          <a:solidFill>
            <a:srgbClr val="C9D3EA"/>
          </a:solidFill>
          <a:ln/>
        </p:spPr>
        <p:txBody>
          <a:bodyPr/>
          <a:lstStyle/>
          <a:p>
            <a:endParaRPr/>
          </a:p>
        </p:txBody>
      </p:sp>
      <p:sp>
        <p:nvSpPr>
          <p:cNvPr id="36" name="Shape 34"/>
          <p:cNvSpPr/>
          <p:nvPr/>
        </p:nvSpPr>
        <p:spPr>
          <a:xfrm>
            <a:off x="2423160" y="3657600"/>
            <a:ext cx="1600200" cy="777240"/>
          </a:xfrm>
          <a:prstGeom prst="roundRect">
            <a:avLst>
              <a:gd name="adj" fmla="val 8235"/>
            </a:avLst>
          </a:prstGeom>
          <a:solidFill>
            <a:srgbClr val="EFE9F7"/>
          </a:solidFill>
          <a:ln w="19050">
            <a:solidFill>
              <a:srgbClr val="5B3E96"/>
            </a:solidFill>
            <a:prstDash val="solid"/>
          </a:ln>
        </p:spPr>
        <p:txBody>
          <a:bodyPr/>
          <a:lstStyle/>
          <a:p>
            <a:endParaRPr/>
          </a:p>
        </p:txBody>
      </p:sp>
      <p:sp>
        <p:nvSpPr>
          <p:cNvPr id="37" name="Text 35"/>
          <p:cNvSpPr txBox="1"/>
          <p:nvPr/>
        </p:nvSpPr>
        <p:spPr>
          <a:xfrm>
            <a:off x="2423160" y="3730752"/>
            <a:ext cx="1600200" cy="201168"/>
          </a:xfrm>
          <a:prstGeom prst="rect">
            <a:avLst/>
          </a:prstGeom>
          <a:noFill/>
          <a:ln/>
        </p:spPr>
        <p:txBody>
          <a:bodyPr wrap="square" lIns="0" tIns="0" rIns="0" bIns="0" rtlCol="0" anchor="ctr"/>
          <a:lstStyle/>
          <a:p>
            <a:pPr marL="0" indent="0" algn="ctr">
              <a:buNone/>
            </a:pPr>
            <a:r>
              <a:rPr lang="en-US" sz="1000" b="1" dirty="0">
                <a:solidFill>
                  <a:srgbClr val="5B3E96"/>
                </a:solidFill>
                <a:latin typeface="Calibri" pitchFamily="34" charset="0"/>
                <a:ea typeface="Calibri" pitchFamily="34" charset="-122"/>
                <a:cs typeface="Calibri" pitchFamily="34" charset="-120"/>
              </a:rPr>
              <a:t>1.6</a:t>
            </a:r>
            <a:endParaRPr lang="en-US" sz="1000" dirty="0"/>
          </a:p>
        </p:txBody>
      </p:sp>
      <p:sp>
        <p:nvSpPr>
          <p:cNvPr id="38" name="Text 36"/>
          <p:cNvSpPr txBox="1"/>
          <p:nvPr/>
        </p:nvSpPr>
        <p:spPr>
          <a:xfrm>
            <a:off x="2423160" y="3931920"/>
            <a:ext cx="1600200" cy="411480"/>
          </a:xfrm>
          <a:prstGeom prst="rect">
            <a:avLst/>
          </a:prstGeom>
          <a:noFill/>
          <a:ln/>
        </p:spPr>
        <p:txBody>
          <a:bodyPr wrap="square" lIns="0" tIns="0" rIns="0" bIns="0" rtlCol="0" anchor="ctr"/>
          <a:lstStyle/>
          <a:p>
            <a:pPr marL="0" indent="0" algn="ctr">
              <a:lnSpc>
                <a:spcPct val="100000"/>
              </a:lnSpc>
              <a:buNone/>
            </a:pPr>
            <a:r>
              <a:rPr lang="en-US" sz="1100" b="1" dirty="0">
                <a:solidFill>
                  <a:srgbClr val="1B1F3B"/>
                </a:solidFill>
                <a:latin typeface="Calibri" pitchFamily="34" charset="0"/>
                <a:ea typeface="Calibri" pitchFamily="34" charset="-122"/>
                <a:cs typeface="Calibri" pitchFamily="34" charset="-120"/>
              </a:rPr>
              <a:t>Guidance</a:t>
            </a:r>
            <a:endParaRPr lang="en-US" sz="1100" dirty="0"/>
          </a:p>
          <a:p>
            <a:pPr marL="0" indent="0" algn="ctr">
              <a:lnSpc>
                <a:spcPct val="100000"/>
              </a:lnSpc>
              <a:buNone/>
            </a:pPr>
            <a:r>
              <a:rPr lang="en-US" sz="1100" b="1" dirty="0">
                <a:solidFill>
                  <a:srgbClr val="1B1F3B"/>
                </a:solidFill>
                <a:latin typeface="Calibri" pitchFamily="34" charset="0"/>
                <a:ea typeface="Calibri" pitchFamily="34" charset="-122"/>
                <a:cs typeface="Calibri" pitchFamily="34" charset="-120"/>
              </a:rPr>
              <a:t>Check</a:t>
            </a:r>
            <a:endParaRPr lang="en-US" sz="1100" dirty="0"/>
          </a:p>
        </p:txBody>
      </p:sp>
      <p:sp>
        <p:nvSpPr>
          <p:cNvPr id="39" name="Shape 37"/>
          <p:cNvSpPr/>
          <p:nvPr/>
        </p:nvSpPr>
        <p:spPr>
          <a:xfrm>
            <a:off x="4059936" y="3982212"/>
            <a:ext cx="292608" cy="128016"/>
          </a:xfrm>
          <a:prstGeom prst="rightArrow">
            <a:avLst/>
          </a:prstGeom>
          <a:solidFill>
            <a:srgbClr val="C9D3EA"/>
          </a:solidFill>
          <a:ln/>
        </p:spPr>
        <p:txBody>
          <a:bodyPr/>
          <a:lstStyle/>
          <a:p>
            <a:endParaRPr/>
          </a:p>
        </p:txBody>
      </p:sp>
      <p:sp>
        <p:nvSpPr>
          <p:cNvPr id="40" name="Shape 38"/>
          <p:cNvSpPr/>
          <p:nvPr/>
        </p:nvSpPr>
        <p:spPr>
          <a:xfrm>
            <a:off x="4389120" y="3657600"/>
            <a:ext cx="160020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41" name="Text 39"/>
          <p:cNvSpPr txBox="1"/>
          <p:nvPr/>
        </p:nvSpPr>
        <p:spPr>
          <a:xfrm>
            <a:off x="4389120" y="3730752"/>
            <a:ext cx="1600200" cy="201168"/>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1.7</a:t>
            </a:r>
            <a:endParaRPr lang="en-US" sz="1000" dirty="0"/>
          </a:p>
        </p:txBody>
      </p:sp>
      <p:sp>
        <p:nvSpPr>
          <p:cNvPr id="42" name="Text 40"/>
          <p:cNvSpPr txBox="1"/>
          <p:nvPr/>
        </p:nvSpPr>
        <p:spPr>
          <a:xfrm>
            <a:off x="4389120" y="3931920"/>
            <a:ext cx="1600200" cy="411480"/>
          </a:xfrm>
          <a:prstGeom prst="rect">
            <a:avLst/>
          </a:prstGeom>
          <a:noFill/>
          <a:ln/>
        </p:spPr>
        <p:txBody>
          <a:bodyPr wrap="square" lIns="0" tIns="0" rIns="0" bIns="0" rtlCol="0" anchor="ctr"/>
          <a:lstStyle/>
          <a:p>
            <a:pPr marL="0" indent="0" algn="ctr">
              <a:lnSpc>
                <a:spcPct val="100000"/>
              </a:lnSpc>
              <a:buNone/>
            </a:pPr>
            <a:r>
              <a:rPr lang="en-US" sz="1100" dirty="0">
                <a:solidFill>
                  <a:srgbClr val="1B1F3B"/>
                </a:solidFill>
                <a:latin typeface="Calibri" pitchFamily="34" charset="0"/>
                <a:ea typeface="Calibri" pitchFamily="34" charset="-122"/>
                <a:cs typeface="Calibri" pitchFamily="34" charset="-120"/>
              </a:rPr>
              <a:t>Decision Point 2</a:t>
            </a:r>
            <a:endParaRPr lang="en-US" sz="1100" dirty="0"/>
          </a:p>
        </p:txBody>
      </p:sp>
      <p:sp>
        <p:nvSpPr>
          <p:cNvPr id="43" name="Shape 41"/>
          <p:cNvSpPr/>
          <p:nvPr/>
        </p:nvSpPr>
        <p:spPr>
          <a:xfrm>
            <a:off x="6373368" y="3982212"/>
            <a:ext cx="274320" cy="128016"/>
          </a:xfrm>
          <a:prstGeom prst="rightArrow">
            <a:avLst/>
          </a:prstGeom>
          <a:solidFill>
            <a:srgbClr val="C9D3EA"/>
          </a:solidFill>
          <a:ln/>
        </p:spPr>
        <p:txBody>
          <a:bodyPr/>
          <a:lstStyle/>
          <a:p>
            <a:endParaRPr/>
          </a:p>
        </p:txBody>
      </p:sp>
      <p:sp>
        <p:nvSpPr>
          <p:cNvPr id="44" name="Shape 42"/>
          <p:cNvSpPr/>
          <p:nvPr/>
        </p:nvSpPr>
        <p:spPr>
          <a:xfrm>
            <a:off x="6720840" y="3657600"/>
            <a:ext cx="1371600" cy="777240"/>
          </a:xfrm>
          <a:prstGeom prst="roundRect">
            <a:avLst>
              <a:gd name="adj" fmla="val 8235"/>
            </a:avLst>
          </a:prstGeom>
          <a:solidFill>
            <a:srgbClr val="FBE9E7"/>
          </a:solidFill>
          <a:ln w="13970">
            <a:solidFill>
              <a:srgbClr val="B23A2E"/>
            </a:solidFill>
            <a:prstDash val="solid"/>
          </a:ln>
        </p:spPr>
        <p:txBody>
          <a:bodyPr/>
          <a:lstStyle/>
          <a:p>
            <a:endParaRPr/>
          </a:p>
        </p:txBody>
      </p:sp>
      <p:sp>
        <p:nvSpPr>
          <p:cNvPr id="45" name="Text 43"/>
          <p:cNvSpPr txBox="1"/>
          <p:nvPr/>
        </p:nvSpPr>
        <p:spPr>
          <a:xfrm>
            <a:off x="6720840" y="3749040"/>
            <a:ext cx="1371600" cy="201168"/>
          </a:xfrm>
          <a:prstGeom prst="rect">
            <a:avLst/>
          </a:prstGeom>
          <a:noFill/>
          <a:ln/>
        </p:spPr>
        <p:txBody>
          <a:bodyPr wrap="square" lIns="0" tIns="0" rIns="0" bIns="0" rtlCol="0" anchor="ctr"/>
          <a:lstStyle/>
          <a:p>
            <a:pPr marL="0" indent="0" algn="ctr">
              <a:buNone/>
            </a:pPr>
            <a:r>
              <a:rPr lang="en-US" sz="950" b="1" dirty="0">
                <a:solidFill>
                  <a:srgbClr val="B23A2E"/>
                </a:solidFill>
                <a:latin typeface="Calibri" pitchFamily="34" charset="0"/>
                <a:ea typeface="Calibri" pitchFamily="34" charset="-122"/>
                <a:cs typeface="Calibri" pitchFamily="34" charset="-120"/>
              </a:rPr>
              <a:t>1.7 A</a:t>
            </a:r>
            <a:endParaRPr lang="en-US" sz="950" dirty="0"/>
          </a:p>
        </p:txBody>
      </p:sp>
      <p:sp>
        <p:nvSpPr>
          <p:cNvPr id="46" name="Text 44"/>
          <p:cNvSpPr txBox="1"/>
          <p:nvPr/>
        </p:nvSpPr>
        <p:spPr>
          <a:xfrm>
            <a:off x="6720840" y="3968496"/>
            <a:ext cx="137160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Mismatch</a:t>
            </a:r>
            <a:endParaRPr lang="en-US" sz="1000" dirty="0"/>
          </a:p>
        </p:txBody>
      </p:sp>
      <p:sp>
        <p:nvSpPr>
          <p:cNvPr id="47" name="Shape 45"/>
          <p:cNvSpPr/>
          <p:nvPr/>
        </p:nvSpPr>
        <p:spPr>
          <a:xfrm>
            <a:off x="8183880" y="3657600"/>
            <a:ext cx="1371600" cy="777240"/>
          </a:xfrm>
          <a:prstGeom prst="roundRect">
            <a:avLst>
              <a:gd name="adj" fmla="val 8235"/>
            </a:avLst>
          </a:prstGeom>
          <a:solidFill>
            <a:srgbClr val="E6F2EB"/>
          </a:solidFill>
          <a:ln w="13970">
            <a:solidFill>
              <a:srgbClr val="2C7A4B"/>
            </a:solidFill>
            <a:prstDash val="solid"/>
          </a:ln>
        </p:spPr>
        <p:txBody>
          <a:bodyPr/>
          <a:lstStyle/>
          <a:p>
            <a:endParaRPr/>
          </a:p>
        </p:txBody>
      </p:sp>
      <p:sp>
        <p:nvSpPr>
          <p:cNvPr id="48" name="Text 46"/>
          <p:cNvSpPr txBox="1"/>
          <p:nvPr/>
        </p:nvSpPr>
        <p:spPr>
          <a:xfrm>
            <a:off x="8183880" y="3749040"/>
            <a:ext cx="1371600" cy="201168"/>
          </a:xfrm>
          <a:prstGeom prst="rect">
            <a:avLst/>
          </a:prstGeom>
          <a:noFill/>
          <a:ln/>
        </p:spPr>
        <p:txBody>
          <a:bodyPr wrap="square" lIns="0" tIns="0" rIns="0" bIns="0" rtlCol="0" anchor="ctr"/>
          <a:lstStyle/>
          <a:p>
            <a:pPr marL="0" indent="0" algn="ctr">
              <a:buNone/>
            </a:pPr>
            <a:r>
              <a:rPr lang="en-US" sz="950" b="1" dirty="0">
                <a:solidFill>
                  <a:srgbClr val="2C7A4B"/>
                </a:solidFill>
                <a:latin typeface="Calibri" pitchFamily="34" charset="0"/>
                <a:ea typeface="Calibri" pitchFamily="34" charset="-122"/>
                <a:cs typeface="Calibri" pitchFamily="34" charset="-120"/>
              </a:rPr>
              <a:t>1.7 B</a:t>
            </a:r>
            <a:endParaRPr lang="en-US" sz="950" dirty="0"/>
          </a:p>
        </p:txBody>
      </p:sp>
      <p:sp>
        <p:nvSpPr>
          <p:cNvPr id="49" name="Text 47"/>
          <p:cNvSpPr txBox="1"/>
          <p:nvPr/>
        </p:nvSpPr>
        <p:spPr>
          <a:xfrm>
            <a:off x="8183880" y="3968496"/>
            <a:ext cx="137160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Strongest</a:t>
            </a:r>
            <a:endParaRPr lang="en-US" sz="1000" dirty="0"/>
          </a:p>
        </p:txBody>
      </p:sp>
      <p:sp>
        <p:nvSpPr>
          <p:cNvPr id="50" name="Shape 48"/>
          <p:cNvSpPr/>
          <p:nvPr/>
        </p:nvSpPr>
        <p:spPr>
          <a:xfrm>
            <a:off x="5952744" y="4489704"/>
            <a:ext cx="164592" cy="219456"/>
          </a:xfrm>
          <a:prstGeom prst="downArrow">
            <a:avLst/>
          </a:prstGeom>
          <a:solidFill>
            <a:srgbClr val="C9D3EA"/>
          </a:solidFill>
          <a:ln/>
        </p:spPr>
        <p:txBody>
          <a:bodyPr/>
          <a:lstStyle/>
          <a:p>
            <a:endParaRPr/>
          </a:p>
        </p:txBody>
      </p:sp>
      <p:sp>
        <p:nvSpPr>
          <p:cNvPr id="51" name="Shape 49"/>
          <p:cNvSpPr/>
          <p:nvPr/>
        </p:nvSpPr>
        <p:spPr>
          <a:xfrm>
            <a:off x="3236976" y="4846320"/>
            <a:ext cx="2651760" cy="777240"/>
          </a:xfrm>
          <a:prstGeom prst="roundRect">
            <a:avLst>
              <a:gd name="adj" fmla="val 8235"/>
            </a:avLst>
          </a:prstGeom>
          <a:solidFill>
            <a:srgbClr val="1E2761"/>
          </a:solidFill>
          <a:ln/>
        </p:spPr>
        <p:txBody>
          <a:bodyPr/>
          <a:lstStyle/>
          <a:p>
            <a:endParaRPr/>
          </a:p>
        </p:txBody>
      </p:sp>
      <p:sp>
        <p:nvSpPr>
          <p:cNvPr id="52" name="Text 50"/>
          <p:cNvSpPr txBox="1"/>
          <p:nvPr/>
        </p:nvSpPr>
        <p:spPr>
          <a:xfrm>
            <a:off x="3236976" y="4937760"/>
            <a:ext cx="2651760" cy="201168"/>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1.8</a:t>
            </a:r>
            <a:endParaRPr lang="en-US" sz="1000" dirty="0"/>
          </a:p>
        </p:txBody>
      </p:sp>
      <p:sp>
        <p:nvSpPr>
          <p:cNvPr id="53" name="Text 51"/>
          <p:cNvSpPr txBox="1"/>
          <p:nvPr/>
        </p:nvSpPr>
        <p:spPr>
          <a:xfrm>
            <a:off x="3236976" y="5138928"/>
            <a:ext cx="2651760" cy="411480"/>
          </a:xfrm>
          <a:prstGeom prst="rect">
            <a:avLst/>
          </a:prstGeom>
          <a:noFill/>
          <a:ln/>
        </p:spPr>
        <p:txBody>
          <a:bodyPr wrap="square" lIns="0" tIns="0" rIns="0" bIns="0" rtlCol="0" anchor="ctr"/>
          <a:lstStyle/>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Principle</a:t>
            </a:r>
            <a:endParaRPr lang="en-US" sz="1150" dirty="0"/>
          </a:p>
        </p:txBody>
      </p:sp>
      <p:sp>
        <p:nvSpPr>
          <p:cNvPr id="54" name="Shape 52"/>
          <p:cNvSpPr/>
          <p:nvPr/>
        </p:nvSpPr>
        <p:spPr>
          <a:xfrm>
            <a:off x="5943600" y="5170932"/>
            <a:ext cx="301752" cy="128016"/>
          </a:xfrm>
          <a:prstGeom prst="rightArrow">
            <a:avLst/>
          </a:prstGeom>
          <a:solidFill>
            <a:srgbClr val="C9D3EA"/>
          </a:solidFill>
          <a:ln/>
        </p:spPr>
        <p:txBody>
          <a:bodyPr/>
          <a:lstStyle/>
          <a:p>
            <a:endParaRPr/>
          </a:p>
        </p:txBody>
      </p:sp>
      <p:sp>
        <p:nvSpPr>
          <p:cNvPr id="55" name="Shape 53"/>
          <p:cNvSpPr/>
          <p:nvPr/>
        </p:nvSpPr>
        <p:spPr>
          <a:xfrm>
            <a:off x="6300216" y="4846320"/>
            <a:ext cx="2651760" cy="777240"/>
          </a:xfrm>
          <a:prstGeom prst="roundRect">
            <a:avLst>
              <a:gd name="adj" fmla="val 8235"/>
            </a:avLst>
          </a:prstGeom>
          <a:solidFill>
            <a:srgbClr val="1E2761"/>
          </a:solidFill>
          <a:ln/>
        </p:spPr>
        <p:txBody>
          <a:bodyPr/>
          <a:lstStyle/>
          <a:p>
            <a:endParaRPr/>
          </a:p>
        </p:txBody>
      </p:sp>
      <p:sp>
        <p:nvSpPr>
          <p:cNvPr id="56" name="Text 54"/>
          <p:cNvSpPr txBox="1"/>
          <p:nvPr/>
        </p:nvSpPr>
        <p:spPr>
          <a:xfrm>
            <a:off x="6300216" y="4937760"/>
            <a:ext cx="2651760" cy="201168"/>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1.9</a:t>
            </a:r>
            <a:endParaRPr lang="en-US" sz="1000" dirty="0"/>
          </a:p>
        </p:txBody>
      </p:sp>
      <p:sp>
        <p:nvSpPr>
          <p:cNvPr id="57" name="Text 55"/>
          <p:cNvSpPr txBox="1"/>
          <p:nvPr/>
        </p:nvSpPr>
        <p:spPr>
          <a:xfrm>
            <a:off x="6300216" y="5138928"/>
            <a:ext cx="2651760" cy="411480"/>
          </a:xfrm>
          <a:prstGeom prst="rect">
            <a:avLst/>
          </a:prstGeom>
          <a:noFill/>
          <a:ln/>
        </p:spPr>
        <p:txBody>
          <a:bodyPr wrap="square" lIns="0" tIns="0" rIns="0" bIns="0" rtlCol="0" anchor="ctr"/>
          <a:lstStyle/>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Wrapping Up</a:t>
            </a:r>
            <a:endParaRPr lang="en-US" sz="1150" dirty="0"/>
          </a:p>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 Module 5</a:t>
            </a:r>
            <a:endParaRPr lang="en-US" sz="1150" dirty="0"/>
          </a:p>
        </p:txBody>
      </p:sp>
      <p:sp>
        <p:nvSpPr>
          <p:cNvPr id="58" name="Text 5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59" name="Text 5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MAP</a:t>
            </a:r>
            <a:endParaRPr lang="en-US" sz="900" dirty="0"/>
          </a:p>
        </p:txBody>
      </p:sp>
      <p:sp>
        <p:nvSpPr>
          <p:cNvPr id="60" name="Bloom Key Label"/>
          <p:cNvSpPr txBox="1"/>
          <p:nvPr/>
        </p:nvSpPr>
        <p:spPr>
          <a:xfrm>
            <a:off x="457200" y="5120640"/>
            <a:ext cx="2743200" cy="228600"/>
          </a:xfrm>
          <a:prstGeom prst="rect">
            <a:avLst/>
          </a:prstGeom>
          <a:noFill/>
          <a:ln/>
        </p:spPr>
        <p:txBody>
          <a:bodyPr wrap="square" lIns="0" tIns="0" rIns="0" bIns="0" rtlCol="0" anchor="ctr"/>
          <a:lstStyle/>
          <a:p>
            <a:pPr marL="0" indent="0">
              <a:buNone/>
            </a:pPr>
            <a:r>
              <a:rPr lang="en-US" sz="1000" b="1" kern="0" spc="100" dirty="0">
                <a:solidFill>
                  <a:srgbClr val="5B6785"/>
                </a:solidFill>
                <a:latin typeface="Calibri" pitchFamily="34" charset="0"/>
                <a:ea typeface="Calibri" pitchFamily="34" charset="-122"/>
                <a:cs typeface="Calibri" pitchFamily="34" charset="-120"/>
              </a:rPr>
              <a:t>BLOOM’S LEVEL BY SCREEN</a:t>
            </a:r>
          </a:p>
        </p:txBody>
      </p:sp>
      <p:sp>
        <p:nvSpPr>
          <p:cNvPr id="61" name="Bloom Key"/>
          <p:cNvSpPr txBox="1"/>
          <p:nvPr/>
        </p:nvSpPr>
        <p:spPr>
          <a:xfrm>
            <a:off x="457200" y="5394960"/>
            <a:ext cx="2743200" cy="1005840"/>
          </a:xfrm>
          <a:prstGeom prst="rect">
            <a:avLst/>
          </a:prstGeom>
          <a:noFill/>
          <a:ln/>
        </p:spPr>
        <p:txBody>
          <a:bodyPr wrap="square" lIns="0" tIns="0" rIns="0" bIns="0" rtlCol="0" anchor="t"/>
          <a:lstStyle/>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1.1 · 1.2 · 1.5   </a:t>
            </a:r>
            <a:r>
              <a:rPr lang="en-US" sz="1000" dirty="0">
                <a:solidFill>
                  <a:srgbClr val="5B6785"/>
                </a:solidFill>
                <a:latin typeface="Calibri" pitchFamily="34" charset="0"/>
                <a:ea typeface="Calibri" pitchFamily="34" charset="-122"/>
                <a:cs typeface="Calibri" pitchFamily="34" charset="-120"/>
              </a:rPr>
              <a:t>Understand</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1.3   </a:t>
            </a:r>
            <a:r>
              <a:rPr lang="en-US" sz="1000" dirty="0">
                <a:solidFill>
                  <a:srgbClr val="5B6785"/>
                </a:solidFill>
                <a:latin typeface="Calibri" pitchFamily="34" charset="0"/>
                <a:ea typeface="Calibri" pitchFamily="34" charset="-122"/>
                <a:cs typeface="Calibri" pitchFamily="34" charset="-120"/>
              </a:rPr>
              <a:t>Apply → Evaluate</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1.3 A–D · 1.7 A–B   </a:t>
            </a:r>
            <a:r>
              <a:rPr lang="en-US" sz="1000" dirty="0">
                <a:solidFill>
                  <a:srgbClr val="5B6785"/>
                </a:solidFill>
                <a:latin typeface="Calibri" pitchFamily="34" charset="0"/>
                <a:ea typeface="Calibri" pitchFamily="34" charset="-122"/>
                <a:cs typeface="Calibri" pitchFamily="34" charset="-120"/>
              </a:rPr>
              <a:t>Evaluate</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1.6 · 1.7   </a:t>
            </a:r>
            <a:r>
              <a:rPr lang="en-US" sz="1000" dirty="0">
                <a:solidFill>
                  <a:srgbClr val="5B6785"/>
                </a:solidFill>
                <a:latin typeface="Calibri" pitchFamily="34" charset="0"/>
                <a:ea typeface="Calibri" pitchFamily="34" charset="-122"/>
                <a:cs typeface="Calibri" pitchFamily="34" charset="-120"/>
              </a:rPr>
              <a:t>Apply</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1.8   </a:t>
            </a:r>
            <a:r>
              <a:rPr lang="en-US" sz="1000" dirty="0">
                <a:solidFill>
                  <a:srgbClr val="5B6785"/>
                </a:solidFill>
                <a:latin typeface="Calibri" pitchFamily="34" charset="0"/>
                <a:ea typeface="Calibri" pitchFamily="34" charset="-122"/>
                <a:cs typeface="Calibri" pitchFamily="34" charset="-120"/>
              </a:rPr>
              <a:t>Understand → Analyze</a:t>
            </a:r>
          </a:p>
        </p:txBody>
      </p:sp>
      <p:sp>
        <p:nvSpPr>
          <p:cNvPr id="62" name="Shape 6"/>
          <p:cNvSpPr/>
          <p:nvPr/>
        </p:nvSpPr>
        <p:spPr>
          <a:xfrm>
            <a:off x="457200" y="1783080"/>
            <a:ext cx="141732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63" name="Text 7"/>
          <p:cNvSpPr txBox="1"/>
          <p:nvPr/>
        </p:nvSpPr>
        <p:spPr>
          <a:xfrm>
            <a:off x="457200" y="1874520"/>
            <a:ext cx="1417320" cy="228600"/>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1.1</a:t>
            </a:r>
            <a:endParaRPr lang="en-US" sz="1000" dirty="0"/>
          </a:p>
        </p:txBody>
      </p:sp>
      <p:sp>
        <p:nvSpPr>
          <p:cNvPr id="64" name="Text 8"/>
          <p:cNvSpPr txBox="1"/>
          <p:nvPr/>
        </p:nvSpPr>
        <p:spPr>
          <a:xfrm>
            <a:off x="457200" y="2103120"/>
            <a:ext cx="1417320" cy="365760"/>
          </a:xfrm>
          <a:prstGeom prst="rect">
            <a:avLst/>
          </a:prstGeom>
          <a:noFill/>
          <a:ln/>
        </p:spPr>
        <p:txBody>
          <a:bodyPr wrap="square" lIns="0" tIns="0" rIns="0" bIns="0" rtlCol="0" anchor="ctr"/>
          <a:lstStyle/>
          <a:p>
            <a:pPr marL="0" indent="0" algn="ctr">
              <a:buNone/>
            </a:pPr>
            <a:r>
              <a:rPr lang="en-US" sz="1150" dirty="0">
                <a:solidFill>
                  <a:srgbClr val="1B1F3B"/>
                </a:solidFill>
                <a:latin typeface="Calibri" pitchFamily="34" charset="0"/>
                <a:ea typeface="Calibri" pitchFamily="34" charset="-122"/>
                <a:cs typeface="Calibri" pitchFamily="34" charset="-120"/>
              </a:rPr>
              <a:t>Welcome</a:t>
            </a:r>
            <a:endParaRPr lang="en-US" sz="1150" dirty="0"/>
          </a:p>
        </p:txBody>
      </p:sp>
      <p:sp>
        <p:nvSpPr>
          <p:cNvPr id="65" name="Shape 9"/>
          <p:cNvSpPr/>
          <p:nvPr/>
        </p:nvSpPr>
        <p:spPr>
          <a:xfrm>
            <a:off x="1901952" y="2107692"/>
            <a:ext cx="292608" cy="128016"/>
          </a:xfrm>
          <a:prstGeom prst="rightArrow">
            <a:avLst/>
          </a:prstGeom>
          <a:solidFill>
            <a:srgbClr val="C9D3EA"/>
          </a:solidFill>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1.1  ·  WELCOME</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Welcome — Meet Your Guide</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A guide character frames the module before the first scenario</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FE9F7"/>
          </a:solidFill>
          <a:ln w="12700">
            <a:solidFill>
              <a:srgbClr val="C9D3EA"/>
            </a:solidFill>
            <a:prstDash val="solid"/>
          </a:ln>
        </p:spPr>
        <p:txBody>
          <a:bodyPr/>
          <a:lstStyle/>
          <a:p>
            <a:endParaRPr/>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meets Nex, the guide character, reads what the module covers and what they will practise, then presses Continue to the first scenario.</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Trigger: Continue button → jump to 1.2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Soft lavender background (#EFE9F7) so it reads as “the guide talking”, distinct from the app-style screens that follow</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Voice-over: greeting and module framing (script in slide notes); slide resets on revisit so the audio replays</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score impact on this screen</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1.1</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Understand</a:t>
            </a:r>
          </a:p>
          <a:p>
            <a:pPr marL="0" indent="0" algn="r">
              <a:buNone/>
            </a:pPr>
            <a:r>
              <a:rPr lang="en-US" sz="1000" i="1" dirty="0">
                <a:solidFill>
                  <a:srgbClr val="5B6785"/>
                </a:solidFill>
                <a:latin typeface="Calibri" pitchFamily="34" charset="0"/>
                <a:ea typeface="Calibri" pitchFamily="34" charset="-122"/>
                <a:cs typeface="Calibri" pitchFamily="34" charset="-120"/>
              </a:rPr>
              <a:t>Frames what the module covers and what will be practised.</a:t>
            </a:r>
          </a:p>
        </p:txBody>
      </p:sp>
      <p:sp>
        <p:nvSpPr>
          <p:cNvPr id="30" name="Rounded Rectangle 29"/>
          <p:cNvSpPr/>
          <p:nvPr/>
        </p:nvSpPr>
        <p:spPr>
          <a:xfrm>
            <a:off x="1005840" y="1691640"/>
            <a:ext cx="4343400" cy="914400"/>
          </a:xfrm>
          <a:prstGeom prst="roundRect">
            <a:avLst>
              <a:gd name="adj" fmla="val 1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88720" y="1691640"/>
            <a:ext cx="3977639" cy="914400"/>
          </a:xfrm>
          <a:prstGeom prst="rect">
            <a:avLst/>
          </a:prstGeom>
          <a:noFill/>
        </p:spPr>
        <p:txBody>
          <a:bodyPr wrap="square" lIns="0" tIns="0" rIns="0" bIns="0" anchor="ctr">
            <a:spAutoFit/>
          </a:bodyPr>
          <a:lstStyle/>
          <a:p>
            <a:pPr algn="l"/>
            <a:r>
              <a:rPr sz="1300" b="0" i="0">
                <a:solidFill>
                  <a:srgbClr val="1B1F3B"/>
                </a:solidFill>
                <a:latin typeface="Calibri"/>
              </a:rPr>
              <a:t>“Hi, I’m Nex, I’ll be walking you through this module. It’ll take about 8 minutes.”</a:t>
            </a:r>
          </a:p>
        </p:txBody>
      </p:sp>
      <p:sp>
        <p:nvSpPr>
          <p:cNvPr id="32" name="Oval 31"/>
          <p:cNvSpPr/>
          <p:nvPr/>
        </p:nvSpPr>
        <p:spPr>
          <a:xfrm>
            <a:off x="6355080" y="1645920"/>
            <a:ext cx="1234440" cy="12344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i="0">
                <a:solidFill>
                  <a:srgbClr val="FFFFFF"/>
                </a:solidFill>
                <a:latin typeface="Calibri"/>
              </a:rPr>
              <a:t>NEX</a:t>
            </a:r>
          </a:p>
        </p:txBody>
      </p:sp>
      <p:sp>
        <p:nvSpPr>
          <p:cNvPr id="33" name="TextBox 32"/>
          <p:cNvSpPr txBox="1"/>
          <p:nvPr/>
        </p:nvSpPr>
        <p:spPr>
          <a:xfrm>
            <a:off x="6172200" y="2944368"/>
            <a:ext cx="1600200" cy="228600"/>
          </a:xfrm>
          <a:prstGeom prst="rect">
            <a:avLst/>
          </a:prstGeom>
          <a:noFill/>
        </p:spPr>
        <p:txBody>
          <a:bodyPr wrap="square" lIns="0" tIns="0" rIns="0" bIns="0" anchor="t">
            <a:spAutoFit/>
          </a:bodyPr>
          <a:lstStyle/>
          <a:p>
            <a:pPr algn="ctr"/>
            <a:r>
              <a:rPr sz="950" b="0" i="1">
                <a:solidFill>
                  <a:srgbClr val="5B6785"/>
                </a:solidFill>
                <a:latin typeface="Calibri"/>
              </a:rPr>
              <a:t>Guide character (Nex)</a:t>
            </a:r>
          </a:p>
        </p:txBody>
      </p:sp>
      <p:sp>
        <p:nvSpPr>
          <p:cNvPr id="34" name="TextBox 33"/>
          <p:cNvSpPr txBox="1"/>
          <p:nvPr/>
        </p:nvSpPr>
        <p:spPr>
          <a:xfrm>
            <a:off x="1005840" y="3017520"/>
            <a:ext cx="4114800" cy="228600"/>
          </a:xfrm>
          <a:prstGeom prst="rect">
            <a:avLst/>
          </a:prstGeom>
          <a:noFill/>
        </p:spPr>
        <p:txBody>
          <a:bodyPr wrap="square" lIns="0" tIns="0" rIns="0" bIns="0" anchor="t">
            <a:spAutoFit/>
          </a:bodyPr>
          <a:lstStyle/>
          <a:p>
            <a:pPr algn="l"/>
            <a:r>
              <a:rPr sz="950" b="1" i="0" spc="150">
                <a:solidFill>
                  <a:srgbClr val="5B3E96"/>
                </a:solidFill>
                <a:latin typeface="Calibri"/>
              </a:rPr>
              <a:t>MODULE 4</a:t>
            </a:r>
          </a:p>
        </p:txBody>
      </p:sp>
      <p:sp>
        <p:nvSpPr>
          <p:cNvPr id="35" name="TextBox 34"/>
          <p:cNvSpPr txBox="1"/>
          <p:nvPr/>
        </p:nvSpPr>
        <p:spPr>
          <a:xfrm>
            <a:off x="1005840" y="3273552"/>
            <a:ext cx="5486400" cy="502920"/>
          </a:xfrm>
          <a:prstGeom prst="rect">
            <a:avLst/>
          </a:prstGeom>
          <a:noFill/>
        </p:spPr>
        <p:txBody>
          <a:bodyPr wrap="square" lIns="0" tIns="0" rIns="0" bIns="0" anchor="t">
            <a:spAutoFit/>
          </a:bodyPr>
          <a:lstStyle/>
          <a:p>
            <a:pPr algn="l"/>
            <a:r>
              <a:rPr sz="2400" b="1" i="0">
                <a:solidFill>
                  <a:srgbClr val="1E2761"/>
                </a:solidFill>
                <a:latin typeface="Cambria"/>
              </a:rPr>
              <a:t>Policies and Expectations</a:t>
            </a:r>
          </a:p>
        </p:txBody>
      </p:sp>
      <p:sp>
        <p:nvSpPr>
          <p:cNvPr id="36" name="TextBox 35"/>
          <p:cNvSpPr txBox="1"/>
          <p:nvPr/>
        </p:nvSpPr>
        <p:spPr>
          <a:xfrm>
            <a:off x="1005840" y="3977639"/>
            <a:ext cx="5029200" cy="256032"/>
          </a:xfrm>
          <a:prstGeom prst="rect">
            <a:avLst/>
          </a:prstGeom>
          <a:noFill/>
        </p:spPr>
        <p:txBody>
          <a:bodyPr wrap="square" lIns="0" tIns="0" rIns="0" bIns="0" anchor="t">
            <a:spAutoFit/>
          </a:bodyPr>
          <a:lstStyle/>
          <a:p>
            <a:pPr algn="l"/>
            <a:r>
              <a:rPr sz="1250" b="1" i="0">
                <a:solidFill>
                  <a:srgbClr val="1E2761"/>
                </a:solidFill>
                <a:latin typeface="Calibri"/>
              </a:rPr>
              <a:t>What you’ll learn</a:t>
            </a:r>
          </a:p>
        </p:txBody>
      </p:sp>
      <p:sp>
        <p:nvSpPr>
          <p:cNvPr id="37" name="TextBox 36"/>
          <p:cNvSpPr txBox="1"/>
          <p:nvPr/>
        </p:nvSpPr>
        <p:spPr>
          <a:xfrm>
            <a:off x="1005840" y="4279392"/>
            <a:ext cx="5120640" cy="1188720"/>
          </a:xfrm>
          <a:prstGeom prst="rect">
            <a:avLst/>
          </a:prstGeom>
          <a:noFill/>
        </p:spPr>
        <p:txBody>
          <a:bodyPr wrap="square" lIns="0" tIns="0" rIns="0" bIns="0" anchor="t">
            <a:spAutoFit/>
          </a:bodyPr>
          <a:lstStyle/>
          <a:p>
            <a:pPr algn="l"/>
            <a:r>
              <a:rPr sz="1250" b="0" i="0">
                <a:solidFill>
                  <a:srgbClr val="1B1F3B"/>
                </a:solidFill>
                <a:latin typeface="Calibri"/>
              </a:rPr>
              <a:t>•  Recognise when a situation calls for checking guidance before you act</a:t>
            </a:r>
          </a:p>
          <a:p>
            <a:pPr algn="l">
              <a:spcBef>
                <a:spcPts val="500"/>
              </a:spcBef>
            </a:pPr>
            <a:r>
              <a:rPr sz="1250" b="0" i="0">
                <a:solidFill>
                  <a:srgbClr val="1B1F3B"/>
                </a:solidFill>
                <a:latin typeface="Calibri"/>
              </a:rPr>
              <a:t>•  Apply NexaTech’s expectations across two realistic workplace decisions</a:t>
            </a:r>
          </a:p>
        </p:txBody>
      </p:sp>
      <p:sp>
        <p:nvSpPr>
          <p:cNvPr id="38" name="Rounded Rectangle 37"/>
          <p:cNvSpPr/>
          <p:nvPr/>
        </p:nvSpPr>
        <p:spPr>
          <a:xfrm>
            <a:off x="5989320" y="5669280"/>
            <a:ext cx="1737360" cy="41148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i="0">
                <a:solidFill>
                  <a:srgbClr val="FFFFFF"/>
                </a:solidFill>
                <a:latin typeface="Calibri"/>
              </a:rPr>
              <a:t>Continue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1.2  ·  MESSAGE FROM DANIEL</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Situation Setup — Decision 1</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Learner reviews the situation before making a decision</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Shape 6"/>
          <p:cNvSpPr/>
          <p:nvPr/>
        </p:nvSpPr>
        <p:spPr>
          <a:xfrm>
            <a:off x="822960" y="1783080"/>
            <a:ext cx="6903720" cy="3520440"/>
          </a:xfrm>
          <a:prstGeom prst="roundRect">
            <a:avLst>
              <a:gd name="adj" fmla="val 1558"/>
            </a:avLst>
          </a:prstGeom>
          <a:solidFill>
            <a:srgbClr val="F7F9FE"/>
          </a:solidFill>
          <a:ln w="12700">
            <a:solidFill>
              <a:srgbClr val="C9D3EA"/>
            </a:solidFill>
            <a:prstDash val="solid"/>
          </a:ln>
        </p:spPr>
        <p:txBody>
          <a:bodyPr/>
          <a:lstStyle/>
          <a:p>
            <a:endParaRPr/>
          </a:p>
        </p:txBody>
      </p:sp>
      <p:sp>
        <p:nvSpPr>
          <p:cNvPr id="9" name="Text 7"/>
          <p:cNvSpPr txBox="1"/>
          <p:nvPr/>
        </p:nvSpPr>
        <p:spPr>
          <a:xfrm>
            <a:off x="1051560" y="1920240"/>
            <a:ext cx="2743200" cy="256032"/>
          </a:xfrm>
          <a:prstGeom prst="rect">
            <a:avLst/>
          </a:prstGeom>
          <a:noFill/>
          <a:ln/>
        </p:spPr>
        <p:txBody>
          <a:bodyPr wrap="square" lIns="0" tIns="0" rIns="0" bIns="0" rtlCol="0" anchor="ctr"/>
          <a:lstStyle/>
          <a:p>
            <a:pPr marL="0" indent="0">
              <a:buNone/>
            </a:pPr>
            <a:r>
              <a:rPr lang="en-US" sz="950" b="1" kern="0" spc="150" dirty="0">
                <a:solidFill>
                  <a:srgbClr val="5B6785"/>
                </a:solidFill>
                <a:latin typeface="Calibri" pitchFamily="34" charset="0"/>
                <a:ea typeface="Calibri" pitchFamily="34" charset="-122"/>
                <a:cs typeface="Calibri" pitchFamily="34" charset="-120"/>
              </a:rPr>
              <a:t>NEXACHAT</a:t>
            </a:r>
            <a:endParaRPr lang="en-US" sz="950" dirty="0"/>
          </a:p>
        </p:txBody>
      </p:sp>
      <p:sp>
        <p:nvSpPr>
          <p:cNvPr id="10" name="Shape 8"/>
          <p:cNvSpPr/>
          <p:nvPr/>
        </p:nvSpPr>
        <p:spPr>
          <a:xfrm>
            <a:off x="1051560" y="2286000"/>
            <a:ext cx="502920" cy="502920"/>
          </a:xfrm>
          <a:prstGeom prst="ellipse">
            <a:avLst/>
          </a:prstGeom>
          <a:solidFill>
            <a:srgbClr val="1E2761"/>
          </a:solidFill>
          <a:ln/>
        </p:spPr>
        <p:txBody>
          <a:bodyPr/>
          <a:lstStyle/>
          <a:p>
            <a:endParaRPr/>
          </a:p>
        </p:txBody>
      </p:sp>
      <p:sp>
        <p:nvSpPr>
          <p:cNvPr id="11" name="Text 9"/>
          <p:cNvSpPr txBox="1"/>
          <p:nvPr/>
        </p:nvSpPr>
        <p:spPr>
          <a:xfrm>
            <a:off x="1051560" y="2286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a:t>
            </a:r>
            <a:endParaRPr lang="en-US" sz="1300" dirty="0"/>
          </a:p>
        </p:txBody>
      </p:sp>
      <p:sp>
        <p:nvSpPr>
          <p:cNvPr id="12" name="Text 10"/>
          <p:cNvSpPr txBox="1"/>
          <p:nvPr/>
        </p:nvSpPr>
        <p:spPr>
          <a:xfrm>
            <a:off x="1691640" y="2258568"/>
            <a:ext cx="5440680" cy="256032"/>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Daniel Moss</a:t>
            </a:r>
            <a:endParaRPr lang="en-US" sz="1300" dirty="0"/>
          </a:p>
        </p:txBody>
      </p:sp>
      <p:sp>
        <p:nvSpPr>
          <p:cNvPr id="13" name="Text 11"/>
          <p:cNvSpPr txBox="1"/>
          <p:nvPr/>
        </p:nvSpPr>
        <p:spPr>
          <a:xfrm>
            <a:off x="1691640" y="2505456"/>
            <a:ext cx="5440680" cy="228600"/>
          </a:xfrm>
          <a:prstGeom prst="rect">
            <a:avLst/>
          </a:prstGeom>
          <a:noFill/>
          <a:ln/>
        </p:spPr>
        <p:txBody>
          <a:bodyPr wrap="square" lIns="0" tIns="0" rIns="0" bIns="0" rtlCol="0" anchor="ctr"/>
          <a:lstStyle/>
          <a:p>
            <a:pPr marL="0" indent="0">
              <a:buNone/>
            </a:pPr>
            <a:r>
              <a:rPr lang="en-US" sz="1050" dirty="0">
                <a:solidFill>
                  <a:srgbClr val="5B6785"/>
                </a:solidFill>
                <a:latin typeface="Calibri" pitchFamily="34" charset="0"/>
                <a:ea typeface="Calibri" pitchFamily="34" charset="-122"/>
                <a:cs typeface="Calibri" pitchFamily="34" charset="-120"/>
              </a:rPr>
              <a:t>Marketing Team · 2nd floor</a:t>
            </a:r>
            <a:endParaRPr lang="en-US" sz="1050" dirty="0"/>
          </a:p>
        </p:txBody>
      </p:sp>
      <p:sp>
        <p:nvSpPr>
          <p:cNvPr id="14" name="Shape 12"/>
          <p:cNvSpPr/>
          <p:nvPr/>
        </p:nvSpPr>
        <p:spPr>
          <a:xfrm>
            <a:off x="1051560" y="2944368"/>
            <a:ext cx="6080760" cy="1051560"/>
          </a:xfrm>
          <a:prstGeom prst="roundRect">
            <a:avLst>
              <a:gd name="adj" fmla="val 5217"/>
            </a:avLst>
          </a:prstGeom>
          <a:solidFill>
            <a:srgbClr val="FFFFFF"/>
          </a:solidFill>
          <a:ln w="12700">
            <a:solidFill>
              <a:srgbClr val="C9D3EA"/>
            </a:solidFill>
            <a:prstDash val="solid"/>
          </a:ln>
        </p:spPr>
        <p:txBody>
          <a:bodyPr/>
          <a:lstStyle/>
          <a:p>
            <a:endParaRPr/>
          </a:p>
        </p:txBody>
      </p:sp>
      <p:sp>
        <p:nvSpPr>
          <p:cNvPr id="15" name="Text 13"/>
          <p:cNvSpPr txBox="1"/>
          <p:nvPr/>
        </p:nvSpPr>
        <p:spPr>
          <a:xfrm>
            <a:off x="1280160" y="3054096"/>
            <a:ext cx="5623560" cy="841248"/>
          </a:xfrm>
          <a:prstGeom prst="rect">
            <a:avLst/>
          </a:prstGeom>
          <a:noFill/>
          <a:ln/>
        </p:spPr>
        <p:txBody>
          <a:bodyPr wrap="square" lIns="0" tIns="0" rIns="0" bIns="0" rtlCol="0" anchor="t"/>
          <a:lstStyle/>
          <a:p>
            <a:pPr marL="0" indent="0">
              <a:lnSpc>
                <a:spcPct val="115000"/>
              </a:lnSpc>
              <a:buNone/>
            </a:pPr>
            <a:r>
              <a:rPr lang="en-US" sz="1250" dirty="0">
                <a:solidFill>
                  <a:srgbClr val="1B1F3B"/>
                </a:solidFill>
                <a:latin typeface="Calibri" pitchFamily="34" charset="0"/>
                <a:ea typeface="Calibri" pitchFamily="34" charset="-122"/>
                <a:cs typeface="Calibri" pitchFamily="34" charset="-120"/>
              </a:rPr>
              <a:t>Hi Aisha! Putting together a partner presentation this week — could you send over the Q3 client rollout doc your team worked on? Would really help. Thanks!</a:t>
            </a:r>
            <a:endParaRPr lang="en-US" sz="1250" dirty="0"/>
          </a:p>
        </p:txBody>
      </p:sp>
      <p:sp>
        <p:nvSpPr>
          <p:cNvPr id="16" name="Text 14"/>
          <p:cNvSpPr txBox="1"/>
          <p:nvPr/>
        </p:nvSpPr>
        <p:spPr>
          <a:xfrm>
            <a:off x="1051560" y="4297680"/>
            <a:ext cx="6080760" cy="777240"/>
          </a:xfrm>
          <a:prstGeom prst="rect">
            <a:avLst/>
          </a:prstGeom>
          <a:noFill/>
          <a:ln/>
        </p:spPr>
        <p:txBody>
          <a:bodyPr wrap="square" lIns="0" tIns="0" rIns="0" bIns="0" rtlCol="0" anchor="ctr"/>
          <a:lstStyle/>
          <a:p>
            <a:pPr marL="0" indent="0">
              <a:lnSpc>
                <a:spcPct val="125000"/>
              </a:lnSpc>
              <a:buNone/>
            </a:pPr>
            <a:r>
              <a:rPr lang="en-US" sz="1300" i="1" dirty="0">
                <a:solidFill>
                  <a:srgbClr val="1B1F3B"/>
                </a:solidFill>
                <a:latin typeface="Calibri" pitchFamily="34" charset="0"/>
                <a:ea typeface="Calibri" pitchFamily="34" charset="-122"/>
                <a:cs typeface="Calibri" pitchFamily="34" charset="-120"/>
              </a:rPr>
              <a:t>It’s your second week. Daniel isn’t on your team, and you’re not sure whether this document is yours to share.</a:t>
            </a:r>
            <a:endParaRPr lang="en-US" sz="1300" dirty="0"/>
          </a:p>
        </p:txBody>
      </p:sp>
      <p:sp>
        <p:nvSpPr>
          <p:cNvPr id="17" name="Text 15"/>
          <p:cNvSpPr txBox="1"/>
          <p:nvPr/>
        </p:nvSpPr>
        <p:spPr>
          <a:xfrm>
            <a:off x="1051560" y="5029200"/>
            <a:ext cx="608076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do you do?</a:t>
            </a:r>
            <a:endParaRPr lang="en-US" sz="1600" dirty="0"/>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1.2</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reads the scenario and message, then presses Continue to the decision point.</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Trigger: Continue button → jump to 1.3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Use a realistic chat/message interface, not narration text</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Keep the request plausible — not an obvious red flag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score impact on this screen</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Voice-over: reads the scenario and message aloud (script in slide notes)</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1.2</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Understand</a:t>
            </a:r>
          </a:p>
          <a:p>
            <a:pPr marL="0" indent="0" algn="r">
              <a:buNone/>
            </a:pPr>
            <a:r>
              <a:rPr lang="en-US" sz="1000" i="1" dirty="0">
                <a:solidFill>
                  <a:srgbClr val="5B6785"/>
                </a:solidFill>
                <a:latin typeface="Calibri" pitchFamily="34" charset="0"/>
                <a:ea typeface="Calibri" pitchFamily="34" charset="-122"/>
                <a:cs typeface="Calibri" pitchFamily="34" charset="-120"/>
              </a:rPr>
              <a:t>Reads and interprets the situation before any decision.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1.3  ·  DECISION POINT 1</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Decision Point 1</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Learner selects one response — single attempt</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6903720" cy="411480"/>
          </a:xfrm>
          <a:prstGeom prst="rect">
            <a:avLst/>
          </a:prstGeom>
          <a:noFill/>
          <a:ln/>
        </p:spPr>
        <p:txBody>
          <a:bodyPr wrap="square" lIns="0" tIns="0" rIns="0" bIns="0"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Daniel is waiting on a reply. What’s your response?</a:t>
            </a:r>
            <a:endParaRPr lang="en-US" sz="1500" dirty="0"/>
          </a:p>
        </p:txBody>
      </p:sp>
      <p:sp>
        <p:nvSpPr>
          <p:cNvPr id="9" name="Shape 7"/>
          <p:cNvSpPr/>
          <p:nvPr/>
        </p:nvSpPr>
        <p:spPr>
          <a:xfrm>
            <a:off x="822960" y="2286000"/>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0" name="Shape 8"/>
          <p:cNvSpPr/>
          <p:nvPr/>
        </p:nvSpPr>
        <p:spPr>
          <a:xfrm>
            <a:off x="1005840" y="2519172"/>
            <a:ext cx="402336" cy="402336"/>
          </a:xfrm>
          <a:prstGeom prst="ellipse">
            <a:avLst/>
          </a:prstGeom>
          <a:solidFill>
            <a:srgbClr val="B23A2E"/>
          </a:solidFill>
          <a:ln/>
        </p:spPr>
        <p:txBody>
          <a:bodyPr/>
          <a:lstStyle/>
          <a:p>
            <a:endParaRPr/>
          </a:p>
        </p:txBody>
      </p:sp>
      <p:sp>
        <p:nvSpPr>
          <p:cNvPr id="11" name="Text 9"/>
          <p:cNvSpPr txBox="1"/>
          <p:nvPr/>
        </p:nvSpPr>
        <p:spPr>
          <a:xfrm>
            <a:off x="1005840" y="251917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10"/>
          <p:cNvSpPr txBox="1"/>
          <p:nvPr/>
        </p:nvSpPr>
        <p:spPr>
          <a:xfrm>
            <a:off x="1554480" y="2286000"/>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Send it — he works at NexaTech, so it should be fine.</a:t>
            </a:r>
            <a:endParaRPr lang="en-US" sz="1250" dirty="0"/>
          </a:p>
        </p:txBody>
      </p:sp>
      <p:sp>
        <p:nvSpPr>
          <p:cNvPr id="13" name="Shape 11"/>
          <p:cNvSpPr/>
          <p:nvPr/>
        </p:nvSpPr>
        <p:spPr>
          <a:xfrm>
            <a:off x="822960" y="3273552"/>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4" name="Shape 12"/>
          <p:cNvSpPr/>
          <p:nvPr/>
        </p:nvSpPr>
        <p:spPr>
          <a:xfrm>
            <a:off x="1005840" y="3506724"/>
            <a:ext cx="402336" cy="402336"/>
          </a:xfrm>
          <a:prstGeom prst="ellipse">
            <a:avLst/>
          </a:prstGeom>
          <a:solidFill>
            <a:srgbClr val="B8860B"/>
          </a:solidFill>
          <a:ln/>
        </p:spPr>
        <p:txBody>
          <a:bodyPr/>
          <a:lstStyle/>
          <a:p>
            <a:endParaRPr/>
          </a:p>
        </p:txBody>
      </p:sp>
      <p:sp>
        <p:nvSpPr>
          <p:cNvPr id="15" name="Text 13"/>
          <p:cNvSpPr txBox="1"/>
          <p:nvPr/>
        </p:nvSpPr>
        <p:spPr>
          <a:xfrm>
            <a:off x="1005840" y="350672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4"/>
          <p:cNvSpPr txBox="1"/>
          <p:nvPr/>
        </p:nvSpPr>
        <p:spPr>
          <a:xfrm>
            <a:off x="1554480" y="3273552"/>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Send only the sections that seem relevant to his request.</a:t>
            </a:r>
            <a:endParaRPr lang="en-US" sz="1250" dirty="0"/>
          </a:p>
        </p:txBody>
      </p:sp>
      <p:sp>
        <p:nvSpPr>
          <p:cNvPr id="17" name="Shape 15"/>
          <p:cNvSpPr/>
          <p:nvPr/>
        </p:nvSpPr>
        <p:spPr>
          <a:xfrm>
            <a:off x="822960" y="4261104"/>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8" name="Shape 16"/>
          <p:cNvSpPr/>
          <p:nvPr/>
        </p:nvSpPr>
        <p:spPr>
          <a:xfrm>
            <a:off x="1005840" y="4494276"/>
            <a:ext cx="402336" cy="402336"/>
          </a:xfrm>
          <a:prstGeom prst="ellipse">
            <a:avLst/>
          </a:prstGeom>
          <a:solidFill>
            <a:srgbClr val="2C7A4B"/>
          </a:solidFill>
          <a:ln/>
        </p:spPr>
        <p:txBody>
          <a:bodyPr/>
          <a:lstStyle/>
          <a:p>
            <a:endParaRPr/>
          </a:p>
        </p:txBody>
      </p:sp>
      <p:sp>
        <p:nvSpPr>
          <p:cNvPr id="19" name="Text 17"/>
          <p:cNvSpPr txBox="1"/>
          <p:nvPr/>
        </p:nvSpPr>
        <p:spPr>
          <a:xfrm>
            <a:off x="1005840" y="449427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554480" y="4261104"/>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Check the sharing guidelines, or ask your manager or project lead first.</a:t>
            </a:r>
            <a:endParaRPr lang="en-US" sz="1250" dirty="0"/>
          </a:p>
        </p:txBody>
      </p:sp>
      <p:sp>
        <p:nvSpPr>
          <p:cNvPr id="21" name="Shape 19"/>
          <p:cNvSpPr/>
          <p:nvPr/>
        </p:nvSpPr>
        <p:spPr>
          <a:xfrm>
            <a:off x="822960" y="5248656"/>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22" name="Shape 20"/>
          <p:cNvSpPr/>
          <p:nvPr/>
        </p:nvSpPr>
        <p:spPr>
          <a:xfrm>
            <a:off x="1005840" y="5481828"/>
            <a:ext cx="402336" cy="402336"/>
          </a:xfrm>
          <a:prstGeom prst="ellipse">
            <a:avLst/>
          </a:prstGeom>
          <a:solidFill>
            <a:srgbClr val="5B6472"/>
          </a:solidFill>
          <a:ln/>
        </p:spPr>
        <p:txBody>
          <a:bodyPr/>
          <a:lstStyle/>
          <a:p>
            <a:endParaRPr/>
          </a:p>
        </p:txBody>
      </p:sp>
      <p:sp>
        <p:nvSpPr>
          <p:cNvPr id="23" name="Text 21"/>
          <p:cNvSpPr txBox="1"/>
          <p:nvPr/>
        </p:nvSpPr>
        <p:spPr>
          <a:xfrm>
            <a:off x="1005840" y="54818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2"/>
          <p:cNvSpPr txBox="1"/>
          <p:nvPr/>
        </p:nvSpPr>
        <p:spPr>
          <a:xfrm>
            <a:off x="1554480" y="5248656"/>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Don’t respond — better to stay out of it.</a:t>
            </a:r>
            <a:endParaRPr lang="en-US" sz="1250" dirty="0"/>
          </a:p>
        </p:txBody>
      </p:sp>
      <p:sp>
        <p:nvSpPr>
          <p:cNvPr id="25" name="Shape 23"/>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26" name="Text 24"/>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7" name="Text 25"/>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1.3</a:t>
            </a:r>
            <a:endParaRPr lang="en-US" sz="1500" dirty="0"/>
          </a:p>
        </p:txBody>
      </p:sp>
      <p:sp>
        <p:nvSpPr>
          <p:cNvPr id="28" name="Shape 26"/>
          <p:cNvSpPr/>
          <p:nvPr/>
        </p:nvSpPr>
        <p:spPr>
          <a:xfrm>
            <a:off x="8595360" y="2432304"/>
            <a:ext cx="2862072" cy="10973"/>
          </a:xfrm>
          <a:prstGeom prst="rect">
            <a:avLst/>
          </a:prstGeom>
          <a:solidFill>
            <a:srgbClr val="39447A"/>
          </a:solidFill>
          <a:ln/>
        </p:spPr>
        <p:txBody>
          <a:bodyPr/>
          <a:lstStyle/>
          <a:p>
            <a:endParaRPr/>
          </a:p>
        </p:txBody>
      </p:sp>
      <p:sp>
        <p:nvSpPr>
          <p:cNvPr id="29" name="Text 27"/>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30" name="Text 28"/>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Four selectable response cards. Selecting one locks the choice and advances to the matching feedback layer.</a:t>
            </a:r>
            <a:endParaRPr lang="en-US" sz="1150" dirty="0"/>
          </a:p>
        </p:txBody>
      </p:sp>
      <p:sp>
        <p:nvSpPr>
          <p:cNvPr id="31" name="Shape 29"/>
          <p:cNvSpPr/>
          <p:nvPr/>
        </p:nvSpPr>
        <p:spPr>
          <a:xfrm>
            <a:off x="8595360" y="3758184"/>
            <a:ext cx="2862072" cy="10973"/>
          </a:xfrm>
          <a:prstGeom prst="rect">
            <a:avLst/>
          </a:prstGeom>
          <a:solidFill>
            <a:srgbClr val="39447A"/>
          </a:solidFill>
          <a:ln/>
        </p:spPr>
        <p:txBody>
          <a:bodyPr/>
          <a:lstStyle/>
          <a:p>
            <a:endParaRPr/>
          </a:p>
        </p:txBody>
      </p:sp>
      <p:sp>
        <p:nvSpPr>
          <p:cNvPr id="32" name="Text 30"/>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33" name="Text 31"/>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On click: set Choice_4a = A / B / C / D, set all four cards to Disabled, mark the clicked card Selected, show its layer</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Branch: A → 1.3 A, B → 1.3 B, C → 1.3 C, D → 1.3 D</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Locked within a visit; slide resets on revisit, so going back with Prev gives a fresh decision</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“correct answer” styling shown at this stage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 learner is deciding</a:t>
            </a:r>
            <a:endParaRPr lang="en-US" sz="1050" dirty="0"/>
          </a:p>
        </p:txBody>
      </p:sp>
      <p:sp>
        <p:nvSpPr>
          <p:cNvPr id="34" name="Text 32"/>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35" name="Text 33"/>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1.3</a:t>
            </a:r>
            <a:endParaRPr lang="en-US" sz="900" dirty="0"/>
          </a:p>
        </p:txBody>
      </p:sp>
      <p:sp>
        <p:nvSpPr>
          <p:cNvPr id="36"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Apply → Evaluate</a:t>
            </a:r>
          </a:p>
          <a:p>
            <a:pPr marL="0" indent="0" algn="r">
              <a:buNone/>
            </a:pPr>
            <a:r>
              <a:rPr lang="en-US" sz="1000" i="1" dirty="0">
                <a:solidFill>
                  <a:srgbClr val="5B6785"/>
                </a:solidFill>
                <a:latin typeface="Calibri" pitchFamily="34" charset="0"/>
                <a:ea typeface="Calibri" pitchFamily="34" charset="-122"/>
                <a:cs typeface="Calibri" pitchFamily="34" charset="-120"/>
              </a:rPr>
              <a:t>Weighs four options, including a partial-credit one, against risk.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1.3 A  ·  ON SLIDE 1.3 DECISION POINT 1</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A — “Send it — he works at NexaTech.”</a:t>
            </a:r>
            <a:endParaRPr lang="en-US" sz="1600" dirty="0"/>
          </a:p>
        </p:txBody>
      </p:sp>
      <p:sp>
        <p:nvSpPr>
          <p:cNvPr id="10" name="Shape 8"/>
          <p:cNvSpPr/>
          <p:nvPr/>
        </p:nvSpPr>
        <p:spPr>
          <a:xfrm>
            <a:off x="822960" y="2606040"/>
            <a:ext cx="2834640" cy="384048"/>
          </a:xfrm>
          <a:prstGeom prst="roundRect">
            <a:avLst>
              <a:gd name="adj" fmla="val 50000"/>
            </a:avLst>
          </a:prstGeom>
          <a:solidFill>
            <a:srgbClr val="FBE9E7"/>
          </a:solidFill>
          <a:ln w="12700">
            <a:solidFill>
              <a:srgbClr val="B23A2E"/>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B23A2E"/>
                </a:solidFill>
                <a:latin typeface="Calibri" pitchFamily="34" charset="0"/>
                <a:ea typeface="Calibri" pitchFamily="34" charset="-122"/>
                <a:cs typeface="Calibri" pitchFamily="34" charset="-120"/>
              </a:rPr>
              <a:t>RISKY MOVE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B23A2E"/>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The document went out — and it included client financial details that weren’t meant for a partner presentation. Working at NexaTech doesn’t mean someone is cleared to see everything; it’s the document’s content, not the recipient’s employee status, that decides what can be shared.</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A compliance concern is raised, and Aisha’s manager has to explain the exposure to the client account team.</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1.3 A</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A. Slide-in feedback panel with a red status tag and a Continue button to 1.4.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warning triangle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Choice_4a = A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1.3 A</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1.3 B  ·  ON SLIDE 1.3 DECISION POINT 1</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B — “Send only the relevant sections.”</a:t>
            </a:r>
            <a:endParaRPr lang="en-US" sz="1600" dirty="0"/>
          </a:p>
        </p:txBody>
      </p:sp>
      <p:sp>
        <p:nvSpPr>
          <p:cNvPr id="10" name="Shape 8"/>
          <p:cNvSpPr/>
          <p:nvPr/>
        </p:nvSpPr>
        <p:spPr>
          <a:xfrm>
            <a:off x="822960" y="2606040"/>
            <a:ext cx="2834640" cy="384048"/>
          </a:xfrm>
          <a:prstGeom prst="roundRect">
            <a:avLst>
              <a:gd name="adj" fmla="val 50000"/>
            </a:avLst>
          </a:prstGeom>
          <a:solidFill>
            <a:srgbClr val="FBF1DD"/>
          </a:solidFill>
          <a:ln w="12700">
            <a:solidFill>
              <a:srgbClr val="B8860B"/>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B8860B"/>
                </a:solidFill>
                <a:latin typeface="Calibri" pitchFamily="34" charset="0"/>
                <a:ea typeface="Calibri" pitchFamily="34" charset="-122"/>
                <a:cs typeface="Calibri" pitchFamily="34" charset="-120"/>
              </a:rPr>
              <a:t>PARTIAL CREDIT</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B8860B"/>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Better than sending everything — you used some judgment instead of forwarding the whole file. But you still decided on your own what counted as “relevant,” without confirming that any of it was cleared to leave the team. It happened to be fine this time; that isn’t the same as being a safe process.</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No exposure this time, but the same shortcut with a different document could easily go the other way.</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1.3 B</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B. Slide-in feedback panel with an amber status tag and a Continue button to 1.4.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half-filled circle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Choice_4a = B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1.3 B</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1.3 C  ·  ON SLIDE 1.3 DECISION POINT 1</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C — “Check guidance, or ask my manager first.”</a:t>
            </a:r>
            <a:endParaRPr lang="en-US" sz="1600" dirty="0"/>
          </a:p>
        </p:txBody>
      </p:sp>
      <p:sp>
        <p:nvSpPr>
          <p:cNvPr id="10" name="Shape 8"/>
          <p:cNvSpPr/>
          <p:nvPr/>
        </p:nvSpPr>
        <p:spPr>
          <a:xfrm>
            <a:off x="822960" y="2606040"/>
            <a:ext cx="2834640" cy="384048"/>
          </a:xfrm>
          <a:prstGeom prst="roundRect">
            <a:avLst>
              <a:gd name="adj" fmla="val 50000"/>
            </a:avLst>
          </a:prstGeom>
          <a:solidFill>
            <a:srgbClr val="E6F2EB"/>
          </a:solidFill>
          <a:ln w="12700">
            <a:solidFill>
              <a:srgbClr val="2C7A4B"/>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2C7A4B"/>
                </a:solidFill>
                <a:latin typeface="Calibri" pitchFamily="34" charset="0"/>
                <a:ea typeface="Calibri" pitchFamily="34" charset="-122"/>
                <a:cs typeface="Calibri" pitchFamily="34" charset="-120"/>
              </a:rPr>
              <a:t>STRONGEST RESPONSE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2C7A4B"/>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You paused, checked the internal sharing guidance, and confirmed with your project lead before responding. Daniel got a same-day answer — a summary was cleared and shared through the right channel. Nothing was delayed, and nothing was exposed.</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The request is resolved cleanly, and Daniel now knows the right way to ask next time.</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1.3 C</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C. Slide-in feedback panel with a green status tag and a Continue button to 1.4.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check mark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Choice_4a = C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1.3 C</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1.3 D  ·  ON SLIDE 1.3 DECISION POINT 1</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D — “Don’t respond — stay out of it.”</a:t>
            </a:r>
            <a:endParaRPr lang="en-US" sz="1600" dirty="0"/>
          </a:p>
        </p:txBody>
      </p:sp>
      <p:sp>
        <p:nvSpPr>
          <p:cNvPr id="10" name="Shape 8"/>
          <p:cNvSpPr/>
          <p:nvPr/>
        </p:nvSpPr>
        <p:spPr>
          <a:xfrm>
            <a:off x="822960" y="2606040"/>
            <a:ext cx="2834640" cy="384048"/>
          </a:xfrm>
          <a:prstGeom prst="roundRect">
            <a:avLst>
              <a:gd name="adj" fmla="val 50000"/>
            </a:avLst>
          </a:prstGeom>
          <a:solidFill>
            <a:srgbClr val="EEEFF2"/>
          </a:solidFill>
          <a:ln w="12700">
            <a:solidFill>
              <a:srgbClr val="5B6472"/>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5B6472"/>
                </a:solidFill>
                <a:latin typeface="Calibri" pitchFamily="34" charset="0"/>
                <a:ea typeface="Calibri" pitchFamily="34" charset="-122"/>
                <a:cs typeface="Calibri" pitchFamily="34" charset="-120"/>
              </a:rPr>
              <a:t>AVOIDS THE PROBLEM</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5B6472"/>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Staying quiet avoided the risk of sharing something you shouldn’t have — but Daniel is still waiting. He doesn’t know if you saw his message, if you’re checking on it, or if he needs to go around you and ask someone else. Avoiding a decision is still a decision, and it doesn’t make the request go away.</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Daniel escalates to Aisha’s manager two days later, and the delay reflects on Aisha rather than on the request itself.</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1.3 D</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D. Slide-in feedback panel with a gray status tag and a Continue button to 1.4.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minus / dash</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Choice_4a = D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1.3 D</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9418320" y="-1828800"/>
            <a:ext cx="4572000" cy="4572000"/>
          </a:xfrm>
          <a:prstGeom prst="ellipse">
            <a:avLst/>
          </a:prstGeom>
          <a:solidFill>
            <a:srgbClr val="1E2761">
              <a:alpha val="55000"/>
            </a:srgbClr>
          </a:solidFill>
          <a:ln/>
        </p:spPr>
        <p:txBody>
          <a:bodyPr/>
          <a:lstStyle/>
          <a:p>
            <a:endParaRPr/>
          </a:p>
        </p:txBody>
      </p:sp>
      <p:sp>
        <p:nvSpPr>
          <p:cNvPr id="3" name="Text 1"/>
          <p:cNvSpPr txBox="1"/>
          <p:nvPr/>
        </p:nvSpPr>
        <p:spPr>
          <a:xfrm>
            <a:off x="822960" y="502920"/>
            <a:ext cx="7315200" cy="292608"/>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SCREEN 1.4  ·  ONE DECISION DOWN  ·  BRIDGE</a:t>
            </a:r>
            <a:endParaRPr lang="en-US" sz="1100" dirty="0"/>
          </a:p>
        </p:txBody>
      </p:sp>
      <p:sp>
        <p:nvSpPr>
          <p:cNvPr id="4" name="Text 2"/>
          <p:cNvSpPr txBox="1"/>
          <p:nvPr/>
        </p:nvSpPr>
        <p:spPr>
          <a:xfrm>
            <a:off x="822960" y="2286000"/>
            <a:ext cx="987552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One decision down.</a:t>
            </a:r>
            <a:endParaRPr lang="en-US" sz="3200" dirty="0"/>
          </a:p>
        </p:txBody>
      </p:sp>
      <p:sp>
        <p:nvSpPr>
          <p:cNvPr id="5" name="Text 3"/>
          <p:cNvSpPr txBox="1"/>
          <p:nvPr/>
        </p:nvSpPr>
        <p:spPr>
          <a:xfrm>
            <a:off x="822960" y="3063240"/>
            <a:ext cx="8961120" cy="822960"/>
          </a:xfrm>
          <a:prstGeom prst="rect">
            <a:avLst/>
          </a:prstGeom>
          <a:noFill/>
          <a:ln/>
        </p:spPr>
        <p:txBody>
          <a:bodyPr wrap="square" lIns="0" tIns="0" rIns="0" bIns="0" rtlCol="0" anchor="ctr"/>
          <a:lstStyle/>
          <a:p>
            <a:pPr marL="0" indent="0">
              <a:lnSpc>
                <a:spcPct val="130000"/>
              </a:lnSpc>
              <a:buNone/>
            </a:pPr>
            <a:r>
              <a:rPr lang="en-US" sz="1500" dirty="0">
                <a:solidFill>
                  <a:srgbClr val="C4CCEA"/>
                </a:solidFill>
                <a:latin typeface="Calibri" pitchFamily="34" charset="0"/>
                <a:ea typeface="Calibri" pitchFamily="34" charset="-122"/>
                <a:cs typeface="Calibri" pitchFamily="34" charset="-120"/>
              </a:rPr>
              <a:t>You paused and checked instead of guessing — or you saw what happens when you don’t. Judgment calls like this don’t stop after one email.</a:t>
            </a:r>
            <a:endParaRPr lang="en-US" sz="1500" dirty="0"/>
          </a:p>
        </p:txBody>
      </p:sp>
      <p:sp>
        <p:nvSpPr>
          <p:cNvPr id="6" name="Text 4"/>
          <p:cNvSpPr txBox="1"/>
          <p:nvPr/>
        </p:nvSpPr>
        <p:spPr>
          <a:xfrm>
            <a:off x="822960" y="3886200"/>
            <a:ext cx="8961120" cy="457200"/>
          </a:xfrm>
          <a:prstGeom prst="rect">
            <a:avLst/>
          </a:prstGeom>
          <a:noFill/>
          <a:ln/>
        </p:spPr>
        <p:txBody>
          <a:bodyPr wrap="square" lIns="0" tIns="0" rIns="0" bIns="0" rtlCol="0" anchor="ctr"/>
          <a:lstStyle/>
          <a:p>
            <a:pPr marL="0" indent="0">
              <a:buNone/>
            </a:pPr>
            <a:r>
              <a:rPr lang="en-US" sz="1600" i="1" dirty="0">
                <a:solidFill>
                  <a:srgbClr val="CADCFC"/>
                </a:solidFill>
                <a:latin typeface="Cambria" pitchFamily="34" charset="0"/>
                <a:ea typeface="Cambria" pitchFamily="34" charset="-122"/>
                <a:cs typeface="Cambria" pitchFamily="34" charset="-120"/>
              </a:rPr>
              <a:t>This time, you can check the actual guidance yourself before deciding.</a:t>
            </a:r>
            <a:endParaRPr lang="en-US" sz="1600" dirty="0"/>
          </a:p>
        </p:txBody>
      </p:sp>
      <p:sp>
        <p:nvSpPr>
          <p:cNvPr id="7" name="Shape 5"/>
          <p:cNvSpPr/>
          <p:nvPr/>
        </p:nvSpPr>
        <p:spPr>
          <a:xfrm>
            <a:off x="822960" y="4709160"/>
            <a:ext cx="3291840" cy="777240"/>
          </a:xfrm>
          <a:prstGeom prst="roundRect">
            <a:avLst>
              <a:gd name="adj" fmla="val 49412"/>
            </a:avLst>
          </a:prstGeom>
          <a:solidFill>
            <a:srgbClr val="CADCFC"/>
          </a:solidFill>
          <a:ln/>
        </p:spPr>
        <p:txBody>
          <a:bodyPr/>
          <a:lstStyle/>
          <a:p>
            <a:endParaRPr/>
          </a:p>
        </p:txBody>
      </p:sp>
      <p:sp>
        <p:nvSpPr>
          <p:cNvPr id="8" name="Text 6"/>
          <p:cNvSpPr txBox="1"/>
          <p:nvPr/>
        </p:nvSpPr>
        <p:spPr>
          <a:xfrm>
            <a:off x="822960" y="4709160"/>
            <a:ext cx="3291840" cy="77724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Continue →</a:t>
            </a:r>
            <a:endParaRPr lang="en-US" sz="1400" dirty="0"/>
          </a:p>
        </p:txBody>
      </p:sp>
      <p:sp>
        <p:nvSpPr>
          <p:cNvPr id="9" name="Text 7"/>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8892B8"/>
                </a:solidFill>
                <a:latin typeface="Calibri" pitchFamily="34" charset="0"/>
                <a:ea typeface="Calibri" pitchFamily="34" charset="-122"/>
                <a:cs typeface="Calibri" pitchFamily="34" charset="-120"/>
              </a:rPr>
              <a:t>NEXATECH ONBOARDING PATHWAY  ·  MODULE 4 STORYBOARD</a:t>
            </a:r>
            <a:endParaRPr lang="en-US" sz="900" dirty="0"/>
          </a:p>
        </p:txBody>
      </p:sp>
      <p:sp>
        <p:nvSpPr>
          <p:cNvPr id="10" name="Text 8"/>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8892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1.5  ·  MESSAGE FROM ADITYA</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Situation Setup — Decision 2</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A different kind of request — this one from outside NexaTech</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Shape 6"/>
          <p:cNvSpPr/>
          <p:nvPr/>
        </p:nvSpPr>
        <p:spPr>
          <a:xfrm>
            <a:off x="822960" y="1783080"/>
            <a:ext cx="6903720" cy="3520440"/>
          </a:xfrm>
          <a:prstGeom prst="roundRect">
            <a:avLst>
              <a:gd name="adj" fmla="val 1558"/>
            </a:avLst>
          </a:prstGeom>
          <a:solidFill>
            <a:srgbClr val="F7F9FE"/>
          </a:solidFill>
          <a:ln w="12700">
            <a:solidFill>
              <a:srgbClr val="C9D3EA"/>
            </a:solidFill>
            <a:prstDash val="solid"/>
          </a:ln>
        </p:spPr>
        <p:txBody>
          <a:bodyPr/>
          <a:lstStyle/>
          <a:p>
            <a:endParaRPr/>
          </a:p>
        </p:txBody>
      </p:sp>
      <p:sp>
        <p:nvSpPr>
          <p:cNvPr id="9" name="Text 7"/>
          <p:cNvSpPr txBox="1"/>
          <p:nvPr/>
        </p:nvSpPr>
        <p:spPr>
          <a:xfrm>
            <a:off x="1051560" y="1920240"/>
            <a:ext cx="2743200" cy="256032"/>
          </a:xfrm>
          <a:prstGeom prst="rect">
            <a:avLst/>
          </a:prstGeom>
          <a:noFill/>
          <a:ln/>
        </p:spPr>
        <p:txBody>
          <a:bodyPr wrap="square" lIns="0" tIns="0" rIns="0" bIns="0" rtlCol="0" anchor="ctr"/>
          <a:lstStyle/>
          <a:p>
            <a:pPr marL="0" indent="0">
              <a:buNone/>
            </a:pPr>
            <a:r>
              <a:rPr lang="en-US" sz="950" b="1" kern="0" spc="150" dirty="0">
                <a:solidFill>
                  <a:srgbClr val="5B6785"/>
                </a:solidFill>
                <a:latin typeface="Calibri" pitchFamily="34" charset="0"/>
                <a:ea typeface="Calibri" pitchFamily="34" charset="-122"/>
                <a:cs typeface="Calibri" pitchFamily="34" charset="-120"/>
              </a:rPr>
              <a:t>NEXAMAIL</a:t>
            </a:r>
            <a:endParaRPr lang="en-US" sz="950" dirty="0"/>
          </a:p>
        </p:txBody>
      </p:sp>
      <p:sp>
        <p:nvSpPr>
          <p:cNvPr id="10" name="Shape 8"/>
          <p:cNvSpPr/>
          <p:nvPr/>
        </p:nvSpPr>
        <p:spPr>
          <a:xfrm>
            <a:off x="1051560" y="2286000"/>
            <a:ext cx="502920" cy="502920"/>
          </a:xfrm>
          <a:prstGeom prst="ellipse">
            <a:avLst/>
          </a:prstGeom>
          <a:solidFill>
            <a:srgbClr val="5B3E96"/>
          </a:solidFill>
          <a:ln/>
        </p:spPr>
        <p:txBody>
          <a:bodyPr/>
          <a:lstStyle/>
          <a:p>
            <a:endParaRPr/>
          </a:p>
        </p:txBody>
      </p:sp>
      <p:sp>
        <p:nvSpPr>
          <p:cNvPr id="11" name="Text 9"/>
          <p:cNvSpPr txBox="1"/>
          <p:nvPr/>
        </p:nvSpPr>
        <p:spPr>
          <a:xfrm>
            <a:off x="1051560" y="2286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a:t>
            </a:r>
            <a:endParaRPr lang="en-US" sz="1300" dirty="0"/>
          </a:p>
        </p:txBody>
      </p:sp>
      <p:sp>
        <p:nvSpPr>
          <p:cNvPr id="12" name="Text 10"/>
          <p:cNvSpPr txBox="1"/>
          <p:nvPr/>
        </p:nvSpPr>
        <p:spPr>
          <a:xfrm>
            <a:off x="1691640" y="2258568"/>
            <a:ext cx="5440680" cy="256032"/>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Aditya Sharma</a:t>
            </a:r>
            <a:endParaRPr lang="en-US" sz="1300" dirty="0"/>
          </a:p>
        </p:txBody>
      </p:sp>
      <p:sp>
        <p:nvSpPr>
          <p:cNvPr id="13" name="Text 11"/>
          <p:cNvSpPr txBox="1"/>
          <p:nvPr/>
        </p:nvSpPr>
        <p:spPr>
          <a:xfrm>
            <a:off x="1691640" y="2505456"/>
            <a:ext cx="5440680" cy="228600"/>
          </a:xfrm>
          <a:prstGeom prst="rect">
            <a:avLst/>
          </a:prstGeom>
          <a:noFill/>
          <a:ln/>
        </p:spPr>
        <p:txBody>
          <a:bodyPr wrap="square" lIns="0" tIns="0" rIns="0" bIns="0" rtlCol="0" anchor="ctr"/>
          <a:lstStyle/>
          <a:p>
            <a:pPr marL="0" indent="0">
              <a:buNone/>
            </a:pPr>
            <a:r>
              <a:rPr lang="en-US" sz="1050" dirty="0">
                <a:solidFill>
                  <a:srgbClr val="5B6785"/>
                </a:solidFill>
                <a:latin typeface="Calibri" pitchFamily="34" charset="0"/>
                <a:ea typeface="Calibri" pitchFamily="34" charset="-122"/>
                <a:cs typeface="Calibri" pitchFamily="34" charset="-120"/>
              </a:rPr>
              <a:t>Account Manager · BrightPath Logistics (Vendor)</a:t>
            </a:r>
            <a:endParaRPr lang="en-US" sz="1050" dirty="0"/>
          </a:p>
        </p:txBody>
      </p:sp>
      <p:sp>
        <p:nvSpPr>
          <p:cNvPr id="14" name="Shape 12"/>
          <p:cNvSpPr/>
          <p:nvPr/>
        </p:nvSpPr>
        <p:spPr>
          <a:xfrm>
            <a:off x="1051560" y="2944368"/>
            <a:ext cx="6080760" cy="1051560"/>
          </a:xfrm>
          <a:prstGeom prst="roundRect">
            <a:avLst>
              <a:gd name="adj" fmla="val 5217"/>
            </a:avLst>
          </a:prstGeom>
          <a:solidFill>
            <a:srgbClr val="FFFFFF"/>
          </a:solidFill>
          <a:ln w="12700">
            <a:solidFill>
              <a:srgbClr val="C9D3EA"/>
            </a:solidFill>
            <a:prstDash val="solid"/>
          </a:ln>
        </p:spPr>
        <p:txBody>
          <a:bodyPr/>
          <a:lstStyle/>
          <a:p>
            <a:endParaRPr/>
          </a:p>
        </p:txBody>
      </p:sp>
      <p:sp>
        <p:nvSpPr>
          <p:cNvPr id="15" name="Text 13"/>
          <p:cNvSpPr txBox="1"/>
          <p:nvPr/>
        </p:nvSpPr>
        <p:spPr>
          <a:xfrm>
            <a:off x="1280160" y="3054096"/>
            <a:ext cx="5623560" cy="841248"/>
          </a:xfrm>
          <a:prstGeom prst="rect">
            <a:avLst/>
          </a:prstGeom>
          <a:noFill/>
          <a:ln/>
        </p:spPr>
        <p:txBody>
          <a:bodyPr wrap="square" lIns="0" tIns="0" rIns="0" bIns="0" rtlCol="0" anchor="t"/>
          <a:lstStyle/>
          <a:p>
            <a:pPr marL="0" indent="0">
              <a:lnSpc>
                <a:spcPct val="115000"/>
              </a:lnSpc>
              <a:buNone/>
            </a:pPr>
            <a:r>
              <a:rPr lang="en-US" sz="1250" dirty="0">
                <a:solidFill>
                  <a:srgbClr val="1B1F3B"/>
                </a:solidFill>
                <a:latin typeface="Calibri" pitchFamily="34" charset="0"/>
                <a:ea typeface="Calibri" pitchFamily="34" charset="-122"/>
                <a:cs typeface="Calibri" pitchFamily="34" charset="-120"/>
              </a:rPr>
              <a:t>Hi Aisha, congrats on the new role! We’re setting up something similar for our own team — mind sending over NexaTech’s internal onboarding schedule? Just want to see how you’ve structured it.</a:t>
            </a:r>
            <a:endParaRPr lang="en-US" sz="1250" dirty="0"/>
          </a:p>
        </p:txBody>
      </p:sp>
      <p:sp>
        <p:nvSpPr>
          <p:cNvPr id="16" name="Text 14"/>
          <p:cNvSpPr txBox="1"/>
          <p:nvPr/>
        </p:nvSpPr>
        <p:spPr>
          <a:xfrm>
            <a:off x="1051560" y="4297680"/>
            <a:ext cx="6080760" cy="777240"/>
          </a:xfrm>
          <a:prstGeom prst="rect">
            <a:avLst/>
          </a:prstGeom>
          <a:noFill/>
          <a:ln/>
        </p:spPr>
        <p:txBody>
          <a:bodyPr wrap="square" lIns="0" tIns="0" rIns="0" bIns="0" rtlCol="0" anchor="ctr"/>
          <a:lstStyle/>
          <a:p>
            <a:pPr marL="0" indent="0">
              <a:lnSpc>
                <a:spcPct val="125000"/>
              </a:lnSpc>
              <a:buNone/>
            </a:pPr>
            <a:r>
              <a:rPr lang="en-US" sz="1300" i="1" dirty="0">
                <a:solidFill>
                  <a:srgbClr val="1B1F3B"/>
                </a:solidFill>
                <a:latin typeface="Calibri" pitchFamily="34" charset="0"/>
                <a:ea typeface="Calibri" pitchFamily="34" charset="-122"/>
                <a:cs typeface="Calibri" pitchFamily="34" charset="-120"/>
              </a:rPr>
              <a:t>Aditya isn’t a NexaTech employee. Before you decide how to respond, you can check the guidance on requests like this.</a:t>
            </a:r>
            <a:endParaRPr lang="en-US" sz="1300" dirty="0"/>
          </a:p>
        </p:txBody>
      </p:sp>
      <p:sp>
        <p:nvSpPr>
          <p:cNvPr id="17" name="Text 15"/>
          <p:cNvSpPr txBox="1"/>
          <p:nvPr/>
        </p:nvSpPr>
        <p:spPr>
          <a:xfrm>
            <a:off x="1051560" y="5029200"/>
            <a:ext cx="608076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do you do?</a:t>
            </a:r>
            <a:endParaRPr lang="en-US" sz="1600" dirty="0"/>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1.5</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reads the second scenario. This time the request is external (a vendor), not internal — a different risk profile from 1.2.</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Trigger: Continue button → jump to 1.6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Email-style interface (vs. chat style in 1.2) to signal a different channel</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Sender is explicitly external — no ambiguity about company affiliation</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score impact on this screen</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Voice-over: reads the scenario and message aloud (script in slide notes)</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1.5</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Understand</a:t>
            </a:r>
          </a:p>
          <a:p>
            <a:pPr marL="0" indent="0" algn="r">
              <a:buNone/>
            </a:pPr>
            <a:r>
              <a:rPr lang="en-US" sz="1000" i="1" dirty="0">
                <a:solidFill>
                  <a:srgbClr val="5B6785"/>
                </a:solidFill>
                <a:latin typeface="Calibri" pitchFamily="34" charset="0"/>
                <a:ea typeface="Calibri" pitchFamily="34" charset="-122"/>
                <a:cs typeface="Calibri" pitchFamily="34" charset="-120"/>
              </a:rPr>
              <a:t>Interprets an external request with a different risk profile.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1.6  ·  GUIDANCE CHECK</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Resource Check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A gated look-up — the learner must open this before responding</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FE9F7"/>
          </a:solidFill>
          <a:ln w="15875">
            <a:solidFill>
              <a:srgbClr val="5B3E96"/>
            </a:solidFill>
            <a:prstDash val="solid"/>
          </a:ln>
        </p:spPr>
        <p:txBody>
          <a:bodyPr/>
          <a:lstStyle/>
          <a:p>
            <a:endParaRPr/>
          </a:p>
        </p:txBody>
      </p:sp>
      <p:sp>
        <p:nvSpPr>
          <p:cNvPr id="8" name="Text 6"/>
          <p:cNvSpPr txBox="1"/>
          <p:nvPr/>
        </p:nvSpPr>
        <p:spPr>
          <a:xfrm>
            <a:off x="822960" y="1783080"/>
            <a:ext cx="6903720" cy="640080"/>
          </a:xfrm>
          <a:prstGeom prst="rect">
            <a:avLst/>
          </a:prstGeom>
          <a:noFill/>
          <a:ln/>
        </p:spPr>
        <p:txBody>
          <a:bodyPr wrap="square" lIns="0" tIns="0" rIns="0" bIns="0" rtlCol="0" anchor="ctr"/>
          <a:lstStyle/>
          <a:p>
            <a:pPr marL="0" indent="0">
              <a:lnSpc>
                <a:spcPct val="115000"/>
              </a:lnSpc>
              <a:buNone/>
            </a:pPr>
            <a:r>
              <a:rPr lang="en-US" sz="1600" b="1" dirty="0">
                <a:solidFill>
                  <a:srgbClr val="1B1F3B"/>
                </a:solidFill>
                <a:latin typeface="Cambria" pitchFamily="34" charset="0"/>
                <a:ea typeface="Cambria" pitchFamily="34" charset="-122"/>
                <a:cs typeface="Cambria" pitchFamily="34" charset="-120"/>
              </a:rPr>
              <a:t>Not sure? You can check the guidance before you answer Aditya.</a:t>
            </a:r>
            <a:endParaRPr lang="en-US" sz="1600" dirty="0"/>
          </a:p>
        </p:txBody>
      </p:sp>
      <p:sp>
        <p:nvSpPr>
          <p:cNvPr id="9" name="Shape 7"/>
          <p:cNvSpPr/>
          <p:nvPr/>
        </p:nvSpPr>
        <p:spPr>
          <a:xfrm>
            <a:off x="822960" y="2606040"/>
            <a:ext cx="6903720" cy="868680"/>
          </a:xfrm>
          <a:prstGeom prst="roundRect">
            <a:avLst>
              <a:gd name="adj" fmla="val 7368"/>
            </a:avLst>
          </a:prstGeom>
          <a:solidFill>
            <a:srgbClr val="FFFFFF"/>
          </a:solidFill>
          <a:ln w="19050">
            <a:solidFill>
              <a:srgbClr val="5B3E96"/>
            </a:solidFill>
            <a:prstDash val="solid"/>
          </a:ln>
        </p:spPr>
        <p:txBody>
          <a:bodyPr/>
          <a:lstStyle/>
          <a:p>
            <a:endParaRPr/>
          </a:p>
        </p:txBody>
      </p:sp>
      <p:sp>
        <p:nvSpPr>
          <p:cNvPr id="10" name="Shape 8"/>
          <p:cNvSpPr/>
          <p:nvPr/>
        </p:nvSpPr>
        <p:spPr>
          <a:xfrm>
            <a:off x="1051560" y="2816352"/>
            <a:ext cx="457200" cy="457200"/>
          </a:xfrm>
          <a:prstGeom prst="roundRect">
            <a:avLst>
              <a:gd name="adj" fmla="val 16000"/>
            </a:avLst>
          </a:prstGeom>
          <a:solidFill>
            <a:srgbClr val="5B3E96"/>
          </a:solidFill>
          <a:ln/>
        </p:spPr>
        <p:txBody>
          <a:bodyPr/>
          <a:lstStyle/>
          <a:p>
            <a:endParaRPr/>
          </a:p>
        </p:txBody>
      </p:sp>
      <p:sp>
        <p:nvSpPr>
          <p:cNvPr id="11" name="Text 9"/>
          <p:cNvSpPr txBox="1"/>
          <p:nvPr/>
        </p:nvSpPr>
        <p:spPr>
          <a:xfrm>
            <a:off x="1051560" y="2816352"/>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txBox="1"/>
          <p:nvPr/>
        </p:nvSpPr>
        <p:spPr>
          <a:xfrm>
            <a:off x="1645920" y="2715768"/>
            <a:ext cx="5623560" cy="320040"/>
          </a:xfrm>
          <a:prstGeom prst="rect">
            <a:avLst/>
          </a:prstGeom>
          <a:noFill/>
          <a:ln/>
        </p:spPr>
        <p:txBody>
          <a:bodyPr wrap="square" lIns="0" tIns="0" rIns="0" bIns="0"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External Sharing Guidance</a:t>
            </a:r>
            <a:endParaRPr lang="en-US" sz="1350" dirty="0"/>
          </a:p>
        </p:txBody>
      </p:sp>
      <p:sp>
        <p:nvSpPr>
          <p:cNvPr id="13" name="Text 11"/>
          <p:cNvSpPr txBox="1"/>
          <p:nvPr/>
        </p:nvSpPr>
        <p:spPr>
          <a:xfrm>
            <a:off x="1645920" y="2990088"/>
            <a:ext cx="5623560" cy="320040"/>
          </a:xfrm>
          <a:prstGeom prst="rect">
            <a:avLst/>
          </a:prstGeom>
          <a:noFill/>
          <a:ln/>
        </p:spPr>
        <p:txBody>
          <a:bodyPr wrap="square" lIns="0" tIns="0" rIns="0" bIns="0" rtlCol="0" anchor="ctr"/>
          <a:lstStyle/>
          <a:p>
            <a:pPr marL="0" indent="0">
              <a:buNone/>
            </a:pPr>
            <a:r>
              <a:rPr lang="en-US" sz="1100" i="1" dirty="0">
                <a:solidFill>
                  <a:srgbClr val="5B3E96"/>
                </a:solidFill>
                <a:latin typeface="Calibri" pitchFamily="34" charset="0"/>
                <a:ea typeface="Calibri" pitchFamily="34" charset="-122"/>
                <a:cs typeface="Calibri" pitchFamily="34" charset="-120"/>
              </a:rPr>
              <a:t>Tap to view — required before you can respond</a:t>
            </a:r>
            <a:endParaRPr lang="en-US" sz="1100" dirty="0"/>
          </a:p>
        </p:txBody>
      </p:sp>
      <p:sp>
        <p:nvSpPr>
          <p:cNvPr id="14" name="Shape 12"/>
          <p:cNvSpPr/>
          <p:nvPr/>
        </p:nvSpPr>
        <p:spPr>
          <a:xfrm>
            <a:off x="822960" y="3703320"/>
            <a:ext cx="6903720" cy="1783080"/>
          </a:xfrm>
          <a:prstGeom prst="roundRect">
            <a:avLst>
              <a:gd name="adj" fmla="val 3077"/>
            </a:avLst>
          </a:prstGeom>
          <a:solidFill>
            <a:srgbClr val="FFFFFF"/>
          </a:solidFill>
          <a:ln w="12700">
            <a:solidFill>
              <a:srgbClr val="C9D3EA"/>
            </a:solidFill>
            <a:prstDash val="solid"/>
          </a:ln>
        </p:spPr>
        <p:txBody>
          <a:bodyPr/>
          <a:lstStyle/>
          <a:p>
            <a:endParaRPr/>
          </a:p>
        </p:txBody>
      </p:sp>
      <p:sp>
        <p:nvSpPr>
          <p:cNvPr id="15" name="Text 13"/>
          <p:cNvSpPr txBox="1"/>
          <p:nvPr/>
        </p:nvSpPr>
        <p:spPr>
          <a:xfrm>
            <a:off x="1097280" y="3849624"/>
            <a:ext cx="3840480" cy="228600"/>
          </a:xfrm>
          <a:prstGeom prst="rect">
            <a:avLst/>
          </a:prstGeom>
          <a:noFill/>
          <a:ln/>
        </p:spPr>
        <p:txBody>
          <a:bodyPr wrap="square" lIns="0" tIns="0" rIns="0" bIns="0" rtlCol="0" anchor="ctr"/>
          <a:lstStyle/>
          <a:p>
            <a:pPr marL="0" indent="0">
              <a:buNone/>
            </a:pPr>
            <a:r>
              <a:rPr lang="en-US" sz="900" b="1" kern="0" spc="100" dirty="0">
                <a:solidFill>
                  <a:srgbClr val="1E2761"/>
                </a:solidFill>
                <a:latin typeface="Calibri" pitchFamily="34" charset="0"/>
                <a:ea typeface="Calibri" pitchFamily="34" charset="-122"/>
                <a:cs typeface="Calibri" pitchFamily="34" charset="-120"/>
              </a:rPr>
              <a:t>NEXATECH EMPLOYEE HANDBOOK</a:t>
            </a:r>
            <a:endParaRPr lang="en-US" sz="900" dirty="0"/>
          </a:p>
        </p:txBody>
      </p:sp>
      <p:sp>
        <p:nvSpPr>
          <p:cNvPr id="16" name="Text 14"/>
          <p:cNvSpPr txBox="1"/>
          <p:nvPr/>
        </p:nvSpPr>
        <p:spPr>
          <a:xfrm>
            <a:off x="4800600" y="3849624"/>
            <a:ext cx="2194560" cy="228600"/>
          </a:xfrm>
          <a:prstGeom prst="rect">
            <a:avLst/>
          </a:prstGeom>
          <a:noFill/>
          <a:ln/>
        </p:spPr>
        <p:txBody>
          <a:bodyPr wrap="square" lIns="0" tIns="0" rIns="0" bIns="0" rtlCol="0" anchor="ctr"/>
          <a:lstStyle/>
          <a:p>
            <a:pPr marL="0" indent="0" algn="r">
              <a:buNone/>
            </a:pPr>
            <a:r>
              <a:rPr lang="en-US" sz="900" b="1" kern="0" spc="50" dirty="0">
                <a:solidFill>
                  <a:srgbClr val="5B3E96"/>
                </a:solidFill>
                <a:latin typeface="Calibri" pitchFamily="34" charset="0"/>
                <a:ea typeface="Calibri" pitchFamily="34" charset="-122"/>
                <a:cs typeface="Calibri" pitchFamily="34" charset="-120"/>
              </a:rPr>
              <a:t>4.2 · EXTERNAL SHARING</a:t>
            </a:r>
            <a:endParaRPr lang="en-US" sz="900" dirty="0"/>
          </a:p>
        </p:txBody>
      </p:sp>
      <p:sp>
        <p:nvSpPr>
          <p:cNvPr id="17" name="Shape 15"/>
          <p:cNvSpPr/>
          <p:nvPr/>
        </p:nvSpPr>
        <p:spPr>
          <a:xfrm>
            <a:off x="1097280" y="4105656"/>
            <a:ext cx="6355080" cy="10973"/>
          </a:xfrm>
          <a:prstGeom prst="rect">
            <a:avLst/>
          </a:prstGeom>
          <a:solidFill>
            <a:srgbClr val="C9D3EA"/>
          </a:solidFill>
          <a:ln/>
        </p:spPr>
        <p:txBody>
          <a:bodyPr/>
          <a:lstStyle/>
          <a:p>
            <a:endParaRPr/>
          </a:p>
        </p:txBody>
      </p:sp>
      <p:sp>
        <p:nvSpPr>
          <p:cNvPr id="18" name="Text 16"/>
          <p:cNvSpPr txBox="1"/>
          <p:nvPr/>
        </p:nvSpPr>
        <p:spPr>
          <a:xfrm>
            <a:off x="1097280" y="4197096"/>
            <a:ext cx="6355080" cy="292608"/>
          </a:xfrm>
          <a:prstGeom prst="rect">
            <a:avLst/>
          </a:prstGeom>
          <a:noFill/>
          <a:ln/>
        </p:spPr>
        <p:txBody>
          <a:bodyPr wrap="square" lIns="0" tIns="0" rIns="0" bIns="0" rtlCol="0" anchor="ctr"/>
          <a:lstStyle/>
          <a:p>
            <a:pPr marL="0" indent="0">
              <a:buNone/>
            </a:pPr>
            <a:r>
              <a:rPr lang="en-US" sz="1450" b="1" dirty="0">
                <a:solidFill>
                  <a:srgbClr val="1B1F3B"/>
                </a:solidFill>
                <a:latin typeface="Cambria" pitchFamily="34" charset="0"/>
                <a:ea typeface="Cambria" pitchFamily="34" charset="-122"/>
                <a:cs typeface="Cambria" pitchFamily="34" charset="-120"/>
              </a:rPr>
              <a:t>External Sharing</a:t>
            </a:r>
            <a:endParaRPr lang="en-US" sz="1450" dirty="0"/>
          </a:p>
        </p:txBody>
      </p:sp>
      <p:sp>
        <p:nvSpPr>
          <p:cNvPr id="19" name="Text 17"/>
          <p:cNvSpPr txBox="1"/>
          <p:nvPr/>
        </p:nvSpPr>
        <p:spPr>
          <a:xfrm>
            <a:off x="1097280" y="4507992"/>
            <a:ext cx="6355080" cy="658368"/>
          </a:xfrm>
          <a:prstGeom prst="rect">
            <a:avLst/>
          </a:prstGeom>
          <a:noFill/>
          <a:ln/>
        </p:spPr>
        <p:txBody>
          <a:bodyPr wrap="square" lIns="0" tIns="0" rIns="0" bIns="0" rtlCol="0" anchor="t"/>
          <a:lstStyle/>
          <a:p>
            <a:pPr marL="0" indent="0">
              <a:lnSpc>
                <a:spcPct val="120000"/>
              </a:lnSpc>
              <a:buNone/>
            </a:pPr>
            <a:r>
              <a:rPr lang="en-US" sz="1150" dirty="0">
                <a:solidFill>
                  <a:srgbClr val="1B1F3B"/>
                </a:solidFill>
                <a:latin typeface="Calibri" pitchFamily="34" charset="0"/>
                <a:ea typeface="Calibri" pitchFamily="34" charset="-122"/>
                <a:cs typeface="Calibri" pitchFamily="34" charset="-120"/>
              </a:rPr>
              <a:t>Any request from outside NexaTech — vendors, partners, clients — is reviewed by your manager first, regardless of how sensitive the material seems. This applies even to internal schedules, templates, or process documents.</a:t>
            </a:r>
            <a:endParaRPr lang="en-US" sz="1150" dirty="0"/>
          </a:p>
        </p:txBody>
      </p:sp>
      <p:sp>
        <p:nvSpPr>
          <p:cNvPr id="20" name="Shape 18"/>
          <p:cNvSpPr/>
          <p:nvPr/>
        </p:nvSpPr>
        <p:spPr>
          <a:xfrm>
            <a:off x="1097280" y="5175504"/>
            <a:ext cx="6355080" cy="9144"/>
          </a:xfrm>
          <a:prstGeom prst="rect">
            <a:avLst/>
          </a:prstGeom>
          <a:solidFill>
            <a:srgbClr val="C9D3EA"/>
          </a:solidFill>
          <a:ln/>
        </p:spPr>
        <p:txBody>
          <a:bodyPr/>
          <a:lstStyle/>
          <a:p>
            <a:endParaRPr/>
          </a:p>
        </p:txBody>
      </p:sp>
      <p:sp>
        <p:nvSpPr>
          <p:cNvPr id="21" name="Text 19"/>
          <p:cNvSpPr txBox="1"/>
          <p:nvPr/>
        </p:nvSpPr>
        <p:spPr>
          <a:xfrm>
            <a:off x="1097280" y="5230368"/>
            <a:ext cx="6355080" cy="219456"/>
          </a:xfrm>
          <a:prstGeom prst="rect">
            <a:avLst/>
          </a:prstGeom>
          <a:noFill/>
          <a:ln/>
        </p:spPr>
        <p:txBody>
          <a:bodyPr wrap="square" lIns="0" tIns="0" rIns="0" bIns="0" rtlCol="0" anchor="ctr"/>
          <a:lstStyle/>
          <a:p>
            <a:pPr marL="0" indent="0">
              <a:buNone/>
            </a:pPr>
            <a:r>
              <a:rPr lang="en-US" sz="900" i="1" dirty="0">
                <a:solidFill>
                  <a:srgbClr val="5B6785"/>
                </a:solidFill>
                <a:latin typeface="Calibri" pitchFamily="34" charset="0"/>
                <a:ea typeface="Calibri" pitchFamily="34" charset="-122"/>
                <a:cs typeface="Calibri" pitchFamily="34" charset="-120"/>
              </a:rPr>
              <a:t>Page 12 of 46 · Last reviewed: March 2026</a:t>
            </a:r>
            <a:endParaRPr lang="en-US" sz="900" dirty="0"/>
          </a:p>
        </p:txBody>
      </p:sp>
      <p:sp>
        <p:nvSpPr>
          <p:cNvPr id="22" name="Text 20"/>
          <p:cNvSpPr txBox="1"/>
          <p:nvPr/>
        </p:nvSpPr>
        <p:spPr>
          <a:xfrm>
            <a:off x="822960" y="5614416"/>
            <a:ext cx="6903720" cy="365760"/>
          </a:xfrm>
          <a:prstGeom prst="rect">
            <a:avLst/>
          </a:prstGeom>
          <a:noFill/>
          <a:ln/>
        </p:spPr>
        <p:txBody>
          <a:bodyPr wrap="square" lIns="0" tIns="0" rIns="0" bIns="0" rtlCol="0" anchor="ctr"/>
          <a:lstStyle/>
          <a:p>
            <a:pPr marL="0" indent="0">
              <a:buNone/>
            </a:pPr>
            <a:r>
              <a:rPr lang="en-US" sz="1150" dirty="0">
                <a:solidFill>
                  <a:srgbClr val="5B6785"/>
                </a:solidFill>
                <a:latin typeface="Calibri" pitchFamily="34" charset="0"/>
                <a:ea typeface="Calibri" pitchFamily="34" charset="-122"/>
                <a:cs typeface="Calibri" pitchFamily="34" charset="-120"/>
              </a:rPr>
              <a:t>Once viewed, the response options unlock on the next screen.</a:t>
            </a:r>
            <a:endParaRPr lang="en-US" sz="1150" dirty="0"/>
          </a:p>
        </p:txBody>
      </p:sp>
      <p:sp>
        <p:nvSpPr>
          <p:cNvPr id="23" name="Shape 21"/>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24" name="Text 22"/>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5" name="Text 23"/>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1.6</a:t>
            </a:r>
            <a:endParaRPr lang="en-US" sz="1500" dirty="0"/>
          </a:p>
        </p:txBody>
      </p:sp>
      <p:sp>
        <p:nvSpPr>
          <p:cNvPr id="26" name="Shape 24"/>
          <p:cNvSpPr/>
          <p:nvPr/>
        </p:nvSpPr>
        <p:spPr>
          <a:xfrm>
            <a:off x="8595360" y="2432304"/>
            <a:ext cx="2862072" cy="10973"/>
          </a:xfrm>
          <a:prstGeom prst="rect">
            <a:avLst/>
          </a:prstGeom>
          <a:solidFill>
            <a:srgbClr val="39447A"/>
          </a:solidFill>
          <a:ln/>
        </p:spPr>
        <p:txBody>
          <a:bodyPr/>
          <a:lstStyle/>
          <a:p>
            <a:endParaRPr/>
          </a:p>
        </p:txBody>
      </p:sp>
      <p:sp>
        <p:nvSpPr>
          <p:cNvPr id="27" name="Text 25"/>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8" name="Text 26"/>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clicks the resource card to reveal the guidance text in place (lightbox or expand-in-place).</a:t>
            </a:r>
            <a:endParaRPr lang="en-US" sz="1150" dirty="0"/>
          </a:p>
        </p:txBody>
      </p:sp>
      <p:sp>
        <p:nvSpPr>
          <p:cNvPr id="29" name="Shape 27"/>
          <p:cNvSpPr/>
          <p:nvPr/>
        </p:nvSpPr>
        <p:spPr>
          <a:xfrm>
            <a:off x="8595360" y="3758184"/>
            <a:ext cx="2862072" cy="10973"/>
          </a:xfrm>
          <a:prstGeom prst="rect">
            <a:avLst/>
          </a:prstGeom>
          <a:solidFill>
            <a:srgbClr val="39447A"/>
          </a:solidFill>
          <a:ln/>
        </p:spPr>
        <p:txBody>
          <a:bodyPr/>
          <a:lstStyle/>
          <a:p>
            <a:endParaRPr/>
          </a:p>
        </p:txBody>
      </p:sp>
      <p:sp>
        <p:nvSpPr>
          <p:cNvPr id="30" name="Text 28"/>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31" name="Text 29"/>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Set variable Guidance_Viewed = True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Screen 1.7’s options stay disabled until Guidance_Viewed = True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Learner can re-open the guidance any time; not scored</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Styled as a real handbook excerpt (letterhead, section number, page footer), not a placeholder quote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Differentiator from the companion project’s plain branching — pairs a decision with performance support</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 learner reads at their own pace</a:t>
            </a:r>
            <a:endParaRPr lang="en-US" sz="1050" dirty="0"/>
          </a:p>
        </p:txBody>
      </p:sp>
      <p:sp>
        <p:nvSpPr>
          <p:cNvPr id="32" name="Text 30"/>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33" name="Text 31"/>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1.6</a:t>
            </a:r>
            <a:endParaRPr lang="en-US" sz="900" dirty="0"/>
          </a:p>
        </p:txBody>
      </p:sp>
      <p:sp>
        <p:nvSpPr>
          <p:cNvPr id="34"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Apply</a:t>
            </a:r>
          </a:p>
          <a:p>
            <a:pPr marL="0" indent="0" algn="r">
              <a:buNone/>
            </a:pPr>
            <a:r>
              <a:rPr lang="en-US" sz="1000" i="1" dirty="0">
                <a:solidFill>
                  <a:srgbClr val="5B6785"/>
                </a:solidFill>
                <a:latin typeface="Calibri" pitchFamily="34" charset="0"/>
                <a:ea typeface="Calibri" pitchFamily="34" charset="-122"/>
                <a:cs typeface="Calibri" pitchFamily="34" charset="-120"/>
              </a:rPr>
              <a:t>Uses the handbook guidance to inform the decision.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1.7  ·  DECISION POINT 2</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Decision Point 2</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Options unlocked — now informed by the guidance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6903720" cy="640080"/>
          </a:xfrm>
          <a:prstGeom prst="rect">
            <a:avLst/>
          </a:prstGeom>
          <a:noFill/>
          <a:ln/>
        </p:spPr>
        <p:txBody>
          <a:bodyPr wrap="square" lIns="0" tIns="0" rIns="0" bIns="0" rtlCol="0" anchor="ctr"/>
          <a:lstStyle/>
          <a:p>
            <a:pPr marL="0" indent="0">
              <a:lnSpc>
                <a:spcPct val="115000"/>
              </a:lnSpc>
              <a:buNone/>
            </a:pPr>
            <a:r>
              <a:rPr lang="en-US" sz="1500" b="1" dirty="0">
                <a:solidFill>
                  <a:srgbClr val="1B1F3B"/>
                </a:solidFill>
                <a:latin typeface="Cambria" pitchFamily="34" charset="0"/>
                <a:ea typeface="Cambria" pitchFamily="34" charset="-122"/>
                <a:cs typeface="Cambria" pitchFamily="34" charset="-120"/>
              </a:rPr>
              <a:t>Now that you’ve seen the guidance, how do you respond to Aditya?</a:t>
            </a:r>
            <a:endParaRPr lang="en-US" sz="1500" dirty="0"/>
          </a:p>
        </p:txBody>
      </p:sp>
      <p:sp>
        <p:nvSpPr>
          <p:cNvPr id="9" name="Shape 7"/>
          <p:cNvSpPr/>
          <p:nvPr/>
        </p:nvSpPr>
        <p:spPr>
          <a:xfrm>
            <a:off x="822960" y="2651760"/>
            <a:ext cx="6903720" cy="960120"/>
          </a:xfrm>
          <a:prstGeom prst="roundRect">
            <a:avLst>
              <a:gd name="adj" fmla="val 5714"/>
            </a:avLst>
          </a:prstGeom>
          <a:solidFill>
            <a:srgbClr val="FFFFFF"/>
          </a:solidFill>
          <a:ln w="12700">
            <a:solidFill>
              <a:srgbClr val="C9D3EA"/>
            </a:solidFill>
            <a:prstDash val="solid"/>
          </a:ln>
        </p:spPr>
        <p:txBody>
          <a:bodyPr/>
          <a:lstStyle/>
          <a:p>
            <a:endParaRPr/>
          </a:p>
        </p:txBody>
      </p:sp>
      <p:sp>
        <p:nvSpPr>
          <p:cNvPr id="10" name="Shape 8"/>
          <p:cNvSpPr/>
          <p:nvPr/>
        </p:nvSpPr>
        <p:spPr>
          <a:xfrm>
            <a:off x="1005840" y="2930652"/>
            <a:ext cx="402336" cy="402336"/>
          </a:xfrm>
          <a:prstGeom prst="ellipse">
            <a:avLst/>
          </a:prstGeom>
          <a:solidFill>
            <a:srgbClr val="B23A2E"/>
          </a:solidFill>
          <a:ln/>
        </p:spPr>
        <p:txBody>
          <a:bodyPr/>
          <a:lstStyle/>
          <a:p>
            <a:endParaRPr/>
          </a:p>
        </p:txBody>
      </p:sp>
      <p:sp>
        <p:nvSpPr>
          <p:cNvPr id="11" name="Text 9"/>
          <p:cNvSpPr txBox="1"/>
          <p:nvPr/>
        </p:nvSpPr>
        <p:spPr>
          <a:xfrm>
            <a:off x="1005840" y="29306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10"/>
          <p:cNvSpPr txBox="1"/>
          <p:nvPr/>
        </p:nvSpPr>
        <p:spPr>
          <a:xfrm>
            <a:off x="1554480" y="2651760"/>
            <a:ext cx="5943600" cy="96012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Send the schedule — it’s not confidential, so it’s fine to share directly.</a:t>
            </a:r>
            <a:endParaRPr lang="en-US" sz="1250" dirty="0"/>
          </a:p>
        </p:txBody>
      </p:sp>
      <p:sp>
        <p:nvSpPr>
          <p:cNvPr id="13" name="Shape 11"/>
          <p:cNvSpPr/>
          <p:nvPr/>
        </p:nvSpPr>
        <p:spPr>
          <a:xfrm>
            <a:off x="822960" y="3794760"/>
            <a:ext cx="6903720" cy="960120"/>
          </a:xfrm>
          <a:prstGeom prst="roundRect">
            <a:avLst>
              <a:gd name="adj" fmla="val 5714"/>
            </a:avLst>
          </a:prstGeom>
          <a:solidFill>
            <a:srgbClr val="FFFFFF"/>
          </a:solidFill>
          <a:ln w="12700">
            <a:solidFill>
              <a:srgbClr val="C9D3EA"/>
            </a:solidFill>
            <a:prstDash val="solid"/>
          </a:ln>
        </p:spPr>
        <p:txBody>
          <a:bodyPr/>
          <a:lstStyle/>
          <a:p>
            <a:endParaRPr/>
          </a:p>
        </p:txBody>
      </p:sp>
      <p:sp>
        <p:nvSpPr>
          <p:cNvPr id="14" name="Shape 12"/>
          <p:cNvSpPr/>
          <p:nvPr/>
        </p:nvSpPr>
        <p:spPr>
          <a:xfrm>
            <a:off x="1005840" y="4073652"/>
            <a:ext cx="402336" cy="402336"/>
          </a:xfrm>
          <a:prstGeom prst="ellipse">
            <a:avLst/>
          </a:prstGeom>
          <a:solidFill>
            <a:srgbClr val="2C7A4B"/>
          </a:solidFill>
          <a:ln/>
        </p:spPr>
        <p:txBody>
          <a:bodyPr/>
          <a:lstStyle/>
          <a:p>
            <a:endParaRPr/>
          </a:p>
        </p:txBody>
      </p:sp>
      <p:sp>
        <p:nvSpPr>
          <p:cNvPr id="15" name="Text 13"/>
          <p:cNvSpPr txBox="1"/>
          <p:nvPr/>
        </p:nvSpPr>
        <p:spPr>
          <a:xfrm>
            <a:off x="1005840" y="40736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4"/>
          <p:cNvSpPr txBox="1"/>
          <p:nvPr/>
        </p:nvSpPr>
        <p:spPr>
          <a:xfrm>
            <a:off x="1554480" y="3794760"/>
            <a:ext cx="5943600" cy="96012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Let Aditya know you’ll check with your manager before sending anything.</a:t>
            </a:r>
            <a:endParaRPr lang="en-US" sz="1250" dirty="0"/>
          </a:p>
        </p:txBody>
      </p:sp>
      <p:sp>
        <p:nvSpPr>
          <p:cNvPr id="17" name="Text 15"/>
          <p:cNvSpPr txBox="1"/>
          <p:nvPr/>
        </p:nvSpPr>
        <p:spPr>
          <a:xfrm>
            <a:off x="822960" y="5029200"/>
            <a:ext cx="6903720" cy="457200"/>
          </a:xfrm>
          <a:prstGeom prst="rect">
            <a:avLst/>
          </a:prstGeom>
          <a:noFill/>
          <a:ln/>
        </p:spPr>
        <p:txBody>
          <a:bodyPr wrap="square" lIns="0" tIns="0" rIns="0" bIns="0" rtlCol="0" anchor="ctr"/>
          <a:lstStyle/>
          <a:p>
            <a:pPr marL="0" indent="0">
              <a:buNone/>
            </a:pPr>
            <a:r>
              <a:rPr lang="en-US" sz="1150" i="1" dirty="0">
                <a:solidFill>
                  <a:srgbClr val="5B6785"/>
                </a:solidFill>
                <a:latin typeface="Calibri" pitchFamily="34" charset="0"/>
                <a:ea typeface="Calibri" pitchFamily="34" charset="-122"/>
                <a:cs typeface="Calibri" pitchFamily="34" charset="-120"/>
              </a:rPr>
              <a:t>Two options this time, not four — the guidance already narrowed the real choice down.</a:t>
            </a:r>
            <a:endParaRPr lang="en-US" sz="1150" dirty="0"/>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1.7</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Two selectable response cards, disabled until Guidance_Viewed = True on 1.6. Selecting one advances to the matching feedback layer.</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On click: set Choice_4b = A / B, set both cards to Disabled, mark the clicked card Selected, show its layer</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Branch: A → 1.7 A, B → 1.7 B</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Both cards start Disabled and change to Normal once Guidance_Viewed = True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Locked within a visit; resets on revisit (same as 1.3)</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 learner is deciding</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1.7</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Apply</a:t>
            </a:r>
          </a:p>
          <a:p>
            <a:pPr marL="0" indent="0" algn="r">
              <a:buNone/>
            </a:pPr>
            <a:r>
              <a:rPr lang="en-US" sz="1000" i="1" dirty="0">
                <a:solidFill>
                  <a:srgbClr val="5B6785"/>
                </a:solidFill>
                <a:latin typeface="Calibri" pitchFamily="34" charset="0"/>
                <a:ea typeface="Calibri" pitchFamily="34" charset="-122"/>
                <a:cs typeface="Calibri" pitchFamily="34" charset="-120"/>
              </a:rPr>
              <a:t>Applies the guidance to a realistic request.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1.7 A  ·  ON SLIDE 1.7 DECISION POINT 2</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A — “Send the schedule directly.”</a:t>
            </a:r>
            <a:endParaRPr lang="en-US" sz="1600" dirty="0"/>
          </a:p>
        </p:txBody>
      </p:sp>
      <p:sp>
        <p:nvSpPr>
          <p:cNvPr id="10" name="Shape 8"/>
          <p:cNvSpPr/>
          <p:nvPr/>
        </p:nvSpPr>
        <p:spPr>
          <a:xfrm>
            <a:off x="822960" y="2606040"/>
            <a:ext cx="2834640" cy="384048"/>
          </a:xfrm>
          <a:prstGeom prst="roundRect">
            <a:avLst>
              <a:gd name="adj" fmla="val 50000"/>
            </a:avLst>
          </a:prstGeom>
          <a:solidFill>
            <a:srgbClr val="FBE9E7"/>
          </a:solidFill>
          <a:ln w="12700">
            <a:solidFill>
              <a:srgbClr val="B23A2E"/>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B23A2E"/>
                </a:solidFill>
                <a:latin typeface="Calibri" pitchFamily="34" charset="0"/>
                <a:ea typeface="Calibri" pitchFamily="34" charset="-122"/>
                <a:cs typeface="Calibri" pitchFamily="34" charset="-120"/>
              </a:rPr>
              <a:t>MISMATCH WITH GUIDANCE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B23A2E"/>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The guidance you just read was clear: external requests go through your manager first, regardless of how sensitive the content feels. Sending the schedule directly skips that step — even though your instinct that it wasn’t sensitive was reasonable enough on its own.</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Your manager finds out about the exchange after the fact and has to follow up with Aditya to clarify what NexaTech’s actual process is.</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1.7 A</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A on 1.7. Slide-in feedback panel with a red status tag and a Continue button to 1.8.</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warning triangle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1.8 (converges with Decision 1)</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Choice_4b = A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1.7 A</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the guidance just read.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1.7 B  ·  ON SLIDE 1.7 DECISION POINT 2</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Would You Do?”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B — “Check with my manager first.”</a:t>
            </a:r>
            <a:endParaRPr lang="en-US" sz="1600" dirty="0"/>
          </a:p>
        </p:txBody>
      </p:sp>
      <p:sp>
        <p:nvSpPr>
          <p:cNvPr id="10" name="Shape 8"/>
          <p:cNvSpPr/>
          <p:nvPr/>
        </p:nvSpPr>
        <p:spPr>
          <a:xfrm>
            <a:off x="822960" y="2606040"/>
            <a:ext cx="2834640" cy="384048"/>
          </a:xfrm>
          <a:prstGeom prst="roundRect">
            <a:avLst>
              <a:gd name="adj" fmla="val 50000"/>
            </a:avLst>
          </a:prstGeom>
          <a:solidFill>
            <a:srgbClr val="E6F2EB"/>
          </a:solidFill>
          <a:ln w="12700">
            <a:solidFill>
              <a:srgbClr val="2C7A4B"/>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2C7A4B"/>
                </a:solidFill>
                <a:latin typeface="Calibri" pitchFamily="34" charset="0"/>
                <a:ea typeface="Calibri" pitchFamily="34" charset="-122"/>
                <a:cs typeface="Calibri" pitchFamily="34" charset="-120"/>
              </a:rPr>
              <a:t>STRONGEST RESPONSE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2C7A4B"/>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This is exactly what the guidance calls for. Your manager reviews the request, confirms a general overview is fine to share, and you send Aditya a short summary the same day.</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a:t>
            </a:r>
            <a:r>
              <a:rPr lang="en-US" sz="1150" i="1" dirty="0">
                <a:solidFill>
                  <a:srgbClr val="5B6785"/>
                </a:solidFill>
                <a:latin typeface="Calibri" pitchFamily="34" charset="0"/>
                <a:ea typeface="Calibri" pitchFamily="34" charset="-122"/>
                <a:cs typeface="Calibri" pitchFamily="34" charset="-120"/>
              </a:rPr>
              <a:t>Aditya gets a helpful answer, and you’ve now used the actual guidance instead of guessing — twice in one week.</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1.7 B</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B on 1.7. Slide-in feedback panel with a green status tag and a Continue button to 1.8.</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check mark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1.8 (converges with Decision 1)</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Choice_4b = B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1.7 B</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the guidance just read.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9418320" y="4206240"/>
            <a:ext cx="4572000" cy="4572000"/>
          </a:xfrm>
          <a:prstGeom prst="ellipse">
            <a:avLst/>
          </a:prstGeom>
          <a:solidFill>
            <a:srgbClr val="1E2761">
              <a:alpha val="55000"/>
            </a:srgbClr>
          </a:solidFill>
          <a:ln/>
        </p:spPr>
        <p:txBody>
          <a:bodyPr/>
          <a:lstStyle/>
          <a:p>
            <a:r>
              <a:t>SCREEN 1.8  ·  PRINCIPLE</a:t>
            </a:r>
          </a:p>
        </p:txBody>
      </p:sp>
      <p:sp>
        <p:nvSpPr>
          <p:cNvPr id="3" name="Text 1"/>
          <p:cNvSpPr txBox="1"/>
          <p:nvPr/>
        </p:nvSpPr>
        <p:spPr>
          <a:xfrm>
            <a:off x="822960" y="502920"/>
            <a:ext cx="7315200" cy="292608"/>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SCREEN 1.8  ·  PRINCIPLE</a:t>
            </a:r>
            <a:endParaRPr lang="en-US" sz="1100" dirty="0"/>
          </a:p>
        </p:txBody>
      </p:sp>
      <p:sp>
        <p:nvSpPr>
          <p:cNvPr id="4" name="Shape 2"/>
          <p:cNvSpPr/>
          <p:nvPr/>
        </p:nvSpPr>
        <p:spPr>
          <a:xfrm>
            <a:off x="822960" y="1828800"/>
            <a:ext cx="822960" cy="822960"/>
          </a:xfrm>
          <a:prstGeom prst="roundRect">
            <a:avLst>
              <a:gd name="adj" fmla="val 50000"/>
            </a:avLst>
          </a:prstGeom>
          <a:solidFill>
            <a:srgbClr val="CADCFC"/>
          </a:solidFill>
          <a:ln/>
        </p:spPr>
        <p:txBody>
          <a:bodyPr/>
          <a:lstStyle/>
          <a:p>
            <a:endParaRPr/>
          </a:p>
        </p:txBody>
      </p:sp>
      <p:sp>
        <p:nvSpPr>
          <p:cNvPr id="5" name="Text 3"/>
          <p:cNvSpPr txBox="1"/>
          <p:nvPr/>
        </p:nvSpPr>
        <p:spPr>
          <a:xfrm>
            <a:off x="822960" y="1828800"/>
            <a:ext cx="822960" cy="82296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a:t>
            </a:r>
            <a:endParaRPr lang="en-US" sz="3000" dirty="0"/>
          </a:p>
        </p:txBody>
      </p:sp>
      <p:sp>
        <p:nvSpPr>
          <p:cNvPr id="6" name="Text 4"/>
          <p:cNvSpPr txBox="1"/>
          <p:nvPr/>
        </p:nvSpPr>
        <p:spPr>
          <a:xfrm>
            <a:off x="822960" y="2834640"/>
            <a:ext cx="9875520" cy="1737360"/>
          </a:xfrm>
          <a:prstGeom prst="rect">
            <a:avLst/>
          </a:prstGeom>
          <a:noFill/>
          <a:ln/>
        </p:spPr>
        <p:txBody>
          <a:bodyPr wrap="square" lIns="0" tIns="0" rIns="0" bIns="0" rtlCol="0" anchor="ctr"/>
          <a:lstStyle/>
          <a:p>
            <a:pPr marL="0" indent="0">
              <a:lnSpc>
                <a:spcPct val="130000"/>
              </a:lnSpc>
              <a:buNone/>
            </a:pPr>
            <a:r>
              <a:rPr lang="en-US" sz="2500" dirty="0">
                <a:solidFill>
                  <a:srgbClr val="FFFFFF"/>
                </a:solidFill>
                <a:latin typeface="Cambria" pitchFamily="34" charset="0"/>
                <a:ea typeface="Cambria" pitchFamily="34" charset="-122"/>
                <a:cs typeface="Cambria" pitchFamily="34" charset="-120"/>
              </a:rPr>
              <a:t>“When you’re not sure whether something can be shared, don’t guess. Check the guidance, or ask the person who owns that decision, before you act.”</a:t>
            </a:r>
            <a:endParaRPr lang="en-US" sz="2500" dirty="0"/>
          </a:p>
        </p:txBody>
      </p:sp>
      <p:sp>
        <p:nvSpPr>
          <p:cNvPr id="7" name="Text 5"/>
          <p:cNvSpPr txBox="1"/>
          <p:nvPr/>
        </p:nvSpPr>
        <p:spPr>
          <a:xfrm>
            <a:off x="822960" y="4617720"/>
            <a:ext cx="9144000" cy="822960"/>
          </a:xfrm>
          <a:prstGeom prst="rect">
            <a:avLst/>
          </a:prstGeom>
          <a:noFill/>
          <a:ln/>
        </p:spPr>
        <p:txBody>
          <a:bodyPr wrap="square" lIns="0" tIns="0" rIns="0" bIns="0" rtlCol="0" anchor="ctr"/>
          <a:lstStyle/>
          <a:p>
            <a:pPr marL="0" indent="0">
              <a:lnSpc>
                <a:spcPct val="125000"/>
              </a:lnSpc>
              <a:buNone/>
            </a:pPr>
            <a:r>
              <a:rPr lang="en-US" sz="1300" i="1" dirty="0">
                <a:solidFill>
                  <a:srgbClr val="AAB4DC"/>
                </a:solidFill>
                <a:latin typeface="Calibri" pitchFamily="34" charset="0"/>
                <a:ea typeface="Calibri" pitchFamily="34" charset="-122"/>
                <a:cs typeface="Calibri" pitchFamily="34" charset="-120"/>
              </a:rPr>
              <a:t>Two different situations — a colleague and a vendor, an internal doc and an internal schedule — same habit both times. Checking before acting is what makes the judgment call easy, whether or not a resource is handed to you.</a:t>
            </a:r>
            <a:endParaRPr lang="en-US" sz="1300" dirty="0"/>
          </a:p>
        </p:txBody>
      </p:sp>
      <p:sp>
        <p:nvSpPr>
          <p:cNvPr id="8" name="Text 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8892B8"/>
                </a:solidFill>
                <a:latin typeface="Calibri" pitchFamily="34" charset="0"/>
                <a:ea typeface="Calibri" pitchFamily="34" charset="-122"/>
                <a:cs typeface="Calibri" pitchFamily="34" charset="-120"/>
              </a:rPr>
              <a:t>NEXATECH ONBOARDING PATHWAY  ·  MODULE 4 STORYBOARD</a:t>
            </a:r>
            <a:endParaRPr lang="en-US" sz="900" dirty="0"/>
          </a:p>
        </p:txBody>
      </p:sp>
      <p:sp>
        <p:nvSpPr>
          <p:cNvPr id="9" name="Text 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8892B8"/>
                </a:solidFill>
                <a:latin typeface="Calibri" pitchFamily="34" charset="0"/>
                <a:ea typeface="Calibri" pitchFamily="34" charset="-122"/>
                <a:cs typeface="Calibri" pitchFamily="34" charset="-120"/>
              </a:rPr>
              <a:t>1.8</a:t>
            </a:r>
            <a:endParaRPr lang="en-US" sz="900" dirty="0"/>
          </a:p>
        </p:txBody>
      </p:sp>
      <p:sp>
        <p:nvSpPr>
          <p:cNvPr id="10" name="Bloom Tag"/>
          <p:cNvSpPr txBox="1"/>
          <p:nvPr/>
        </p:nvSpPr>
        <p:spPr>
          <a:xfrm>
            <a:off x="822960" y="795528"/>
            <a:ext cx="7315200"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BLOOM’S LEVEL  ·  UNDERSTAND → ANALYZE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2761">
              <a:alpha val="55000"/>
            </a:srgbClr>
          </a:solidFill>
          <a:ln/>
        </p:spPr>
        <p:txBody>
          <a:bodyPr/>
          <a:lstStyle/>
          <a:p>
            <a:r>
              <a:t>SCREEN 1.9  ·  WRAPPING UP  ·  TRANSITION</a:t>
            </a:r>
          </a:p>
        </p:txBody>
      </p:sp>
      <p:sp>
        <p:nvSpPr>
          <p:cNvPr id="3" name="Text 1"/>
          <p:cNvSpPr txBox="1"/>
          <p:nvPr/>
        </p:nvSpPr>
        <p:spPr>
          <a:xfrm>
            <a:off x="822960" y="502920"/>
            <a:ext cx="7315200" cy="292608"/>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SCREEN 1.9  ·  TRANSITION</a:t>
            </a:r>
            <a:endParaRPr lang="en-US" sz="1100" dirty="0"/>
          </a:p>
        </p:txBody>
      </p:sp>
      <p:sp>
        <p:nvSpPr>
          <p:cNvPr id="4" name="Text 2"/>
          <p:cNvSpPr txBox="1"/>
          <p:nvPr/>
        </p:nvSpPr>
        <p:spPr>
          <a:xfrm>
            <a:off x="822960" y="2377440"/>
            <a:ext cx="96012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Good judgment isn’t about knowing every policy by heart.</a:t>
            </a:r>
            <a:endParaRPr lang="en-US" sz="3000" dirty="0"/>
          </a:p>
        </p:txBody>
      </p:sp>
      <p:sp>
        <p:nvSpPr>
          <p:cNvPr id="5" name="Text 3"/>
          <p:cNvSpPr txBox="1"/>
          <p:nvPr/>
        </p:nvSpPr>
        <p:spPr>
          <a:xfrm>
            <a:off x="822960" y="3063240"/>
            <a:ext cx="9601200" cy="64008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It’s knowing when to pause and check.</a:t>
            </a:r>
            <a:endParaRPr lang="en-US" sz="2600" dirty="0"/>
          </a:p>
        </p:txBody>
      </p:sp>
      <p:sp>
        <p:nvSpPr>
          <p:cNvPr id="6" name="Shape 4"/>
          <p:cNvSpPr/>
          <p:nvPr/>
        </p:nvSpPr>
        <p:spPr>
          <a:xfrm>
            <a:off x="822960" y="4389120"/>
            <a:ext cx="5120640" cy="822960"/>
          </a:xfrm>
          <a:prstGeom prst="roundRect">
            <a:avLst>
              <a:gd name="adj" fmla="val 50000"/>
            </a:avLst>
          </a:prstGeom>
          <a:solidFill>
            <a:srgbClr val="CADCFC"/>
          </a:solidFill>
          <a:ln/>
        </p:spPr>
        <p:txBody>
          <a:bodyPr/>
          <a:lstStyle/>
          <a:p>
            <a:endParaRPr/>
          </a:p>
        </p:txBody>
      </p:sp>
      <p:sp>
        <p:nvSpPr>
          <p:cNvPr id="7" name="Text 5"/>
          <p:cNvSpPr txBox="1"/>
          <p:nvPr/>
        </p:nvSpPr>
        <p:spPr>
          <a:xfrm>
            <a:off x="822960" y="4389120"/>
            <a:ext cx="5120640" cy="8229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Continue to Module 5  </a:t>
            </a:r>
            <a:r>
              <a:rPr lang="en-US" sz="1400" dirty="0">
                <a:solidFill>
                  <a:srgbClr val="1E2761"/>
                </a:solidFill>
                <a:latin typeface="Calibri" pitchFamily="34" charset="0"/>
                <a:ea typeface="Calibri" pitchFamily="34" charset="-122"/>
                <a:cs typeface="Calibri" pitchFamily="34" charset="-120"/>
              </a:rPr>
              <a:t>—  Logistics</a:t>
            </a:r>
            <a:endParaRPr lang="en-US" sz="1400" dirty="0"/>
          </a:p>
        </p:txBody>
      </p:sp>
      <p:sp>
        <p:nvSpPr>
          <p:cNvPr id="8" name="Text 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8892B8"/>
                </a:solidFill>
                <a:latin typeface="Calibri" pitchFamily="34" charset="0"/>
                <a:ea typeface="Calibri" pitchFamily="34" charset="-122"/>
                <a:cs typeface="Calibri" pitchFamily="34" charset="-120"/>
              </a:rPr>
              <a:t>NEXATECH ONBOARDING PATHWAY  ·  MODULE 4 STORYBOARD</a:t>
            </a:r>
            <a:endParaRPr lang="en-US" sz="900" dirty="0"/>
          </a:p>
        </p:txBody>
      </p:sp>
      <p:sp>
        <p:nvSpPr>
          <p:cNvPr id="9" name="Text 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8892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DEVELOPMENT SPEC</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Storyline Build Summary</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Variables, triggers and states needed to develop Module 4</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37160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8" name="Text 6"/>
          <p:cNvSpPr txBox="1"/>
          <p:nvPr/>
        </p:nvSpPr>
        <p:spPr>
          <a:xfrm>
            <a:off x="685800" y="137160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Variables</a:t>
            </a:r>
            <a:endParaRPr lang="en-US" sz="1250" dirty="0"/>
          </a:p>
        </p:txBody>
      </p:sp>
      <p:sp>
        <p:nvSpPr>
          <p:cNvPr id="9" name="Text 7"/>
          <p:cNvSpPr txBox="1"/>
          <p:nvPr/>
        </p:nvSpPr>
        <p:spPr>
          <a:xfrm>
            <a:off x="3108960" y="137160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Choice_4a (text: A/B/C/D) from 1.3. Guidance_Viewed (true/false) from 1.6. Choice_4b (text: A/B) from 1.7.</a:t>
            </a:r>
            <a:endParaRPr lang="en-US" sz="1150" dirty="0"/>
          </a:p>
        </p:txBody>
      </p:sp>
      <p:sp>
        <p:nvSpPr>
          <p:cNvPr id="10" name="Shape 8"/>
          <p:cNvSpPr/>
          <p:nvPr/>
        </p:nvSpPr>
        <p:spPr>
          <a:xfrm>
            <a:off x="457200" y="2176272"/>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1" name="Text 9"/>
          <p:cNvSpPr txBox="1"/>
          <p:nvPr/>
        </p:nvSpPr>
        <p:spPr>
          <a:xfrm>
            <a:off x="685800" y="2176272"/>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Slide / layer structure</a:t>
            </a:r>
            <a:endParaRPr lang="en-US" sz="1250" dirty="0"/>
          </a:p>
        </p:txBody>
      </p:sp>
      <p:sp>
        <p:nvSpPr>
          <p:cNvPr id="12" name="Text 10"/>
          <p:cNvSpPr txBox="1"/>
          <p:nvPr/>
        </p:nvSpPr>
        <p:spPr>
          <a:xfrm>
            <a:off x="3108960" y="2176272"/>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Base slides 1.1–1.9 in Scene 1 “Policies and Expectations” (titles on the next page). Layers 1.3 A–D sit on 1.3 (Decision Point 1); layers 1.7 A–B sit on 1.7 (Decision Point 2) — the slide stays visible behind the feedback.</a:t>
            </a:r>
            <a:endParaRPr lang="en-US" sz="1150" dirty="0"/>
          </a:p>
        </p:txBody>
      </p:sp>
      <p:sp>
        <p:nvSpPr>
          <p:cNvPr id="13" name="Shape 11"/>
          <p:cNvSpPr/>
          <p:nvPr/>
        </p:nvSpPr>
        <p:spPr>
          <a:xfrm>
            <a:off x="457200" y="2980944"/>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4" name="Text 12"/>
          <p:cNvSpPr txBox="1"/>
          <p:nvPr/>
        </p:nvSpPr>
        <p:spPr>
          <a:xfrm>
            <a:off x="685800" y="2980944"/>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Branching logic — Decision 1</a:t>
            </a:r>
            <a:endParaRPr lang="en-US" sz="1250" dirty="0"/>
          </a:p>
        </p:txBody>
      </p:sp>
      <p:sp>
        <p:nvSpPr>
          <p:cNvPr id="15" name="Text 13"/>
          <p:cNvSpPr txBox="1"/>
          <p:nvPr/>
        </p:nvSpPr>
        <p:spPr>
          <a:xfrm>
            <a:off x="3108960" y="2980944"/>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Each option card on 1.3 runs one trigger sequence on click: set Choice_4a, set all four cards to Disabled, mark the clicked card Selected, show its matching layer. All four layers share one Continue button that jumps to 1.4.</a:t>
            </a:r>
            <a:endParaRPr lang="en-US" sz="1150" dirty="0"/>
          </a:p>
        </p:txBody>
      </p:sp>
      <p:sp>
        <p:nvSpPr>
          <p:cNvPr id="16" name="Shape 14"/>
          <p:cNvSpPr/>
          <p:nvPr/>
        </p:nvSpPr>
        <p:spPr>
          <a:xfrm>
            <a:off x="457200" y="3785616"/>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7" name="Text 15"/>
          <p:cNvSpPr txBox="1"/>
          <p:nvPr/>
        </p:nvSpPr>
        <p:spPr>
          <a:xfrm>
            <a:off x="685800" y="3785616"/>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Gating logic — Decision 2</a:t>
            </a:r>
            <a:endParaRPr lang="en-US" sz="1250" dirty="0"/>
          </a:p>
        </p:txBody>
      </p:sp>
      <p:sp>
        <p:nvSpPr>
          <p:cNvPr id="18" name="Text 16"/>
          <p:cNvSpPr txBox="1"/>
          <p:nvPr/>
        </p:nvSpPr>
        <p:spPr>
          <a:xfrm>
            <a:off x="3108960" y="3785616"/>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1.6’s resource card sets Guidance_Viewed = True on click. On 1.7, both cards start in the Disabled state and are set to Normal when Guidance_Viewed = True (checked on slide start and whenever the variable changes).</a:t>
            </a:r>
            <a:endParaRPr lang="en-US" sz="1150" dirty="0"/>
          </a:p>
        </p:txBody>
      </p:sp>
      <p:sp>
        <p:nvSpPr>
          <p:cNvPr id="19" name="Shape 17"/>
          <p:cNvSpPr/>
          <p:nvPr/>
        </p:nvSpPr>
        <p:spPr>
          <a:xfrm>
            <a:off x="457200" y="4590288"/>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0" name="Text 18"/>
          <p:cNvSpPr txBox="1"/>
          <p:nvPr/>
        </p:nvSpPr>
        <p:spPr>
          <a:xfrm>
            <a:off x="685800" y="4590288"/>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States</a:t>
            </a:r>
            <a:endParaRPr lang="en-US" sz="1250" dirty="0"/>
          </a:p>
        </p:txBody>
      </p:sp>
      <p:sp>
        <p:nvSpPr>
          <p:cNvPr id="21" name="Text 19"/>
          <p:cNvSpPr txBox="1"/>
          <p:nvPr/>
        </p:nvSpPr>
        <p:spPr>
          <a:xfrm>
            <a:off x="3108960" y="4590288"/>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Option cards: Normal → Hover → Selected → Disabled. Disabled is Storyline’s built-in state, so it also blocks further clicks once a choice is made; on 1.7 it is also the starting state until the guidance is viewed.</a:t>
            </a:r>
            <a:endParaRPr lang="en-US" sz="1150" dirty="0"/>
          </a:p>
        </p:txBody>
      </p:sp>
      <p:sp>
        <p:nvSpPr>
          <p:cNvPr id="22" name="Shape 20"/>
          <p:cNvSpPr/>
          <p:nvPr/>
        </p:nvSpPr>
        <p:spPr>
          <a:xfrm>
            <a:off x="457200" y="539496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3" name="Text 21"/>
          <p:cNvSpPr txBox="1"/>
          <p:nvPr/>
        </p:nvSpPr>
        <p:spPr>
          <a:xfrm>
            <a:off x="685800" y="539496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Reporting</a:t>
            </a:r>
            <a:endParaRPr lang="en-US" sz="1250" dirty="0"/>
          </a:p>
        </p:txBody>
      </p:sp>
      <p:sp>
        <p:nvSpPr>
          <p:cNvPr id="24" name="Text 22"/>
          <p:cNvSpPr txBox="1"/>
          <p:nvPr/>
        </p:nvSpPr>
        <p:spPr>
          <a:xfrm>
            <a:off x="3108960" y="539496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Choice_4a and Choice_4b can both be reported to the LMS as interaction results if the portfolio build includes tracking; not required for a standalone demo.</a:t>
            </a:r>
            <a:endParaRPr lang="en-US" sz="11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SPEC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DEVELOPMENT SPEC</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Storyline Build Summary (2 of 2)</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Player, narration, navigation and delivery decisions made during development</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4</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37160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8" name="Text 6"/>
          <p:cNvSpPr txBox="1"/>
          <p:nvPr/>
        </p:nvSpPr>
        <p:spPr>
          <a:xfrm>
            <a:off x="685800" y="137160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Slide titles</a:t>
            </a:r>
            <a:endParaRPr lang="en-US" sz="1250" dirty="0"/>
          </a:p>
        </p:txBody>
      </p:sp>
      <p:sp>
        <p:nvSpPr>
          <p:cNvPr id="9" name="Text 7"/>
          <p:cNvSpPr txBox="1"/>
          <p:nvPr/>
        </p:nvSpPr>
        <p:spPr>
          <a:xfrm>
            <a:off x="3108960" y="137160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Menu titles: Welcome · Message From Daniel · Decision Point 1 · One Decision Down · Message From Aditya · Guidance Check · Decision Point 2 · Principle · Wrapping Up. Layers are named 1.3 A–D and 1.7 A–B (not shown to learners).</a:t>
            </a:r>
            <a:endParaRPr lang="en-US" sz="1150" dirty="0"/>
          </a:p>
        </p:txBody>
      </p:sp>
      <p:sp>
        <p:nvSpPr>
          <p:cNvPr id="10" name="Shape 8"/>
          <p:cNvSpPr/>
          <p:nvPr/>
        </p:nvSpPr>
        <p:spPr>
          <a:xfrm>
            <a:off x="457200" y="2176272"/>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1" name="Text 9"/>
          <p:cNvSpPr txBox="1"/>
          <p:nvPr/>
        </p:nvSpPr>
        <p:spPr>
          <a:xfrm>
            <a:off x="685800" y="2176272"/>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Player &amp; navigation</a:t>
            </a:r>
            <a:endParaRPr lang="en-US" sz="1250" dirty="0"/>
          </a:p>
        </p:txBody>
      </p:sp>
      <p:sp>
        <p:nvSpPr>
          <p:cNvPr id="12" name="Text 10"/>
          <p:cNvSpPr txBox="1"/>
          <p:nvPr/>
        </p:nvSpPr>
        <p:spPr>
          <a:xfrm>
            <a:off x="3108960" y="2176272"/>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Modern player: left sidebar menu, title “NexaTech Onboarding · Module 4”, captions on, Resources tab. Prev and Next are disabled on decision slides and feedback layers; Prev stays on 1.4 and 1.8 so a learner can go back and reconsider.</a:t>
            </a:r>
            <a:endParaRPr lang="en-US" sz="1150" dirty="0"/>
          </a:p>
        </p:txBody>
      </p:sp>
      <p:sp>
        <p:nvSpPr>
          <p:cNvPr id="13" name="Shape 11"/>
          <p:cNvSpPr/>
          <p:nvPr/>
        </p:nvSpPr>
        <p:spPr>
          <a:xfrm>
            <a:off x="457200" y="2980944"/>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4" name="Text 12"/>
          <p:cNvSpPr txBox="1"/>
          <p:nvPr/>
        </p:nvSpPr>
        <p:spPr>
          <a:xfrm>
            <a:off x="685800" y="2980944"/>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Narration</a:t>
            </a:r>
            <a:endParaRPr lang="en-US" sz="1250" dirty="0"/>
          </a:p>
        </p:txBody>
      </p:sp>
      <p:sp>
        <p:nvSpPr>
          <p:cNvPr id="15" name="Text 13"/>
          <p:cNvSpPr txBox="1"/>
          <p:nvPr/>
        </p:nvSpPr>
        <p:spPr>
          <a:xfrm>
            <a:off x="3108960" y="2980944"/>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AI voice-over on 1.1, 1.2, 1.4, 1.5, 1.8 and 1.9 — screens where the learner is receiving or reflecting. None on 1.3, 1.6, 1.7 or the feedback layers, where the learner decides or reads at their own pace. Scripts are in each slide’s notes.</a:t>
            </a:r>
            <a:endParaRPr lang="en-US" sz="1150" dirty="0"/>
          </a:p>
        </p:txBody>
      </p:sp>
      <p:sp>
        <p:nvSpPr>
          <p:cNvPr id="16" name="Shape 14"/>
          <p:cNvSpPr/>
          <p:nvPr/>
        </p:nvSpPr>
        <p:spPr>
          <a:xfrm>
            <a:off x="457200" y="3785616"/>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7" name="Text 15"/>
          <p:cNvSpPr txBox="1"/>
          <p:nvPr/>
        </p:nvSpPr>
        <p:spPr>
          <a:xfrm>
            <a:off x="685800" y="3785616"/>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Revisit behaviour</a:t>
            </a:r>
            <a:endParaRPr lang="en-US" sz="1250" dirty="0"/>
          </a:p>
        </p:txBody>
      </p:sp>
      <p:sp>
        <p:nvSpPr>
          <p:cNvPr id="18" name="Text 16"/>
          <p:cNvSpPr txBox="1"/>
          <p:nvPr/>
        </p:nvSpPr>
        <p:spPr>
          <a:xfrm>
            <a:off x="3108960" y="3785616"/>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Narrated slides and both decision slides are set to Reset to initial state on revisit: the voice-over replays, and a learner who goes back with Prev (from 1.4 or 1.8) gets a fresh, unlocked decision. Within one visit the choice stays locked.</a:t>
            </a:r>
            <a:endParaRPr lang="en-US" sz="1150" dirty="0"/>
          </a:p>
        </p:txBody>
      </p:sp>
      <p:sp>
        <p:nvSpPr>
          <p:cNvPr id="19" name="Shape 17"/>
          <p:cNvSpPr/>
          <p:nvPr/>
        </p:nvSpPr>
        <p:spPr>
          <a:xfrm>
            <a:off x="457200" y="4590288"/>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0" name="Text 18"/>
          <p:cNvSpPr txBox="1"/>
          <p:nvPr/>
        </p:nvSpPr>
        <p:spPr>
          <a:xfrm>
            <a:off x="685800" y="4590288"/>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Theme &amp; colour</a:t>
            </a:r>
            <a:endParaRPr lang="en-US" sz="1250" dirty="0"/>
          </a:p>
        </p:txBody>
      </p:sp>
      <p:sp>
        <p:nvSpPr>
          <p:cNvPr id="21" name="Text 19"/>
          <p:cNvSpPr txBox="1"/>
          <p:nvPr/>
        </p:nvSpPr>
        <p:spPr>
          <a:xfrm>
            <a:off x="3108960" y="4590288"/>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Custom NexaTech theme: navy #1E2761 for structure and buttons, purple #5B3E96 for decision cards and accents, lavender #EFE9F7 for the welcome screen. Status colours appear only on feedback layers: red #B23A2E, amber #B8860B, green #2C7A4B, gray #5B6472.</a:t>
            </a:r>
            <a:endParaRPr lang="en-US" sz="1150" dirty="0"/>
          </a:p>
        </p:txBody>
      </p:sp>
      <p:sp>
        <p:nvSpPr>
          <p:cNvPr id="22" name="Shape 20"/>
          <p:cNvSpPr/>
          <p:nvPr/>
        </p:nvSpPr>
        <p:spPr>
          <a:xfrm>
            <a:off x="457200" y="539496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3" name="Text 21"/>
          <p:cNvSpPr txBox="1"/>
          <p:nvPr/>
        </p:nvSpPr>
        <p:spPr>
          <a:xfrm>
            <a:off x="685800" y="539496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Delivery in Rise</a:t>
            </a:r>
            <a:endParaRPr lang="en-US" sz="1250" dirty="0"/>
          </a:p>
        </p:txBody>
      </p:sp>
      <p:sp>
        <p:nvSpPr>
          <p:cNvPr id="24" name="Text 22"/>
          <p:cNvSpPr txBox="1"/>
          <p:nvPr/>
        </p:nvSpPr>
        <p:spPr>
          <a:xfrm>
            <a:off x="3108960" y="539496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Module 4 is published as a web package and embedded in the Rise course through a Storyline block, with a short lead-in text block before it and a hand-off block after it. Republish and replace the package to update it.</a:t>
            </a:r>
            <a:endParaRPr lang="en-US" sz="11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4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SPEC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4024</Words>
  <Application>Microsoft Office PowerPoint</Application>
  <PresentationFormat>Widescreen</PresentationFormat>
  <Paragraphs>451</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Sanjana Kashyap</cp:lastModifiedBy>
  <cp:revision>1</cp:revision>
  <dcterms:created xsi:type="dcterms:W3CDTF">2026-09-21T11:27:53Z</dcterms:created>
  <dcterms:modified xsi:type="dcterms:W3CDTF">2026-10-01T08:13:48Z</dcterms:modified>
</cp:coreProperties>
</file>