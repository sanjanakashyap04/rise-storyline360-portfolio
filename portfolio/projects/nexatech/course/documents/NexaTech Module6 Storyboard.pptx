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2" r:id="rId7"/>
    <p:sldId id="263" r:id="rId8"/>
    <p:sldId id="267" r:id="rId9"/>
    <p:sldId id="270" r:id="rId10"/>
    <p:sldId id="271" r:id="rId11"/>
    <p:sldId id="272"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2" d="100"/>
          <a:sy n="72" d="100"/>
        </p:scale>
        <p:origin x="43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4215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VOICE-OVER: “It’s your second week at NexaTech. This message just came in from Daniel Moss, on the Marketing team. [Message] Hi Aisha! Putting together a partner presentation this week — could you send over the Q3 client rollout doc your team worked on? Would really help. Thanks! Daniel isn’t on your team, and you’re not sure whether this document is yours to share. What do you 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VOICE-OVER on this screen — the learner is deciding or reading at their own pace.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VOICE-OVER: “When you’re not sure whether something can be shared, don’t guess. Check the guidance, or ask the person who owns that decision, before you act. Two different situations — a colleague and a vendor, an internal doc and an internal schedule — same habit both times. Checking before acting is what makes the judgment call easy, whether or not a resource is handed to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VOICE-OVER: “Good judgment isn’t about knowing every policy by heart. It’s knowing when to pause and check.”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8869680" y="-2011680"/>
            <a:ext cx="5486400" cy="5486400"/>
          </a:xfrm>
          <a:prstGeom prst="ellipse">
            <a:avLst/>
          </a:prstGeom>
          <a:solidFill>
            <a:srgbClr val="1E2761">
              <a:alpha val="60000"/>
            </a:srgbClr>
          </a:solidFill>
          <a:ln/>
        </p:spPr>
        <p:txBody>
          <a:bodyPr/>
          <a:lstStyle/>
          <a:p>
            <a:endParaRPr/>
          </a:p>
        </p:txBody>
      </p:sp>
      <p:sp>
        <p:nvSpPr>
          <p:cNvPr id="3" name="Shape 1"/>
          <p:cNvSpPr/>
          <p:nvPr/>
        </p:nvSpPr>
        <p:spPr>
          <a:xfrm>
            <a:off x="-2286000" y="4389120"/>
            <a:ext cx="4572000" cy="4572000"/>
          </a:xfrm>
          <a:prstGeom prst="ellipse">
            <a:avLst/>
          </a:prstGeom>
          <a:solidFill>
            <a:srgbClr val="1E2761">
              <a:alpha val="45000"/>
            </a:srgbClr>
          </a:solidFill>
          <a:ln/>
        </p:spPr>
        <p:txBody>
          <a:bodyPr/>
          <a:lstStyle/>
          <a:p>
            <a:endParaRPr/>
          </a:p>
        </p:txBody>
      </p:sp>
      <p:sp>
        <p:nvSpPr>
          <p:cNvPr id="4" name="Text 2"/>
          <p:cNvSpPr txBox="1"/>
          <p:nvPr/>
        </p:nvSpPr>
        <p:spPr>
          <a:xfrm>
            <a:off x="822960" y="1828800"/>
            <a:ext cx="9144000" cy="320040"/>
          </a:xfrm>
          <a:prstGeom prst="rect">
            <a:avLst/>
          </a:prstGeom>
          <a:noFill/>
          <a:ln/>
        </p:spPr>
        <p:txBody>
          <a:bodyPr wrap="square" lIns="0" tIns="0" rIns="0" bIns="0" rtlCol="0" anchor="ctr"/>
          <a:lstStyle/>
          <a:p>
            <a:pPr marL="0" indent="0">
              <a:buNone/>
            </a:pPr>
            <a:r>
              <a:rPr lang="en-US" sz="1300" b="1" kern="0" spc="220" dirty="0">
                <a:solidFill>
                  <a:srgbClr val="CADCFC"/>
                </a:solidFill>
                <a:latin typeface="Calibri" pitchFamily="34" charset="0"/>
                <a:ea typeface="Calibri" pitchFamily="34" charset="-122"/>
                <a:cs typeface="Calibri" pitchFamily="34" charset="-120"/>
              </a:rPr>
              <a:t>NEXATECH ONBOARDING PATHWAY</a:t>
            </a:r>
            <a:endParaRPr lang="en-US" sz="1300" dirty="0"/>
          </a:p>
        </p:txBody>
      </p:sp>
      <p:sp>
        <p:nvSpPr>
          <p:cNvPr id="5" name="Text 3"/>
          <p:cNvSpPr txBox="1"/>
          <p:nvPr/>
        </p:nvSpPr>
        <p:spPr>
          <a:xfrm>
            <a:off x="822960" y="2194560"/>
            <a:ext cx="10058400" cy="82296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Module 6 — Culture &amp; Ways of Working</a:t>
            </a:r>
            <a:endParaRPr lang="en-US" sz="3800" dirty="0"/>
          </a:p>
        </p:txBody>
      </p:sp>
      <p:sp>
        <p:nvSpPr>
          <p:cNvPr id="6" name="Text 4"/>
          <p:cNvSpPr txBox="1"/>
          <p:nvPr/>
        </p:nvSpPr>
        <p:spPr>
          <a:xfrm>
            <a:off x="822960" y="2907792"/>
            <a:ext cx="10058400" cy="640080"/>
          </a:xfrm>
          <a:prstGeom prst="rect">
            <a:avLst/>
          </a:prstGeom>
          <a:noFill/>
          <a:ln/>
        </p:spPr>
        <p:txBody>
          <a:bodyPr wrap="square" lIns="0" tIns="0" rIns="0" bIns="0" rtlCol="0" anchor="ctr"/>
          <a:lstStyle/>
          <a:p>
            <a:pPr marL="0" indent="0">
              <a:buNone/>
            </a:pPr>
            <a:r>
              <a:rPr lang="en-US" sz="2600" i="1" dirty="0">
                <a:solidFill>
                  <a:srgbClr val="CADCFC"/>
                </a:solidFill>
                <a:latin typeface="Cambria" pitchFamily="34" charset="0"/>
                <a:ea typeface="Cambria" pitchFamily="34" charset="-122"/>
                <a:cs typeface="Cambria" pitchFamily="34" charset="-120"/>
              </a:rPr>
              <a:t>“The Deadline Problem”</a:t>
            </a:r>
            <a:endParaRPr lang="en-US" sz="2600" dirty="0"/>
          </a:p>
        </p:txBody>
      </p:sp>
      <p:sp>
        <p:nvSpPr>
          <p:cNvPr id="7" name="Shape 5"/>
          <p:cNvSpPr/>
          <p:nvPr/>
        </p:nvSpPr>
        <p:spPr>
          <a:xfrm>
            <a:off x="868680" y="3749040"/>
            <a:ext cx="1280160" cy="41148"/>
          </a:xfrm>
          <a:prstGeom prst="rect">
            <a:avLst/>
          </a:prstGeom>
          <a:solidFill>
            <a:srgbClr val="CADCFC"/>
          </a:solidFill>
          <a:ln/>
        </p:spPr>
        <p:txBody>
          <a:bodyPr/>
          <a:lstStyle/>
          <a:p>
            <a:endParaRPr/>
          </a:p>
        </p:txBody>
      </p:sp>
      <p:sp>
        <p:nvSpPr>
          <p:cNvPr id="8" name="Text 6"/>
          <p:cNvSpPr txBox="1"/>
          <p:nvPr/>
        </p:nvSpPr>
        <p:spPr>
          <a:xfrm>
            <a:off x="822960" y="3950208"/>
            <a:ext cx="8503920" cy="685800"/>
          </a:xfrm>
          <a:prstGeom prst="rect">
            <a:avLst/>
          </a:prstGeom>
          <a:noFill/>
          <a:ln/>
        </p:spPr>
        <p:txBody>
          <a:bodyPr wrap="square" lIns="0" tIns="0" rIns="0" bIns="0" rtlCol="0" anchor="ctr"/>
          <a:lstStyle/>
          <a:p>
            <a:pPr marL="0" indent="0">
              <a:lnSpc>
                <a:spcPct val="120000"/>
              </a:lnSpc>
              <a:buNone/>
            </a:pPr>
            <a:r>
              <a:rPr lang="en-US" sz="1400" dirty="0">
                <a:solidFill>
                  <a:srgbClr val="C4CCEA"/>
                </a:solidFill>
                <a:latin typeface="Calibri" pitchFamily="34" charset="0"/>
                <a:ea typeface="Calibri" pitchFamily="34" charset="-122"/>
                <a:cs typeface="Calibri" pitchFamily="34" charset="-120"/>
              </a:rPr>
              <a:t>A single-decision branching scenario about ownership and early communication, followed by a short transfer-practice screen. Storyboarded to the same level as Module 4; not scheduled for Storyline development.</a:t>
            </a:r>
            <a:endParaRPr lang="en-US" sz="1400" dirty="0"/>
          </a:p>
        </p:txBody>
      </p:sp>
      <p:sp>
        <p:nvSpPr>
          <p:cNvPr id="9" name="Shape 7"/>
          <p:cNvSpPr/>
          <p:nvPr/>
        </p:nvSpPr>
        <p:spPr>
          <a:xfrm>
            <a:off x="822960" y="4892040"/>
            <a:ext cx="1874520" cy="384048"/>
          </a:xfrm>
          <a:prstGeom prst="roundRect">
            <a:avLst>
              <a:gd name="adj" fmla="val 50000"/>
            </a:avLst>
          </a:prstGeom>
          <a:solidFill>
            <a:srgbClr val="232C5C"/>
          </a:solidFill>
          <a:ln w="12700">
            <a:solidFill>
              <a:srgbClr val="3A447E"/>
            </a:solidFill>
            <a:prstDash val="solid"/>
          </a:ln>
        </p:spPr>
        <p:txBody>
          <a:bodyPr/>
          <a:lstStyle/>
          <a:p>
            <a:endParaRPr/>
          </a:p>
        </p:txBody>
      </p:sp>
      <p:sp>
        <p:nvSpPr>
          <p:cNvPr id="10" name="Text 8"/>
          <p:cNvSpPr txBox="1"/>
          <p:nvPr/>
        </p:nvSpPr>
        <p:spPr>
          <a:xfrm>
            <a:off x="822960" y="4892040"/>
            <a:ext cx="1874520" cy="384048"/>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1 decision point</a:t>
            </a:r>
            <a:endParaRPr lang="en-US" sz="1050" dirty="0"/>
          </a:p>
        </p:txBody>
      </p:sp>
      <p:sp>
        <p:nvSpPr>
          <p:cNvPr id="11" name="Shape 9"/>
          <p:cNvSpPr/>
          <p:nvPr/>
        </p:nvSpPr>
        <p:spPr>
          <a:xfrm>
            <a:off x="2880360" y="4892040"/>
            <a:ext cx="2697480" cy="384048"/>
          </a:xfrm>
          <a:prstGeom prst="roundRect">
            <a:avLst>
              <a:gd name="adj" fmla="val 50000"/>
            </a:avLst>
          </a:prstGeom>
          <a:solidFill>
            <a:srgbClr val="232C5C"/>
          </a:solidFill>
          <a:ln w="12700">
            <a:solidFill>
              <a:srgbClr val="3A447E"/>
            </a:solidFill>
            <a:prstDash val="solid"/>
          </a:ln>
        </p:spPr>
        <p:txBody>
          <a:bodyPr/>
          <a:lstStyle/>
          <a:p>
            <a:endParaRPr/>
          </a:p>
        </p:txBody>
      </p:sp>
      <p:sp>
        <p:nvSpPr>
          <p:cNvPr id="12" name="Text 10"/>
          <p:cNvSpPr txBox="1"/>
          <p:nvPr/>
        </p:nvSpPr>
        <p:spPr>
          <a:xfrm>
            <a:off x="2880360" y="4892040"/>
            <a:ext cx="2697480" cy="384048"/>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Consequence-based feedback</a:t>
            </a:r>
            <a:endParaRPr lang="en-US" sz="1050" dirty="0"/>
          </a:p>
        </p:txBody>
      </p:sp>
      <p:sp>
        <p:nvSpPr>
          <p:cNvPr id="13" name="Shape 11"/>
          <p:cNvSpPr/>
          <p:nvPr/>
        </p:nvSpPr>
        <p:spPr>
          <a:xfrm>
            <a:off x="5760720" y="4892040"/>
            <a:ext cx="2606040" cy="384048"/>
          </a:xfrm>
          <a:prstGeom prst="roundRect">
            <a:avLst>
              <a:gd name="adj" fmla="val 50000"/>
            </a:avLst>
          </a:prstGeom>
          <a:solidFill>
            <a:srgbClr val="B23A2E"/>
          </a:solidFill>
          <a:ln w="12700">
            <a:solidFill>
              <a:srgbClr val="3A447E"/>
            </a:solidFill>
            <a:prstDash val="solid"/>
          </a:ln>
        </p:spPr>
        <p:txBody>
          <a:bodyPr/>
          <a:lstStyle/>
          <a:p>
            <a:endParaRPr/>
          </a:p>
        </p:txBody>
      </p:sp>
      <p:sp>
        <p:nvSpPr>
          <p:cNvPr id="14" name="Text 12"/>
          <p:cNvSpPr txBox="1"/>
          <p:nvPr/>
        </p:nvSpPr>
        <p:spPr>
          <a:xfrm>
            <a:off x="5760720" y="4892040"/>
            <a:ext cx="2606040" cy="384048"/>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Storyboard level — not built</a:t>
            </a:r>
            <a:endParaRPr lang="en-US" sz="1050" dirty="0"/>
          </a:p>
        </p:txBody>
      </p:sp>
      <p:sp>
        <p:nvSpPr>
          <p:cNvPr id="15" name="Text 13"/>
          <p:cNvSpPr txBox="1"/>
          <p:nvPr/>
        </p:nvSpPr>
        <p:spPr>
          <a:xfrm>
            <a:off x="822960" y="5989320"/>
            <a:ext cx="7315200" cy="548640"/>
          </a:xfrm>
          <a:prstGeom prst="rect">
            <a:avLst/>
          </a:prstGeom>
          <a:noFill/>
          <a:ln/>
        </p:spPr>
        <p:txBody>
          <a:bodyPr wrap="square" lIns="0" tIns="0" rIns="0" bIns="0" rtlCol="0" anchor="ctr"/>
          <a:lstStyle/>
          <a:p>
            <a:pPr marL="0" indent="0">
              <a:lnSpc>
                <a:spcPct val="130000"/>
              </a:lnSpc>
              <a:buNone/>
            </a:pPr>
            <a:r>
              <a:rPr lang="en-US" sz="1150" b="1" dirty="0">
                <a:solidFill>
                  <a:srgbClr val="8892B8"/>
                </a:solidFill>
                <a:latin typeface="Calibri" pitchFamily="34" charset="0"/>
                <a:ea typeface="Calibri" pitchFamily="34" charset="-122"/>
                <a:cs typeface="Calibri" pitchFamily="34" charset="-120"/>
              </a:rPr>
              <a:t>Instructional Design Portfolio Project</a:t>
            </a:r>
            <a:endParaRPr lang="en-US" sz="1150" dirty="0"/>
          </a:p>
          <a:p>
            <a:pPr marL="0" indent="0">
              <a:lnSpc>
                <a:spcPct val="130000"/>
              </a:lnSpc>
              <a:buNone/>
            </a:pPr>
            <a:r>
              <a:rPr lang="en-US" sz="1150" dirty="0">
                <a:solidFill>
                  <a:srgbClr val="8892B8"/>
                </a:solidFill>
                <a:latin typeface="Calibri" pitchFamily="34" charset="0"/>
                <a:ea typeface="Calibri" pitchFamily="34" charset="-122"/>
                <a:cs typeface="Calibri" pitchFamily="34" charset="-120"/>
              </a:rPr>
              <a:t>Designer: Sanjana Kashyap</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MODULE MAP</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Screen Flow &amp; Design Intent</a:t>
            </a:r>
            <a:endParaRPr lang="en-US" sz="2500" dirty="0"/>
          </a:p>
        </p:txBody>
      </p:sp>
      <p:sp>
        <p:nvSpPr>
          <p:cNvPr id="4" name="Text 2"/>
          <p:cNvSpPr txBox="1"/>
          <p:nvPr/>
        </p:nvSpPr>
        <p:spPr>
          <a:xfrm>
            <a:off x="457200" y="969264"/>
            <a:ext cx="941832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One decision point plus a short transfer-practice screen — storyboard level only, matching Module 4’s format</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6</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Text 5"/>
          <p:cNvSpPr txBox="1"/>
          <p:nvPr/>
        </p:nvSpPr>
        <p:spPr>
          <a:xfrm>
            <a:off x="457200" y="1536192"/>
            <a:ext cx="3657600" cy="228600"/>
          </a:xfrm>
          <a:prstGeom prst="rect">
            <a:avLst/>
          </a:prstGeom>
          <a:noFill/>
          <a:ln/>
        </p:spPr>
        <p:txBody>
          <a:bodyPr wrap="square" lIns="0" tIns="0" rIns="0" bIns="0" rtlCol="0" anchor="ctr"/>
          <a:lstStyle/>
          <a:p>
            <a:pPr marL="0" indent="0">
              <a:buNone/>
            </a:pPr>
            <a:r>
              <a:rPr lang="en-US" sz="1000" b="1" kern="0" spc="100" dirty="0">
                <a:solidFill>
                  <a:srgbClr val="5B6785"/>
                </a:solidFill>
                <a:latin typeface="Calibri" pitchFamily="34" charset="0"/>
                <a:ea typeface="Calibri" pitchFamily="34" charset="-122"/>
                <a:cs typeface="Calibri" pitchFamily="34" charset="-120"/>
              </a:rPr>
              <a:t>THE DEADLINE PROBLEM</a:t>
            </a:r>
            <a:endParaRPr lang="en-US" sz="1000" dirty="0"/>
          </a:p>
        </p:txBody>
      </p:sp>
      <p:sp>
        <p:nvSpPr>
          <p:cNvPr id="8" name="Shape 6"/>
          <p:cNvSpPr/>
          <p:nvPr/>
        </p:nvSpPr>
        <p:spPr>
          <a:xfrm>
            <a:off x="457200" y="1783080"/>
            <a:ext cx="1417320" cy="777240"/>
          </a:xfrm>
          <a:prstGeom prst="roundRect">
            <a:avLst>
              <a:gd name="adj" fmla="val 8235"/>
            </a:avLst>
          </a:prstGeom>
          <a:solidFill>
            <a:srgbClr val="EEF3FD"/>
          </a:solidFill>
          <a:ln w="13970">
            <a:solidFill>
              <a:srgbClr val="1E2761"/>
            </a:solidFill>
            <a:prstDash val="solid"/>
          </a:ln>
        </p:spPr>
        <p:txBody>
          <a:bodyPr/>
          <a:lstStyle/>
          <a:p>
            <a:endParaRPr/>
          </a:p>
        </p:txBody>
      </p:sp>
      <p:sp>
        <p:nvSpPr>
          <p:cNvPr id="9" name="Text 7"/>
          <p:cNvSpPr txBox="1"/>
          <p:nvPr/>
        </p:nvSpPr>
        <p:spPr>
          <a:xfrm>
            <a:off x="457200" y="1874520"/>
            <a:ext cx="1417320" cy="228600"/>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6.1</a:t>
            </a:r>
            <a:endParaRPr lang="en-US" sz="1000" dirty="0"/>
          </a:p>
        </p:txBody>
      </p:sp>
      <p:sp>
        <p:nvSpPr>
          <p:cNvPr id="10" name="Text 8"/>
          <p:cNvSpPr txBox="1"/>
          <p:nvPr/>
        </p:nvSpPr>
        <p:spPr>
          <a:xfrm>
            <a:off x="457200" y="2103120"/>
            <a:ext cx="1417320" cy="365760"/>
          </a:xfrm>
          <a:prstGeom prst="rect">
            <a:avLst/>
          </a:prstGeom>
          <a:noFill/>
          <a:ln/>
        </p:spPr>
        <p:txBody>
          <a:bodyPr wrap="square" lIns="0" tIns="0" rIns="0" bIns="0" rtlCol="0" anchor="ctr"/>
          <a:lstStyle/>
          <a:p>
            <a:pPr marL="0" indent="0" algn="ctr">
              <a:buNone/>
            </a:pPr>
            <a:r>
              <a:rPr lang="en-US" sz="1150" dirty="0">
                <a:solidFill>
                  <a:srgbClr val="1B1F3B"/>
                </a:solidFill>
                <a:latin typeface="Calibri" pitchFamily="34" charset="0"/>
                <a:ea typeface="Calibri" pitchFamily="34" charset="-122"/>
                <a:cs typeface="Calibri" pitchFamily="34" charset="-120"/>
              </a:rPr>
              <a:t>Situation</a:t>
            </a:r>
            <a:endParaRPr lang="en-US" sz="1150" dirty="0"/>
          </a:p>
        </p:txBody>
      </p:sp>
      <p:sp>
        <p:nvSpPr>
          <p:cNvPr id="11" name="Shape 9"/>
          <p:cNvSpPr/>
          <p:nvPr/>
        </p:nvSpPr>
        <p:spPr>
          <a:xfrm>
            <a:off x="1965960" y="2107692"/>
            <a:ext cx="292608" cy="128016"/>
          </a:xfrm>
          <a:prstGeom prst="rightArrow">
            <a:avLst/>
          </a:prstGeom>
          <a:solidFill>
            <a:srgbClr val="C9D3EA"/>
          </a:solidFill>
          <a:ln/>
        </p:spPr>
        <p:txBody>
          <a:bodyPr/>
          <a:lstStyle/>
          <a:p>
            <a:endParaRPr/>
          </a:p>
        </p:txBody>
      </p:sp>
      <p:sp>
        <p:nvSpPr>
          <p:cNvPr id="12" name="Shape 10"/>
          <p:cNvSpPr/>
          <p:nvPr/>
        </p:nvSpPr>
        <p:spPr>
          <a:xfrm>
            <a:off x="2331720" y="1783080"/>
            <a:ext cx="1417320" cy="777240"/>
          </a:xfrm>
          <a:prstGeom prst="roundRect">
            <a:avLst>
              <a:gd name="adj" fmla="val 8235"/>
            </a:avLst>
          </a:prstGeom>
          <a:solidFill>
            <a:srgbClr val="EEF3FD"/>
          </a:solidFill>
          <a:ln w="13970">
            <a:solidFill>
              <a:srgbClr val="1E2761"/>
            </a:solidFill>
            <a:prstDash val="solid"/>
          </a:ln>
        </p:spPr>
        <p:txBody>
          <a:bodyPr/>
          <a:lstStyle/>
          <a:p>
            <a:endParaRPr/>
          </a:p>
        </p:txBody>
      </p:sp>
      <p:sp>
        <p:nvSpPr>
          <p:cNvPr id="13" name="Text 11"/>
          <p:cNvSpPr txBox="1"/>
          <p:nvPr/>
        </p:nvSpPr>
        <p:spPr>
          <a:xfrm>
            <a:off x="2331720" y="1874520"/>
            <a:ext cx="1417320" cy="228600"/>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6.2</a:t>
            </a:r>
            <a:endParaRPr lang="en-US" sz="1000" dirty="0"/>
          </a:p>
        </p:txBody>
      </p:sp>
      <p:sp>
        <p:nvSpPr>
          <p:cNvPr id="14" name="Text 12"/>
          <p:cNvSpPr txBox="1"/>
          <p:nvPr/>
        </p:nvSpPr>
        <p:spPr>
          <a:xfrm>
            <a:off x="2331720" y="2103120"/>
            <a:ext cx="1417320" cy="365760"/>
          </a:xfrm>
          <a:prstGeom prst="rect">
            <a:avLst/>
          </a:prstGeom>
          <a:noFill/>
          <a:ln/>
        </p:spPr>
        <p:txBody>
          <a:bodyPr wrap="square" lIns="0" tIns="0" rIns="0" bIns="0" rtlCol="0" anchor="ctr"/>
          <a:lstStyle/>
          <a:p>
            <a:pPr marL="0" indent="0" algn="ctr">
              <a:buNone/>
            </a:pPr>
            <a:r>
              <a:rPr lang="en-US" sz="1150" dirty="0">
                <a:solidFill>
                  <a:srgbClr val="1B1F3B"/>
                </a:solidFill>
                <a:latin typeface="Calibri" pitchFamily="34" charset="0"/>
                <a:ea typeface="Calibri" pitchFamily="34" charset="-122"/>
                <a:cs typeface="Calibri" pitchFamily="34" charset="-120"/>
              </a:rPr>
              <a:t>Decision Point</a:t>
            </a:r>
            <a:endParaRPr lang="en-US" sz="1150" dirty="0"/>
          </a:p>
        </p:txBody>
      </p:sp>
      <p:sp>
        <p:nvSpPr>
          <p:cNvPr id="15" name="Shape 13"/>
          <p:cNvSpPr/>
          <p:nvPr/>
        </p:nvSpPr>
        <p:spPr>
          <a:xfrm>
            <a:off x="3840480" y="2107692"/>
            <a:ext cx="274320" cy="128016"/>
          </a:xfrm>
          <a:prstGeom prst="rightArrow">
            <a:avLst/>
          </a:prstGeom>
          <a:solidFill>
            <a:srgbClr val="C9D3EA"/>
          </a:solidFill>
          <a:ln/>
        </p:spPr>
        <p:txBody>
          <a:bodyPr/>
          <a:lstStyle/>
          <a:p>
            <a:endParaRPr/>
          </a:p>
        </p:txBody>
      </p:sp>
      <p:sp>
        <p:nvSpPr>
          <p:cNvPr id="16" name="Shape 14"/>
          <p:cNvSpPr/>
          <p:nvPr/>
        </p:nvSpPr>
        <p:spPr>
          <a:xfrm>
            <a:off x="4206240" y="1783080"/>
            <a:ext cx="1691640" cy="777240"/>
          </a:xfrm>
          <a:prstGeom prst="roundRect">
            <a:avLst>
              <a:gd name="adj" fmla="val 8235"/>
            </a:avLst>
          </a:prstGeom>
          <a:solidFill>
            <a:srgbClr val="FBE9E7"/>
          </a:solidFill>
          <a:ln w="13970">
            <a:solidFill>
              <a:srgbClr val="B23A2E"/>
            </a:solidFill>
            <a:prstDash val="solid"/>
          </a:ln>
        </p:spPr>
        <p:txBody>
          <a:bodyPr/>
          <a:lstStyle/>
          <a:p>
            <a:endParaRPr/>
          </a:p>
        </p:txBody>
      </p:sp>
      <p:sp>
        <p:nvSpPr>
          <p:cNvPr id="17" name="Text 15"/>
          <p:cNvSpPr txBox="1"/>
          <p:nvPr/>
        </p:nvSpPr>
        <p:spPr>
          <a:xfrm>
            <a:off x="4206240" y="1874520"/>
            <a:ext cx="1691640" cy="201168"/>
          </a:xfrm>
          <a:prstGeom prst="rect">
            <a:avLst/>
          </a:prstGeom>
          <a:noFill/>
          <a:ln/>
        </p:spPr>
        <p:txBody>
          <a:bodyPr wrap="square" lIns="0" tIns="0" rIns="0" bIns="0" rtlCol="0" anchor="ctr"/>
          <a:lstStyle/>
          <a:p>
            <a:pPr marL="0" indent="0" algn="ctr">
              <a:buNone/>
            </a:pPr>
            <a:r>
              <a:rPr lang="en-US" sz="950" b="1" dirty="0">
                <a:solidFill>
                  <a:srgbClr val="B23A2E"/>
                </a:solidFill>
                <a:latin typeface="Calibri" pitchFamily="34" charset="0"/>
                <a:ea typeface="Calibri" pitchFamily="34" charset="-122"/>
                <a:cs typeface="Calibri" pitchFamily="34" charset="-120"/>
              </a:rPr>
              <a:t>6.3 A</a:t>
            </a:r>
            <a:endParaRPr lang="en-US" sz="950" dirty="0"/>
          </a:p>
        </p:txBody>
      </p:sp>
      <p:sp>
        <p:nvSpPr>
          <p:cNvPr id="18" name="Text 16"/>
          <p:cNvSpPr txBox="1"/>
          <p:nvPr/>
        </p:nvSpPr>
        <p:spPr>
          <a:xfrm>
            <a:off x="4206240" y="2093976"/>
            <a:ext cx="1691640" cy="365760"/>
          </a:xfrm>
          <a:prstGeom prst="rect">
            <a:avLst/>
          </a:prstGeom>
          <a:noFill/>
          <a:ln/>
        </p:spPr>
        <p:txBody>
          <a:bodyPr wrap="square" lIns="0" tIns="0" rIns="0" bIns="0" rtlCol="0" anchor="ctr"/>
          <a:lstStyle/>
          <a:p>
            <a:pPr marL="0" indent="0" algn="ctr">
              <a:buNone/>
            </a:pPr>
            <a:r>
              <a:rPr lang="en-US" sz="1000" dirty="0">
                <a:solidFill>
                  <a:srgbClr val="1B1F3B"/>
                </a:solidFill>
                <a:latin typeface="Calibri" pitchFamily="34" charset="0"/>
                <a:ea typeface="Calibri" pitchFamily="34" charset="-122"/>
                <a:cs typeface="Calibri" pitchFamily="34" charset="-120"/>
              </a:rPr>
              <a:t>Risky</a:t>
            </a:r>
            <a:endParaRPr lang="en-US" sz="1000" dirty="0"/>
          </a:p>
        </p:txBody>
      </p:sp>
      <p:sp>
        <p:nvSpPr>
          <p:cNvPr id="22" name="Shape 20"/>
          <p:cNvSpPr/>
          <p:nvPr/>
        </p:nvSpPr>
        <p:spPr>
          <a:xfrm>
            <a:off x="6080760" y="1783080"/>
            <a:ext cx="1691640" cy="777240"/>
          </a:xfrm>
          <a:prstGeom prst="roundRect">
            <a:avLst>
              <a:gd name="adj" fmla="val 8235"/>
            </a:avLst>
          </a:prstGeom>
          <a:solidFill>
            <a:srgbClr val="E6F2EB"/>
          </a:solidFill>
          <a:ln w="13970">
            <a:solidFill>
              <a:srgbClr val="2C7A4B"/>
            </a:solidFill>
            <a:prstDash val="solid"/>
          </a:ln>
        </p:spPr>
        <p:txBody>
          <a:bodyPr/>
          <a:lstStyle/>
          <a:p>
            <a:endParaRPr/>
          </a:p>
        </p:txBody>
      </p:sp>
      <p:sp>
        <p:nvSpPr>
          <p:cNvPr id="23" name="Text 21"/>
          <p:cNvSpPr txBox="1"/>
          <p:nvPr/>
        </p:nvSpPr>
        <p:spPr>
          <a:xfrm>
            <a:off x="6080760" y="1874520"/>
            <a:ext cx="1691640" cy="201168"/>
          </a:xfrm>
          <a:prstGeom prst="rect">
            <a:avLst/>
          </a:prstGeom>
          <a:noFill/>
          <a:ln/>
        </p:spPr>
        <p:txBody>
          <a:bodyPr wrap="square" lIns="0" tIns="0" rIns="0" bIns="0" rtlCol="0" anchor="ctr"/>
          <a:lstStyle/>
          <a:p>
            <a:pPr marL="0" indent="0" algn="ctr">
              <a:buNone/>
            </a:pPr>
            <a:r>
              <a:rPr lang="en-US" sz="950" b="1" dirty="0">
                <a:solidFill>
                  <a:srgbClr val="2C7A4B"/>
                </a:solidFill>
                <a:latin typeface="Calibri" pitchFamily="34" charset="0"/>
                <a:ea typeface="Calibri" pitchFamily="34" charset="-122"/>
                <a:cs typeface="Calibri" pitchFamily="34" charset="-120"/>
              </a:rPr>
              <a:t>6.3 B</a:t>
            </a:r>
            <a:endParaRPr lang="en-US" sz="950" dirty="0"/>
          </a:p>
        </p:txBody>
      </p:sp>
      <p:sp>
        <p:nvSpPr>
          <p:cNvPr id="24" name="Text 22"/>
          <p:cNvSpPr txBox="1"/>
          <p:nvPr/>
        </p:nvSpPr>
        <p:spPr>
          <a:xfrm>
            <a:off x="6080760" y="2093976"/>
            <a:ext cx="1691640" cy="365760"/>
          </a:xfrm>
          <a:prstGeom prst="rect">
            <a:avLst/>
          </a:prstGeom>
          <a:noFill/>
          <a:ln/>
        </p:spPr>
        <p:txBody>
          <a:bodyPr wrap="square" lIns="0" tIns="0" rIns="0" bIns="0" rtlCol="0" anchor="ctr"/>
          <a:lstStyle/>
          <a:p>
            <a:pPr marL="0" indent="0" algn="ctr">
              <a:buNone/>
            </a:pPr>
            <a:r>
              <a:rPr lang="en-US" sz="1000" dirty="0">
                <a:solidFill>
                  <a:srgbClr val="1B1F3B"/>
                </a:solidFill>
                <a:latin typeface="Calibri" pitchFamily="34" charset="0"/>
                <a:ea typeface="Calibri" pitchFamily="34" charset="-122"/>
                <a:cs typeface="Calibri" pitchFamily="34" charset="-120"/>
              </a:rPr>
              <a:t>Strongest</a:t>
            </a:r>
            <a:endParaRPr lang="en-US" sz="1000" dirty="0"/>
          </a:p>
        </p:txBody>
      </p:sp>
      <p:sp>
        <p:nvSpPr>
          <p:cNvPr id="25" name="Shape 23"/>
          <p:cNvSpPr/>
          <p:nvPr/>
        </p:nvSpPr>
        <p:spPr>
          <a:xfrm>
            <a:off x="7955279" y="1783080"/>
            <a:ext cx="1691640" cy="777240"/>
          </a:xfrm>
          <a:prstGeom prst="roundRect">
            <a:avLst>
              <a:gd name="adj" fmla="val 8235"/>
            </a:avLst>
          </a:prstGeom>
          <a:solidFill>
            <a:srgbClr val="EEEFF2"/>
          </a:solidFill>
          <a:ln w="13970">
            <a:solidFill>
              <a:srgbClr val="5B6472"/>
            </a:solidFill>
            <a:prstDash val="solid"/>
          </a:ln>
        </p:spPr>
        <p:txBody>
          <a:bodyPr/>
          <a:lstStyle/>
          <a:p>
            <a:endParaRPr/>
          </a:p>
        </p:txBody>
      </p:sp>
      <p:sp>
        <p:nvSpPr>
          <p:cNvPr id="26" name="Text 24"/>
          <p:cNvSpPr txBox="1"/>
          <p:nvPr/>
        </p:nvSpPr>
        <p:spPr>
          <a:xfrm>
            <a:off x="7955279" y="1874520"/>
            <a:ext cx="1691640" cy="201168"/>
          </a:xfrm>
          <a:prstGeom prst="rect">
            <a:avLst/>
          </a:prstGeom>
          <a:noFill/>
          <a:ln/>
        </p:spPr>
        <p:txBody>
          <a:bodyPr wrap="square" lIns="0" tIns="0" rIns="0" bIns="0" rtlCol="0" anchor="ctr"/>
          <a:lstStyle/>
          <a:p>
            <a:pPr marL="0" indent="0" algn="ctr">
              <a:buNone/>
            </a:pPr>
            <a:r>
              <a:rPr lang="en-US" sz="950" b="1" dirty="0">
                <a:solidFill>
                  <a:srgbClr val="5B6472"/>
                </a:solidFill>
                <a:latin typeface="Calibri" pitchFamily="34" charset="0"/>
                <a:ea typeface="Calibri" pitchFamily="34" charset="-122"/>
                <a:cs typeface="Calibri" pitchFamily="34" charset="-120"/>
              </a:rPr>
              <a:t>6.3 C</a:t>
            </a:r>
            <a:endParaRPr lang="en-US" sz="950" dirty="0"/>
          </a:p>
        </p:txBody>
      </p:sp>
      <p:sp>
        <p:nvSpPr>
          <p:cNvPr id="27" name="Text 25"/>
          <p:cNvSpPr txBox="1"/>
          <p:nvPr/>
        </p:nvSpPr>
        <p:spPr>
          <a:xfrm>
            <a:off x="7955279" y="2093976"/>
            <a:ext cx="1691640" cy="365760"/>
          </a:xfrm>
          <a:prstGeom prst="rect">
            <a:avLst/>
          </a:prstGeom>
          <a:noFill/>
          <a:ln/>
        </p:spPr>
        <p:txBody>
          <a:bodyPr wrap="square" lIns="0" tIns="0" rIns="0" bIns="0" rtlCol="0" anchor="ctr"/>
          <a:lstStyle/>
          <a:p>
            <a:pPr marL="0" indent="0" algn="ctr">
              <a:buNone/>
            </a:pPr>
            <a:r>
              <a:rPr lang="en-US" sz="1000" dirty="0">
                <a:solidFill>
                  <a:srgbClr val="1B1F3B"/>
                </a:solidFill>
                <a:latin typeface="Calibri" pitchFamily="34" charset="0"/>
                <a:ea typeface="Calibri" pitchFamily="34" charset="-122"/>
                <a:cs typeface="Calibri" pitchFamily="34" charset="-120"/>
              </a:rPr>
              <a:t>Avoids it</a:t>
            </a:r>
            <a:endParaRPr lang="en-US" sz="1000" dirty="0"/>
          </a:p>
        </p:txBody>
      </p:sp>
      <p:sp>
        <p:nvSpPr>
          <p:cNvPr id="28" name="Shape 26"/>
          <p:cNvSpPr/>
          <p:nvPr/>
        </p:nvSpPr>
        <p:spPr>
          <a:xfrm>
            <a:off x="6766560" y="3246120"/>
            <a:ext cx="164592" cy="201168"/>
          </a:xfrm>
          <a:prstGeom prst="downArrow">
            <a:avLst/>
          </a:prstGeom>
          <a:solidFill>
            <a:srgbClr val="C9D3EA"/>
          </a:solidFill>
          <a:ln/>
        </p:spPr>
        <p:txBody>
          <a:bodyPr/>
          <a:lstStyle/>
          <a:p>
            <a:endParaRPr/>
          </a:p>
        </p:txBody>
      </p:sp>
      <p:sp>
        <p:nvSpPr>
          <p:cNvPr id="51" name="Shape 49"/>
          <p:cNvSpPr/>
          <p:nvPr/>
        </p:nvSpPr>
        <p:spPr>
          <a:xfrm>
            <a:off x="2011680" y="4846320"/>
            <a:ext cx="2377440" cy="777240"/>
          </a:xfrm>
          <a:prstGeom prst="roundRect">
            <a:avLst>
              <a:gd name="adj" fmla="val 8235"/>
            </a:avLst>
          </a:prstGeom>
          <a:solidFill>
            <a:srgbClr val="1E2761"/>
          </a:solidFill>
          <a:ln/>
        </p:spPr>
        <p:txBody>
          <a:bodyPr/>
          <a:lstStyle/>
          <a:p>
            <a:endParaRPr/>
          </a:p>
        </p:txBody>
      </p:sp>
      <p:sp>
        <p:nvSpPr>
          <p:cNvPr id="52" name="Text 50"/>
          <p:cNvSpPr txBox="1"/>
          <p:nvPr/>
        </p:nvSpPr>
        <p:spPr>
          <a:xfrm>
            <a:off x="2011680" y="4937760"/>
            <a:ext cx="2377440" cy="201168"/>
          </a:xfrm>
          <a:prstGeom prst="rect">
            <a:avLst/>
          </a:prstGeom>
          <a:noFill/>
          <a:ln/>
        </p:spPr>
        <p:txBody>
          <a:bodyPr wrap="square" lIns="0" tIns="0" rIns="0" bIns="0" rtlCol="0" anchor="ctr"/>
          <a:lstStyle/>
          <a:p>
            <a:pPr marL="0" indent="0" algn="ctr">
              <a:buNone/>
            </a:pPr>
            <a:r>
              <a:rPr lang="en-US" sz="1000" b="1" dirty="0">
                <a:solidFill>
                  <a:srgbClr val="CADCFC"/>
                </a:solidFill>
                <a:latin typeface="Calibri" pitchFamily="34" charset="0"/>
                <a:ea typeface="Calibri" pitchFamily="34" charset="-122"/>
                <a:cs typeface="Calibri" pitchFamily="34" charset="-120"/>
              </a:rPr>
              <a:t>6.4</a:t>
            </a:r>
            <a:endParaRPr lang="en-US" sz="1000" dirty="0"/>
          </a:p>
        </p:txBody>
      </p:sp>
      <p:sp>
        <p:nvSpPr>
          <p:cNvPr id="53" name="Text 51"/>
          <p:cNvSpPr txBox="1"/>
          <p:nvPr/>
        </p:nvSpPr>
        <p:spPr>
          <a:xfrm>
            <a:off x="2011680" y="5138928"/>
            <a:ext cx="2377440" cy="411480"/>
          </a:xfrm>
          <a:prstGeom prst="rect">
            <a:avLst/>
          </a:prstGeom>
          <a:noFill/>
          <a:ln/>
        </p:spPr>
        <p:txBody>
          <a:bodyPr wrap="square" lIns="0" tIns="0" rIns="0" bIns="0" rtlCol="0" anchor="ctr"/>
          <a:lstStyle/>
          <a:p>
            <a:pPr marL="0" indent="0" algn="ctr">
              <a:lnSpc>
                <a:spcPct val="100000"/>
              </a:lnSpc>
              <a:buNone/>
            </a:pPr>
            <a:r>
              <a:rPr lang="en-US" sz="1150" dirty="0">
                <a:solidFill>
                  <a:srgbClr val="FFFFFF"/>
                </a:solidFill>
                <a:latin typeface="Calibri" pitchFamily="34" charset="0"/>
                <a:ea typeface="Calibri" pitchFamily="34" charset="-122"/>
                <a:cs typeface="Calibri" pitchFamily="34" charset="-120"/>
              </a:rPr>
              <a:t>Takeaway</a:t>
            </a:r>
            <a:endParaRPr lang="en-US" sz="1150" dirty="0"/>
          </a:p>
        </p:txBody>
      </p:sp>
      <p:sp>
        <p:nvSpPr>
          <p:cNvPr id="54" name="Shape 52"/>
          <p:cNvSpPr/>
          <p:nvPr/>
        </p:nvSpPr>
        <p:spPr>
          <a:xfrm>
            <a:off x="4526280" y="5170932"/>
            <a:ext cx="301752" cy="128016"/>
          </a:xfrm>
          <a:prstGeom prst="rightArrow">
            <a:avLst/>
          </a:prstGeom>
          <a:solidFill>
            <a:srgbClr val="C9D3EA"/>
          </a:solidFill>
          <a:ln/>
        </p:spPr>
        <p:txBody>
          <a:bodyPr/>
          <a:lstStyle/>
          <a:p>
            <a:endParaRPr/>
          </a:p>
        </p:txBody>
      </p:sp>
      <p:sp>
        <p:nvSpPr>
          <p:cNvPr id="55" name="Shape 53"/>
          <p:cNvSpPr/>
          <p:nvPr/>
        </p:nvSpPr>
        <p:spPr>
          <a:xfrm>
            <a:off x="7315200" y="4846320"/>
            <a:ext cx="2377440" cy="777240"/>
          </a:xfrm>
          <a:prstGeom prst="roundRect">
            <a:avLst>
              <a:gd name="adj" fmla="val 8235"/>
            </a:avLst>
          </a:prstGeom>
          <a:solidFill>
            <a:srgbClr val="1E2761"/>
          </a:solidFill>
          <a:ln/>
        </p:spPr>
        <p:txBody>
          <a:bodyPr/>
          <a:lstStyle/>
          <a:p>
            <a:endParaRPr/>
          </a:p>
        </p:txBody>
      </p:sp>
      <p:sp>
        <p:nvSpPr>
          <p:cNvPr id="56" name="Text 54"/>
          <p:cNvSpPr txBox="1"/>
          <p:nvPr/>
        </p:nvSpPr>
        <p:spPr>
          <a:xfrm>
            <a:off x="7315200" y="4937760"/>
            <a:ext cx="2377440" cy="201168"/>
          </a:xfrm>
          <a:prstGeom prst="rect">
            <a:avLst/>
          </a:prstGeom>
          <a:noFill/>
          <a:ln/>
        </p:spPr>
        <p:txBody>
          <a:bodyPr wrap="square" lIns="0" tIns="0" rIns="0" bIns="0" rtlCol="0" anchor="ctr"/>
          <a:lstStyle/>
          <a:p>
            <a:pPr marL="0" indent="0" algn="ctr">
              <a:buNone/>
            </a:pPr>
            <a:r>
              <a:rPr lang="en-US" sz="1000" b="1" dirty="0">
                <a:solidFill>
                  <a:srgbClr val="CADCFC"/>
                </a:solidFill>
                <a:latin typeface="Calibri" pitchFamily="34" charset="0"/>
                <a:ea typeface="Calibri" pitchFamily="34" charset="-122"/>
                <a:cs typeface="Calibri" pitchFamily="34" charset="-120"/>
              </a:rPr>
              <a:t>6.6</a:t>
            </a:r>
            <a:endParaRPr lang="en-US" sz="1000" dirty="0"/>
          </a:p>
        </p:txBody>
      </p:sp>
      <p:sp>
        <p:nvSpPr>
          <p:cNvPr id="57" name="Text 55"/>
          <p:cNvSpPr txBox="1"/>
          <p:nvPr/>
        </p:nvSpPr>
        <p:spPr>
          <a:xfrm>
            <a:off x="7315200" y="5138928"/>
            <a:ext cx="2377440" cy="411480"/>
          </a:xfrm>
          <a:prstGeom prst="rect">
            <a:avLst/>
          </a:prstGeom>
          <a:noFill/>
          <a:ln/>
        </p:spPr>
        <p:txBody>
          <a:bodyPr wrap="square" lIns="0" tIns="0" rIns="0" bIns="0" rtlCol="0" anchor="ctr"/>
          <a:lstStyle/>
          <a:p>
            <a:pPr marL="0" indent="0" algn="ctr">
              <a:lnSpc>
                <a:spcPct val="100000"/>
              </a:lnSpc>
              <a:buNone/>
            </a:pPr>
            <a:r>
              <a:rPr lang="en-US" sz="1150" dirty="0">
                <a:solidFill>
                  <a:srgbClr val="FFFFFF"/>
                </a:solidFill>
                <a:latin typeface="Calibri" pitchFamily="34" charset="0"/>
                <a:ea typeface="Calibri" pitchFamily="34" charset="-122"/>
                <a:cs typeface="Calibri" pitchFamily="34" charset="-120"/>
              </a:rPr>
              <a:t>Transition</a:t>
            </a:r>
            <a:endParaRPr lang="en-US" sz="1150" dirty="0"/>
          </a:p>
        </p:txBody>
      </p:sp>
      <p:sp>
        <p:nvSpPr>
          <p:cNvPr id="58" name="Text 56"/>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6 STORYBOARD  ·  NOT BUILT</a:t>
            </a:r>
            <a:endParaRPr lang="en-US" sz="900" dirty="0"/>
          </a:p>
        </p:txBody>
      </p:sp>
      <p:sp>
        <p:nvSpPr>
          <p:cNvPr id="59" name="Text 57"/>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MAP</a:t>
            </a:r>
            <a:endParaRPr lang="en-US" sz="900" dirty="0"/>
          </a:p>
        </p:txBody>
      </p:sp>
      <p:sp>
        <p:nvSpPr>
          <p:cNvPr id="60" name="Bloom Key Label"/>
          <p:cNvSpPr txBox="1"/>
          <p:nvPr/>
        </p:nvSpPr>
        <p:spPr>
          <a:xfrm>
            <a:off x="457200" y="3063240"/>
            <a:ext cx="4114800" cy="228600"/>
          </a:xfrm>
          <a:prstGeom prst="rect">
            <a:avLst/>
          </a:prstGeom>
          <a:noFill/>
          <a:ln/>
        </p:spPr>
        <p:txBody>
          <a:bodyPr wrap="square" lIns="0" tIns="0" rIns="0" bIns="0" rtlCol="0" anchor="ctr"/>
          <a:lstStyle/>
          <a:p>
            <a:pPr marL="0" indent="0">
              <a:buNone/>
            </a:pPr>
            <a:r>
              <a:rPr lang="en-US" sz="1000" b="1" kern="0" spc="100" dirty="0">
                <a:solidFill>
                  <a:srgbClr val="5B6785"/>
                </a:solidFill>
                <a:latin typeface="Calibri" pitchFamily="34" charset="0"/>
                <a:ea typeface="Calibri" pitchFamily="34" charset="-122"/>
                <a:cs typeface="Calibri" pitchFamily="34" charset="-120"/>
              </a:rPr>
              <a:t>BLOOM’S LEVEL BY SCREEN</a:t>
            </a:r>
          </a:p>
        </p:txBody>
      </p:sp>
      <p:sp>
        <p:nvSpPr>
          <p:cNvPr id="61" name="Bloom Key"/>
          <p:cNvSpPr txBox="1"/>
          <p:nvPr/>
        </p:nvSpPr>
        <p:spPr>
          <a:xfrm>
            <a:off x="457200" y="3337560"/>
            <a:ext cx="5669280" cy="1234440"/>
          </a:xfrm>
          <a:prstGeom prst="rect">
            <a:avLst/>
          </a:prstGeom>
          <a:noFill/>
          <a:ln/>
        </p:spPr>
        <p:txBody>
          <a:bodyPr wrap="square" lIns="0" tIns="0" rIns="0" bIns="0" rtlCol="0" anchor="t"/>
          <a:lstStyle/>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6.1   </a:t>
            </a:r>
            <a:r>
              <a:rPr lang="en-US" sz="1000" dirty="0">
                <a:solidFill>
                  <a:srgbClr val="5B6785"/>
                </a:solidFill>
                <a:latin typeface="Calibri" pitchFamily="34" charset="0"/>
                <a:ea typeface="Calibri" pitchFamily="34" charset="-122"/>
                <a:cs typeface="Calibri" pitchFamily="34" charset="-120"/>
              </a:rPr>
              <a:t>Understand</a:t>
            </a:r>
          </a:p>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6.2   </a:t>
            </a:r>
            <a:r>
              <a:rPr lang="en-US" sz="1000" dirty="0">
                <a:solidFill>
                  <a:srgbClr val="5B6785"/>
                </a:solidFill>
                <a:latin typeface="Calibri" pitchFamily="34" charset="0"/>
                <a:ea typeface="Calibri" pitchFamily="34" charset="-122"/>
                <a:cs typeface="Calibri" pitchFamily="34" charset="-120"/>
              </a:rPr>
              <a:t>Apply → Evaluate</a:t>
            </a:r>
          </a:p>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6.3 A–C   </a:t>
            </a:r>
            <a:r>
              <a:rPr lang="en-US" sz="1000" dirty="0">
                <a:solidFill>
                  <a:srgbClr val="5B6785"/>
                </a:solidFill>
                <a:latin typeface="Calibri" pitchFamily="34" charset="0"/>
                <a:ea typeface="Calibri" pitchFamily="34" charset="-122"/>
                <a:cs typeface="Calibri" pitchFamily="34" charset="-120"/>
              </a:rPr>
              <a:t>Evaluate</a:t>
            </a:r>
          </a:p>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6.5   </a:t>
            </a:r>
            <a:r>
              <a:rPr lang="en-US" sz="1000" dirty="0">
                <a:solidFill>
                  <a:srgbClr val="5B6785"/>
                </a:solidFill>
                <a:latin typeface="Calibri" pitchFamily="34" charset="0"/>
                <a:ea typeface="Calibri" pitchFamily="34" charset="-122"/>
                <a:cs typeface="Calibri" pitchFamily="34" charset="-120"/>
              </a:rPr>
              <a:t>Apply</a:t>
            </a:r>
          </a:p>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6.4   </a:t>
            </a:r>
            <a:r>
              <a:rPr lang="en-US" sz="1000" dirty="0">
                <a:solidFill>
                  <a:srgbClr val="5B6785"/>
                </a:solidFill>
                <a:latin typeface="Calibri" pitchFamily="34" charset="0"/>
                <a:ea typeface="Calibri" pitchFamily="34" charset="-122"/>
                <a:cs typeface="Calibri" pitchFamily="34" charset="-120"/>
              </a:rPr>
              <a:t>Understand → Analyze</a:t>
            </a:r>
          </a:p>
        </p:txBody>
      </p:sp>
      <p:sp>
        <p:nvSpPr>
          <p:cNvPr id="62" name="Shape 49"/>
          <p:cNvSpPr/>
          <p:nvPr/>
        </p:nvSpPr>
        <p:spPr>
          <a:xfrm>
            <a:off x="4937760" y="4846320"/>
            <a:ext cx="2240280" cy="777240"/>
          </a:xfrm>
          <a:prstGeom prst="roundRect">
            <a:avLst>
              <a:gd name="adj" fmla="val 8235"/>
            </a:avLst>
          </a:prstGeom>
          <a:solidFill>
            <a:srgbClr val="1E2761"/>
          </a:solidFill>
          <a:ln/>
        </p:spPr>
        <p:txBody>
          <a:bodyPr/>
          <a:lstStyle/>
          <a:p>
            <a:endParaRPr/>
          </a:p>
        </p:txBody>
      </p:sp>
      <p:sp>
        <p:nvSpPr>
          <p:cNvPr id="63" name="Text 50"/>
          <p:cNvSpPr txBox="1"/>
          <p:nvPr/>
        </p:nvSpPr>
        <p:spPr>
          <a:xfrm>
            <a:off x="4937760" y="4937760"/>
            <a:ext cx="2240280" cy="201168"/>
          </a:xfrm>
          <a:prstGeom prst="rect">
            <a:avLst/>
          </a:prstGeom>
          <a:noFill/>
          <a:ln/>
        </p:spPr>
        <p:txBody>
          <a:bodyPr wrap="square" lIns="0" tIns="0" rIns="0" bIns="0" rtlCol="0" anchor="ctr"/>
          <a:lstStyle/>
          <a:p>
            <a:pPr marL="0" indent="0" algn="ctr">
              <a:buNone/>
            </a:pPr>
            <a:r>
              <a:rPr lang="en-US" sz="1000" b="1" dirty="0">
                <a:solidFill>
                  <a:srgbClr val="CADCFC"/>
                </a:solidFill>
                <a:latin typeface="Calibri" pitchFamily="34" charset="0"/>
                <a:ea typeface="Calibri" pitchFamily="34" charset="-122"/>
                <a:cs typeface="Calibri" pitchFamily="34" charset="-120"/>
              </a:rPr>
              <a:t>6.5</a:t>
            </a:r>
            <a:endParaRPr lang="en-US" sz="1000" dirty="0"/>
          </a:p>
        </p:txBody>
      </p:sp>
      <p:sp>
        <p:nvSpPr>
          <p:cNvPr id="64" name="Text 51"/>
          <p:cNvSpPr txBox="1"/>
          <p:nvPr/>
        </p:nvSpPr>
        <p:spPr>
          <a:xfrm>
            <a:off x="4937760" y="5138928"/>
            <a:ext cx="2240280" cy="411480"/>
          </a:xfrm>
          <a:prstGeom prst="rect">
            <a:avLst/>
          </a:prstGeom>
          <a:noFill/>
          <a:ln/>
        </p:spPr>
        <p:txBody>
          <a:bodyPr wrap="square" lIns="0" tIns="0" rIns="0" bIns="0" rtlCol="0" anchor="ctr"/>
          <a:lstStyle/>
          <a:p>
            <a:pPr marL="0" indent="0" algn="ctr">
              <a:lnSpc>
                <a:spcPct val="100000"/>
              </a:lnSpc>
              <a:buNone/>
            </a:pPr>
            <a:r>
              <a:rPr lang="en-US" sz="1150" dirty="0">
                <a:solidFill>
                  <a:srgbClr val="FFFFFF"/>
                </a:solidFill>
                <a:latin typeface="Calibri" pitchFamily="34" charset="0"/>
                <a:ea typeface="Calibri" pitchFamily="34" charset="-122"/>
                <a:cs typeface="Calibri" pitchFamily="34" charset="-120"/>
              </a:rPr>
              <a:t>Transfer Practice</a:t>
            </a:r>
            <a:endParaRPr lang="en-US" sz="1150" dirty="0"/>
          </a:p>
        </p:txBody>
      </p:sp>
      <p:sp>
        <p:nvSpPr>
          <p:cNvPr id="65" name="Shape 52"/>
          <p:cNvSpPr/>
          <p:nvPr/>
        </p:nvSpPr>
        <p:spPr>
          <a:xfrm>
            <a:off x="7223760" y="5170932"/>
            <a:ext cx="301752" cy="128016"/>
          </a:xfrm>
          <a:prstGeom prst="rightArrow">
            <a:avLst/>
          </a:prstGeom>
          <a:solidFill>
            <a:srgbClr val="C9D3EA"/>
          </a:solidFill>
          <a:ln/>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SCREEN 6.1  ·  PROJECT UPDATE</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Situation Setup</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Learner reviews the situation before making a decision</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6</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Shape 6"/>
          <p:cNvSpPr/>
          <p:nvPr/>
        </p:nvSpPr>
        <p:spPr>
          <a:xfrm>
            <a:off x="822960" y="1783080"/>
            <a:ext cx="6903720" cy="3520440"/>
          </a:xfrm>
          <a:prstGeom prst="roundRect">
            <a:avLst>
              <a:gd name="adj" fmla="val 1558"/>
            </a:avLst>
          </a:prstGeom>
          <a:solidFill>
            <a:srgbClr val="F7F9FE"/>
          </a:solidFill>
          <a:ln w="12700">
            <a:solidFill>
              <a:srgbClr val="C9D3EA"/>
            </a:solidFill>
            <a:prstDash val="solid"/>
          </a:ln>
        </p:spPr>
        <p:txBody>
          <a:bodyPr/>
          <a:lstStyle/>
          <a:p>
            <a:endParaRPr/>
          </a:p>
        </p:txBody>
      </p:sp>
      <p:sp>
        <p:nvSpPr>
          <p:cNvPr id="9" name="Text 7"/>
          <p:cNvSpPr txBox="1"/>
          <p:nvPr/>
        </p:nvSpPr>
        <p:spPr>
          <a:xfrm>
            <a:off x="1051560" y="1920240"/>
            <a:ext cx="2743200" cy="256032"/>
          </a:xfrm>
          <a:prstGeom prst="rect">
            <a:avLst/>
          </a:prstGeom>
          <a:noFill/>
          <a:ln/>
        </p:spPr>
        <p:txBody>
          <a:bodyPr wrap="square" lIns="0" tIns="0" rIns="0" bIns="0" rtlCol="0" anchor="ctr"/>
          <a:lstStyle/>
          <a:p>
            <a:pPr marL="0" indent="0">
              <a:buNone/>
            </a:pPr>
            <a:r>
              <a:rPr lang="en-US" sz="950" b="1" kern="0" spc="150" dirty="0">
                <a:solidFill>
                  <a:srgbClr val="5B6785"/>
                </a:solidFill>
                <a:latin typeface="Calibri" pitchFamily="34" charset="0"/>
                <a:ea typeface="Calibri" pitchFamily="34" charset="-122"/>
                <a:cs typeface="Calibri" pitchFamily="34" charset="-120"/>
              </a:rPr>
              <a:t>WORKBOARD</a:t>
            </a:r>
            <a:endParaRPr lang="en-US" sz="950" dirty="0"/>
          </a:p>
        </p:txBody>
      </p:sp>
      <p:sp>
        <p:nvSpPr>
          <p:cNvPr id="10" name="Shape 8"/>
          <p:cNvSpPr/>
          <p:nvPr/>
        </p:nvSpPr>
        <p:spPr>
          <a:xfrm>
            <a:off x="1051560" y="2286000"/>
            <a:ext cx="502920" cy="502920"/>
          </a:xfrm>
          <a:prstGeom prst="ellipse">
            <a:avLst/>
          </a:prstGeom>
          <a:solidFill>
            <a:srgbClr val="1E2761"/>
          </a:solidFill>
          <a:ln/>
        </p:spPr>
        <p:txBody>
          <a:bodyPr/>
          <a:lstStyle/>
          <a:p>
            <a:endParaRPr/>
          </a:p>
        </p:txBody>
      </p:sp>
      <p:sp>
        <p:nvSpPr>
          <p:cNvPr id="11" name="Text 9"/>
          <p:cNvSpPr txBox="1"/>
          <p:nvPr/>
        </p:nvSpPr>
        <p:spPr>
          <a:xfrm>
            <a:off x="1051560" y="228600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PN</a:t>
            </a:r>
            <a:endParaRPr lang="en-US" sz="1300" dirty="0"/>
          </a:p>
        </p:txBody>
      </p:sp>
      <p:sp>
        <p:nvSpPr>
          <p:cNvPr id="12" name="Text 10"/>
          <p:cNvSpPr txBox="1"/>
          <p:nvPr/>
        </p:nvSpPr>
        <p:spPr>
          <a:xfrm>
            <a:off x="1691640" y="2258568"/>
            <a:ext cx="5440680" cy="256032"/>
          </a:xfrm>
          <a:prstGeom prst="rect">
            <a:avLst/>
          </a:prstGeom>
          <a:noFill/>
          <a:ln/>
        </p:spPr>
        <p:txBody>
          <a:bodyPr wrap="square" lIns="0" tIns="0" rIns="0" bIns="0" rtlCol="0" anchor="ctr"/>
          <a:lstStyle/>
          <a:p>
            <a:pPr marL="0" indent="0">
              <a:buNone/>
            </a:pPr>
            <a:r>
              <a:rPr lang="en-US" sz="1300" b="1" dirty="0">
                <a:solidFill>
                  <a:srgbClr val="1B1F3B"/>
                </a:solidFill>
                <a:latin typeface="Calibri" pitchFamily="34" charset="0"/>
                <a:ea typeface="Calibri" pitchFamily="34" charset="-122"/>
                <a:cs typeface="Calibri" pitchFamily="34" charset="-120"/>
              </a:rPr>
              <a:t>Priya Nair</a:t>
            </a:r>
            <a:endParaRPr lang="en-US" sz="1300" dirty="0"/>
          </a:p>
        </p:txBody>
      </p:sp>
      <p:sp>
        <p:nvSpPr>
          <p:cNvPr id="13" name="Text 11"/>
          <p:cNvSpPr txBox="1"/>
          <p:nvPr/>
        </p:nvSpPr>
        <p:spPr>
          <a:xfrm>
            <a:off x="1691640" y="2505456"/>
            <a:ext cx="5440680" cy="228600"/>
          </a:xfrm>
          <a:prstGeom prst="rect">
            <a:avLst/>
          </a:prstGeom>
          <a:noFill/>
          <a:ln/>
        </p:spPr>
        <p:txBody>
          <a:bodyPr wrap="square" lIns="0" tIns="0" rIns="0" bIns="0" rtlCol="0" anchor="ctr"/>
          <a:lstStyle/>
          <a:p>
            <a:pPr marL="0" indent="0">
              <a:buNone/>
            </a:pPr>
            <a:r>
              <a:rPr lang="en-US" sz="1050" dirty="0">
                <a:solidFill>
                  <a:srgbClr val="5B6785"/>
                </a:solidFill>
                <a:latin typeface="Calibri" pitchFamily="34" charset="0"/>
                <a:ea typeface="Calibri" pitchFamily="34" charset="-122"/>
                <a:cs typeface="Calibri" pitchFamily="34" charset="-120"/>
              </a:rPr>
              <a:t>Design Team · Joint project</a:t>
            </a:r>
            <a:endParaRPr lang="en-US" sz="1050" dirty="0"/>
          </a:p>
        </p:txBody>
      </p:sp>
      <p:sp>
        <p:nvSpPr>
          <p:cNvPr id="14" name="Shape 12"/>
          <p:cNvSpPr/>
          <p:nvPr/>
        </p:nvSpPr>
        <p:spPr>
          <a:xfrm>
            <a:off x="1051560" y="2944368"/>
            <a:ext cx="6080760" cy="1051560"/>
          </a:xfrm>
          <a:prstGeom prst="roundRect">
            <a:avLst>
              <a:gd name="adj" fmla="val 5217"/>
            </a:avLst>
          </a:prstGeom>
          <a:solidFill>
            <a:srgbClr val="FFFFFF"/>
          </a:solidFill>
          <a:ln w="12700">
            <a:solidFill>
              <a:srgbClr val="C9D3EA"/>
            </a:solidFill>
            <a:prstDash val="solid"/>
          </a:ln>
        </p:spPr>
        <p:txBody>
          <a:bodyPr/>
          <a:lstStyle/>
          <a:p>
            <a:endParaRPr/>
          </a:p>
        </p:txBody>
      </p:sp>
      <p:sp>
        <p:nvSpPr>
          <p:cNvPr id="15" name="Text 13"/>
          <p:cNvSpPr txBox="1"/>
          <p:nvPr/>
        </p:nvSpPr>
        <p:spPr>
          <a:xfrm>
            <a:off x="1280160" y="3054096"/>
            <a:ext cx="5623560" cy="841248"/>
          </a:xfrm>
          <a:prstGeom prst="rect">
            <a:avLst/>
          </a:prstGeom>
          <a:noFill/>
          <a:ln/>
        </p:spPr>
        <p:txBody>
          <a:bodyPr wrap="square" lIns="0" tIns="0" rIns="0" bIns="0" rtlCol="0" anchor="t"/>
          <a:lstStyle/>
          <a:p>
            <a:pPr marL="0" indent="0">
              <a:lnSpc>
                <a:spcPct val="115000"/>
              </a:lnSpc>
              <a:buNone/>
            </a:pPr>
            <a:r>
              <a:rPr lang="en-US" sz="1250" dirty="0">
                <a:solidFill>
                  <a:srgbClr val="1B1F3B"/>
                </a:solidFill>
                <a:latin typeface="Calibri" pitchFamily="34" charset="0"/>
                <a:ea typeface="Calibri" pitchFamily="34" charset="-122"/>
                <a:cs typeface="Calibri" pitchFamily="34" charset="-120"/>
              </a:rPr>
              <a:t>Hey! Just checking — are we still on track for tomorrow? I’ve got my part nearly done on my end.</a:t>
            </a:r>
            <a:endParaRPr lang="en-US" sz="1250" dirty="0"/>
          </a:p>
        </p:txBody>
      </p:sp>
      <p:sp>
        <p:nvSpPr>
          <p:cNvPr id="16" name="Text 14"/>
          <p:cNvSpPr txBox="1"/>
          <p:nvPr/>
        </p:nvSpPr>
        <p:spPr>
          <a:xfrm>
            <a:off x="1051560" y="4297680"/>
            <a:ext cx="6080760" cy="777240"/>
          </a:xfrm>
          <a:prstGeom prst="rect">
            <a:avLst/>
          </a:prstGeom>
          <a:noFill/>
          <a:ln/>
        </p:spPr>
        <p:txBody>
          <a:bodyPr wrap="square" lIns="0" tIns="0" rIns="0" bIns="0" rtlCol="0" anchor="ctr"/>
          <a:lstStyle/>
          <a:p>
            <a:pPr marL="0" indent="0">
              <a:lnSpc>
                <a:spcPct val="125000"/>
              </a:lnSpc>
              <a:buNone/>
            </a:pPr>
            <a:r>
              <a:rPr lang="en-US" sz="1300" i="1" dirty="0">
                <a:solidFill>
                  <a:srgbClr val="1B1F3B"/>
                </a:solidFill>
                <a:latin typeface="Calibri" pitchFamily="34" charset="0"/>
                <a:ea typeface="Calibri" pitchFamily="34" charset="-122"/>
                <a:cs typeface="Calibri" pitchFamily="34" charset="-120"/>
              </a:rPr>
              <a:t>You’re behind on your part of the deliverable, and you haven’t told anyone yet. The deadline is tomorrow.</a:t>
            </a:r>
            <a:endParaRPr lang="en-US" sz="1300" dirty="0"/>
          </a:p>
        </p:txBody>
      </p:sp>
      <p:sp>
        <p:nvSpPr>
          <p:cNvPr id="17" name="Text 15"/>
          <p:cNvSpPr txBox="1"/>
          <p:nvPr/>
        </p:nvSpPr>
        <p:spPr>
          <a:xfrm>
            <a:off x="1051560" y="4937760"/>
            <a:ext cx="608076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What do you do?</a:t>
            </a:r>
            <a:endParaRPr lang="en-US" sz="1600" dirty="0"/>
          </a:p>
        </p:txBody>
      </p:sp>
      <p:sp>
        <p:nvSpPr>
          <p:cNvPr id="18" name="Shape 16"/>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9" name="Text 17"/>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SCREEN</a:t>
            </a:r>
            <a:endParaRPr lang="en-US" sz="900" dirty="0"/>
          </a:p>
        </p:txBody>
      </p:sp>
      <p:sp>
        <p:nvSpPr>
          <p:cNvPr id="20" name="Text 18"/>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6.1</a:t>
            </a:r>
            <a:endParaRPr lang="en-US" sz="1500" dirty="0"/>
          </a:p>
        </p:txBody>
      </p:sp>
      <p:sp>
        <p:nvSpPr>
          <p:cNvPr id="21" name="Shape 19"/>
          <p:cNvSpPr/>
          <p:nvPr/>
        </p:nvSpPr>
        <p:spPr>
          <a:xfrm>
            <a:off x="8595360" y="2432304"/>
            <a:ext cx="2862072" cy="10973"/>
          </a:xfrm>
          <a:prstGeom prst="rect">
            <a:avLst/>
          </a:prstGeom>
          <a:solidFill>
            <a:srgbClr val="39447A"/>
          </a:solidFill>
          <a:ln/>
        </p:spPr>
        <p:txBody>
          <a:bodyPr/>
          <a:lstStyle/>
          <a:p>
            <a:endParaRPr/>
          </a:p>
        </p:txBody>
      </p:sp>
      <p:sp>
        <p:nvSpPr>
          <p:cNvPr id="22" name="Text 20"/>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3" name="Text 21"/>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reads the WorkBoard message and situation, then presses Continue to the decision point.</a:t>
            </a:r>
            <a:endParaRPr lang="en-US" sz="1150" dirty="0"/>
          </a:p>
        </p:txBody>
      </p:sp>
      <p:sp>
        <p:nvSpPr>
          <p:cNvPr id="24" name="Shape 22"/>
          <p:cNvSpPr/>
          <p:nvPr/>
        </p:nvSpPr>
        <p:spPr>
          <a:xfrm>
            <a:off x="8595360" y="3758184"/>
            <a:ext cx="2862072" cy="10973"/>
          </a:xfrm>
          <a:prstGeom prst="rect">
            <a:avLst/>
          </a:prstGeom>
          <a:solidFill>
            <a:srgbClr val="39447A"/>
          </a:solidFill>
          <a:ln/>
        </p:spPr>
        <p:txBody>
          <a:bodyPr/>
          <a:lstStyle/>
          <a:p>
            <a:endParaRPr/>
          </a:p>
        </p:txBody>
      </p:sp>
      <p:sp>
        <p:nvSpPr>
          <p:cNvPr id="25" name="Text 23"/>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6" name="Text 24"/>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Trigger: Continue button → jump to 6.2 on click</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Reuses the project-tool message pattern (WorkBoard) rather than chat/email, to keep Module 6 visually distinct from Module 4</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Keep the situation ordinary — a stretched timeline, not a crisis — so the decision is genuinely about when to speak up</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score impact on this screen</a:t>
            </a:r>
            <a:endParaRPr lang="en-US" sz="1050" dirty="0"/>
          </a:p>
        </p:txBody>
      </p:sp>
      <p:sp>
        <p:nvSpPr>
          <p:cNvPr id="27" name="Text 25"/>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6 STORYBOARD</a:t>
            </a:r>
            <a:endParaRPr lang="en-US" sz="900" dirty="0"/>
          </a:p>
        </p:txBody>
      </p:sp>
      <p:sp>
        <p:nvSpPr>
          <p:cNvPr id="28" name="Text 26"/>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6.1</a:t>
            </a:r>
            <a:endParaRPr lang="en-US" sz="900" dirty="0"/>
          </a:p>
        </p:txBody>
      </p:sp>
      <p:sp>
        <p:nvSpPr>
          <p:cNvPr id="29"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Understand</a:t>
            </a:r>
          </a:p>
          <a:p>
            <a:pPr marL="0" indent="0" algn="r">
              <a:buNone/>
            </a:pPr>
            <a:r>
              <a:rPr lang="en-US" sz="1000" i="1" dirty="0">
                <a:solidFill>
                  <a:srgbClr val="5B6785"/>
                </a:solidFill>
                <a:latin typeface="Calibri" pitchFamily="34" charset="0"/>
                <a:ea typeface="Calibri" pitchFamily="34" charset="-122"/>
                <a:cs typeface="Calibri" pitchFamily="34" charset="-120"/>
              </a:rPr>
              <a:t>Reads and interprets the situation before any decision.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SCREEN 6.2  ·  DECISION POINT</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Decision Point</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Learner selects one response — single attempt</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6</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6903720" cy="411480"/>
          </a:xfrm>
          <a:prstGeom prst="rect">
            <a:avLst/>
          </a:prstGeom>
          <a:noFill/>
          <a:ln/>
        </p:spPr>
        <p:txBody>
          <a:bodyPr wrap="square" lIns="0" tIns="0" rIns="0" bIns="0"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The deadline is tomorrow. What do you do?</a:t>
            </a:r>
            <a:endParaRPr lang="en-US" sz="1500" dirty="0"/>
          </a:p>
        </p:txBody>
      </p:sp>
      <p:sp>
        <p:nvSpPr>
          <p:cNvPr id="9" name="Shape 7"/>
          <p:cNvSpPr/>
          <p:nvPr/>
        </p:nvSpPr>
        <p:spPr>
          <a:xfrm>
            <a:off x="822960" y="2286000"/>
            <a:ext cx="6903720" cy="868680"/>
          </a:xfrm>
          <a:prstGeom prst="roundRect">
            <a:avLst>
              <a:gd name="adj" fmla="val 6316"/>
            </a:avLst>
          </a:prstGeom>
          <a:solidFill>
            <a:srgbClr val="FFFFFF"/>
          </a:solidFill>
          <a:ln w="12700">
            <a:solidFill>
              <a:srgbClr val="C9D3EA"/>
            </a:solidFill>
            <a:prstDash val="solid"/>
          </a:ln>
        </p:spPr>
        <p:txBody>
          <a:bodyPr/>
          <a:lstStyle/>
          <a:p>
            <a:endParaRPr/>
          </a:p>
        </p:txBody>
      </p:sp>
      <p:sp>
        <p:nvSpPr>
          <p:cNvPr id="10" name="Shape 8"/>
          <p:cNvSpPr/>
          <p:nvPr/>
        </p:nvSpPr>
        <p:spPr>
          <a:xfrm>
            <a:off x="1005840" y="2519172"/>
            <a:ext cx="402336" cy="402336"/>
          </a:xfrm>
          <a:prstGeom prst="ellipse">
            <a:avLst/>
          </a:prstGeom>
          <a:solidFill>
            <a:srgbClr val="B23A2E"/>
          </a:solidFill>
          <a:ln/>
        </p:spPr>
        <p:txBody>
          <a:bodyPr/>
          <a:lstStyle/>
          <a:p>
            <a:endParaRPr/>
          </a:p>
        </p:txBody>
      </p:sp>
      <p:sp>
        <p:nvSpPr>
          <p:cNvPr id="11" name="Text 9"/>
          <p:cNvSpPr txBox="1"/>
          <p:nvPr/>
        </p:nvSpPr>
        <p:spPr>
          <a:xfrm>
            <a:off x="1005840" y="251917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10"/>
          <p:cNvSpPr txBox="1"/>
          <p:nvPr/>
        </p:nvSpPr>
        <p:spPr>
          <a:xfrm>
            <a:off x="1554480" y="2286000"/>
            <a:ext cx="5943600" cy="868680"/>
          </a:xfrm>
          <a:prstGeom prst="rect">
            <a:avLst/>
          </a:prstGeom>
          <a:noFill/>
          <a:ln/>
        </p:spPr>
        <p:txBody>
          <a:bodyPr wrap="square" lIns="0" tIns="0" rIns="0" bIns="0" rtlCol="0" anchor="ctr"/>
          <a:lstStyle/>
          <a:p>
            <a:pPr marL="0" indent="0">
              <a:lnSpc>
                <a:spcPct val="110000"/>
              </a:lnSpc>
              <a:buNone/>
            </a:pPr>
            <a:r>
              <a:rPr lang="en-US" sz="1250" dirty="0">
                <a:solidFill>
                  <a:srgbClr val="1B1F3B"/>
                </a:solidFill>
                <a:latin typeface="Calibri" pitchFamily="34" charset="0"/>
                <a:ea typeface="Calibri" pitchFamily="34" charset="-122"/>
                <a:cs typeface="Calibri" pitchFamily="34" charset="-120"/>
              </a:rPr>
              <a:t>Wait and see how things go — you might still catch up on your own.</a:t>
            </a:r>
            <a:endParaRPr lang="en-US" sz="1250" dirty="0"/>
          </a:p>
        </p:txBody>
      </p:sp>
      <p:sp>
        <p:nvSpPr>
          <p:cNvPr id="13" name="Shape 11"/>
          <p:cNvSpPr/>
          <p:nvPr/>
        </p:nvSpPr>
        <p:spPr>
          <a:xfrm>
            <a:off x="822960" y="3273552"/>
            <a:ext cx="6903720" cy="868680"/>
          </a:xfrm>
          <a:prstGeom prst="roundRect">
            <a:avLst>
              <a:gd name="adj" fmla="val 6316"/>
            </a:avLst>
          </a:prstGeom>
          <a:solidFill>
            <a:srgbClr val="FFFFFF"/>
          </a:solidFill>
          <a:ln w="12700">
            <a:solidFill>
              <a:srgbClr val="C9D3EA"/>
            </a:solidFill>
            <a:prstDash val="solid"/>
          </a:ln>
        </p:spPr>
        <p:txBody>
          <a:bodyPr/>
          <a:lstStyle/>
          <a:p>
            <a:endParaRPr/>
          </a:p>
        </p:txBody>
      </p:sp>
      <p:sp>
        <p:nvSpPr>
          <p:cNvPr id="14" name="Shape 12"/>
          <p:cNvSpPr/>
          <p:nvPr/>
        </p:nvSpPr>
        <p:spPr>
          <a:xfrm>
            <a:off x="1005840" y="3506724"/>
            <a:ext cx="402336" cy="402336"/>
          </a:xfrm>
          <a:prstGeom prst="ellipse">
            <a:avLst/>
          </a:prstGeom>
          <a:solidFill>
            <a:srgbClr val="B8860B"/>
          </a:solidFill>
          <a:ln/>
        </p:spPr>
        <p:txBody>
          <a:bodyPr/>
          <a:lstStyle/>
          <a:p>
            <a:endParaRPr/>
          </a:p>
        </p:txBody>
      </p:sp>
      <p:sp>
        <p:nvSpPr>
          <p:cNvPr id="15" name="Text 13"/>
          <p:cNvSpPr txBox="1"/>
          <p:nvPr/>
        </p:nvSpPr>
        <p:spPr>
          <a:xfrm>
            <a:off x="1005840" y="350672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4"/>
          <p:cNvSpPr txBox="1"/>
          <p:nvPr/>
        </p:nvSpPr>
        <p:spPr>
          <a:xfrm>
            <a:off x="1554480" y="3273552"/>
            <a:ext cx="5943600" cy="868680"/>
          </a:xfrm>
          <a:prstGeom prst="rect">
            <a:avLst/>
          </a:prstGeom>
          <a:noFill/>
          <a:ln/>
        </p:spPr>
        <p:txBody>
          <a:bodyPr wrap="square" lIns="0" tIns="0" rIns="0" bIns="0" rtlCol="0" anchor="ctr"/>
          <a:lstStyle/>
          <a:p>
            <a:pPr marL="0" indent="0">
              <a:lnSpc>
                <a:spcPct val="110000"/>
              </a:lnSpc>
              <a:buNone/>
            </a:pPr>
            <a:r>
              <a:rPr lang="en-US" sz="1250" dirty="0">
                <a:solidFill>
                  <a:srgbClr val="1B1F3B"/>
                </a:solidFill>
                <a:latin typeface="Calibri" pitchFamily="34" charset="0"/>
                <a:ea typeface="Calibri" pitchFamily="34" charset="-122"/>
                <a:cs typeface="Calibri" pitchFamily="34" charset="-120"/>
              </a:rPr>
              <a:t>Tell Priya and your manager now, and talk through options together.</a:t>
            </a:r>
            <a:endParaRPr lang="en-US" sz="1250" dirty="0"/>
          </a:p>
        </p:txBody>
      </p:sp>
      <p:sp>
        <p:nvSpPr>
          <p:cNvPr id="17" name="Shape 15"/>
          <p:cNvSpPr/>
          <p:nvPr/>
        </p:nvSpPr>
        <p:spPr>
          <a:xfrm>
            <a:off x="822960" y="5248656"/>
            <a:ext cx="6903720" cy="868680"/>
          </a:xfrm>
          <a:prstGeom prst="roundRect">
            <a:avLst>
              <a:gd name="adj" fmla="val 6316"/>
            </a:avLst>
          </a:prstGeom>
          <a:solidFill>
            <a:srgbClr val="FFFFFF"/>
          </a:solidFill>
          <a:ln w="12700">
            <a:solidFill>
              <a:srgbClr val="C9D3EA"/>
            </a:solidFill>
            <a:prstDash val="solid"/>
          </a:ln>
        </p:spPr>
        <p:txBody>
          <a:bodyPr/>
          <a:lstStyle/>
          <a:p>
            <a:endParaRPr/>
          </a:p>
        </p:txBody>
      </p:sp>
      <p:sp>
        <p:nvSpPr>
          <p:cNvPr id="18" name="Shape 16"/>
          <p:cNvSpPr/>
          <p:nvPr/>
        </p:nvSpPr>
        <p:spPr>
          <a:xfrm>
            <a:off x="1005840" y="5248656"/>
            <a:ext cx="402336" cy="402336"/>
          </a:xfrm>
          <a:prstGeom prst="ellipse">
            <a:avLst/>
          </a:prstGeom>
          <a:solidFill>
            <a:srgbClr val="2C7A4B"/>
          </a:solidFill>
          <a:ln/>
        </p:spPr>
        <p:txBody>
          <a:bodyPr/>
          <a:lstStyle/>
          <a:p>
            <a:endParaRPr/>
          </a:p>
        </p:txBody>
      </p:sp>
      <p:sp>
        <p:nvSpPr>
          <p:cNvPr id="19" name="Text 17"/>
          <p:cNvSpPr txBox="1"/>
          <p:nvPr/>
        </p:nvSpPr>
        <p:spPr>
          <a:xfrm>
            <a:off x="1005840" y="524865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554480" y="5248656"/>
            <a:ext cx="5943600" cy="868680"/>
          </a:xfrm>
          <a:prstGeom prst="rect">
            <a:avLst/>
          </a:prstGeom>
          <a:noFill/>
          <a:ln/>
        </p:spPr>
        <p:txBody>
          <a:bodyPr wrap="square" lIns="0" tIns="0" rIns="0" bIns="0" rtlCol="0" anchor="ctr"/>
          <a:lstStyle/>
          <a:p>
            <a:pPr marL="0" indent="0">
              <a:lnSpc>
                <a:spcPct val="110000"/>
              </a:lnSpc>
              <a:buNone/>
            </a:pPr>
            <a:r>
              <a:rPr lang="en-US" sz="1250" dirty="0">
                <a:solidFill>
                  <a:srgbClr val="1B1F3B"/>
                </a:solidFill>
                <a:latin typeface="Calibri" pitchFamily="34" charset="0"/>
                <a:ea typeface="Calibri" pitchFamily="34" charset="-122"/>
                <a:cs typeface="Calibri" pitchFamily="34" charset="-120"/>
              </a:rPr>
              <a:t>Ask Priya to quietly cover your part, without saying why.</a:t>
            </a:r>
            <a:endParaRPr lang="en-US" sz="1250" dirty="0"/>
          </a:p>
        </p:txBody>
      </p:sp>
      <p:sp>
        <p:nvSpPr>
          <p:cNvPr id="25" name="Shape 23"/>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26" name="Text 24"/>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SCREEN</a:t>
            </a:r>
            <a:endParaRPr lang="en-US" sz="900" dirty="0"/>
          </a:p>
        </p:txBody>
      </p:sp>
      <p:sp>
        <p:nvSpPr>
          <p:cNvPr id="27" name="Text 25"/>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6.2</a:t>
            </a:r>
            <a:endParaRPr lang="en-US" sz="1500" dirty="0"/>
          </a:p>
        </p:txBody>
      </p:sp>
      <p:sp>
        <p:nvSpPr>
          <p:cNvPr id="28" name="Shape 26"/>
          <p:cNvSpPr/>
          <p:nvPr/>
        </p:nvSpPr>
        <p:spPr>
          <a:xfrm>
            <a:off x="8595360" y="2432304"/>
            <a:ext cx="2862072" cy="10973"/>
          </a:xfrm>
          <a:prstGeom prst="rect">
            <a:avLst/>
          </a:prstGeom>
          <a:solidFill>
            <a:srgbClr val="39447A"/>
          </a:solidFill>
          <a:ln/>
        </p:spPr>
        <p:txBody>
          <a:bodyPr/>
          <a:lstStyle/>
          <a:p>
            <a:endParaRPr/>
          </a:p>
        </p:txBody>
      </p:sp>
      <p:sp>
        <p:nvSpPr>
          <p:cNvPr id="29" name="Text 27"/>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30" name="Text 28"/>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Three selectable response cards. Selecting one locks the choice and advances to the matching feedback layer.</a:t>
            </a:r>
            <a:endParaRPr lang="en-US" sz="1150" dirty="0"/>
          </a:p>
        </p:txBody>
      </p:sp>
      <p:sp>
        <p:nvSpPr>
          <p:cNvPr id="31" name="Shape 29"/>
          <p:cNvSpPr/>
          <p:nvPr/>
        </p:nvSpPr>
        <p:spPr>
          <a:xfrm>
            <a:off x="8595360" y="3758184"/>
            <a:ext cx="2862072" cy="10973"/>
          </a:xfrm>
          <a:prstGeom prst="rect">
            <a:avLst/>
          </a:prstGeom>
          <a:solidFill>
            <a:srgbClr val="39447A"/>
          </a:solidFill>
          <a:ln/>
        </p:spPr>
        <p:txBody>
          <a:bodyPr/>
          <a:lstStyle/>
          <a:p>
            <a:endParaRPr/>
          </a:p>
        </p:txBody>
      </p:sp>
      <p:sp>
        <p:nvSpPr>
          <p:cNvPr id="32" name="Text 30"/>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33" name="Text 31"/>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On click: set Choice_6 = A / B / C, set all three cards to Disabled, mark the clicked card Selected, show its layer</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Branch: A → 6.3 A, B → 6.3 B, C → 6.3 C</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Locked within a visit; slide resets on revisit, so going back with Prev gives a fresh decision</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“correct answer” styling shown at this stage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 learner is deciding</a:t>
            </a:r>
            <a:endParaRPr lang="en-US" sz="1050" dirty="0"/>
          </a:p>
        </p:txBody>
      </p:sp>
      <p:sp>
        <p:nvSpPr>
          <p:cNvPr id="34" name="Text 32"/>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6 STORYBOARD</a:t>
            </a:r>
            <a:endParaRPr lang="en-US" sz="900" dirty="0"/>
          </a:p>
        </p:txBody>
      </p:sp>
      <p:sp>
        <p:nvSpPr>
          <p:cNvPr id="35" name="Text 33"/>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6.2</a:t>
            </a:r>
            <a:endParaRPr lang="en-US" sz="900" dirty="0"/>
          </a:p>
        </p:txBody>
      </p:sp>
      <p:sp>
        <p:nvSpPr>
          <p:cNvPr id="36"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Apply → Evaluate</a:t>
            </a:r>
          </a:p>
          <a:p>
            <a:pPr marL="0" indent="0" algn="r">
              <a:buNone/>
            </a:pPr>
            <a:r>
              <a:rPr lang="en-US" sz="1000" i="1" dirty="0">
                <a:solidFill>
                  <a:srgbClr val="5B6785"/>
                </a:solidFill>
                <a:latin typeface="Calibri" pitchFamily="34" charset="0"/>
                <a:ea typeface="Calibri" pitchFamily="34" charset="-122"/>
                <a:cs typeface="Calibri" pitchFamily="34" charset="-120"/>
              </a:rPr>
              <a:t>Weighs three options against risk to the deliverable and the working relationship.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LAYER 6.3 A  ·  ON SLIDE 6.2 DECISION POINT</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Consequence &amp; Feedback</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“The Deadline Problem” — branch outcome</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6</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2743200" cy="228600"/>
          </a:xfrm>
          <a:prstGeom prst="rect">
            <a:avLst/>
          </a:prstGeom>
          <a:noFill/>
          <a:ln/>
        </p:spPr>
        <p:txBody>
          <a:bodyPr wrap="square" lIns="0" tIns="0" rIns="0" bIns="0" rtlCol="0" anchor="ctr"/>
          <a:lstStyle/>
          <a:p>
            <a:pPr marL="0" indent="0">
              <a:buNone/>
            </a:pPr>
            <a:r>
              <a:rPr lang="en-US" sz="900" b="1" kern="0" spc="120" dirty="0">
                <a:solidFill>
                  <a:srgbClr val="5B6785"/>
                </a:solidFill>
                <a:latin typeface="Calibri" pitchFamily="34" charset="0"/>
                <a:ea typeface="Calibri" pitchFamily="34" charset="-122"/>
                <a:cs typeface="Calibri" pitchFamily="34" charset="-120"/>
              </a:rPr>
              <a:t>YOU CHOSE</a:t>
            </a:r>
            <a:endParaRPr lang="en-US" sz="900" dirty="0"/>
          </a:p>
        </p:txBody>
      </p:sp>
      <p:sp>
        <p:nvSpPr>
          <p:cNvPr id="9" name="Text 7"/>
          <p:cNvSpPr txBox="1"/>
          <p:nvPr/>
        </p:nvSpPr>
        <p:spPr>
          <a:xfrm>
            <a:off x="822960" y="1984248"/>
            <a:ext cx="6903720" cy="50292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A — “Wait and see how things go.”</a:t>
            </a:r>
            <a:endParaRPr lang="en-US" sz="1600" dirty="0"/>
          </a:p>
        </p:txBody>
      </p:sp>
      <p:sp>
        <p:nvSpPr>
          <p:cNvPr id="10" name="Shape 8"/>
          <p:cNvSpPr/>
          <p:nvPr/>
        </p:nvSpPr>
        <p:spPr>
          <a:xfrm>
            <a:off x="822960" y="2606040"/>
            <a:ext cx="2834640" cy="384048"/>
          </a:xfrm>
          <a:prstGeom prst="roundRect">
            <a:avLst>
              <a:gd name="adj" fmla="val 50000"/>
            </a:avLst>
          </a:prstGeom>
          <a:solidFill>
            <a:srgbClr val="FBE9E7"/>
          </a:solidFill>
          <a:ln w="12700">
            <a:solidFill>
              <a:srgbClr val="B23A2E"/>
            </a:solidFill>
            <a:prstDash val="solid"/>
          </a:ln>
        </p:spPr>
        <p:txBody>
          <a:bodyPr/>
          <a:lstStyle/>
          <a:p>
            <a:endParaRPr/>
          </a:p>
        </p:txBody>
      </p:sp>
      <p:sp>
        <p:nvSpPr>
          <p:cNvPr id="11" name="Text 9"/>
          <p:cNvSpPr txBox="1"/>
          <p:nvPr/>
        </p:nvSpPr>
        <p:spPr>
          <a:xfrm>
            <a:off x="822960" y="2606040"/>
            <a:ext cx="2834640" cy="384048"/>
          </a:xfrm>
          <a:prstGeom prst="rect">
            <a:avLst/>
          </a:prstGeom>
          <a:noFill/>
          <a:ln/>
        </p:spPr>
        <p:txBody>
          <a:bodyPr wrap="square" lIns="0" tIns="0" rIns="0" bIns="0" rtlCol="0" anchor="ctr"/>
          <a:lstStyle/>
          <a:p>
            <a:pPr marL="0" indent="0" algn="ctr">
              <a:buNone/>
            </a:pPr>
            <a:r>
              <a:rPr lang="en-US" sz="1200" b="1" kern="0" spc="50" dirty="0">
                <a:solidFill>
                  <a:srgbClr val="B23A2E"/>
                </a:solidFill>
                <a:latin typeface="Calibri" pitchFamily="34" charset="0"/>
                <a:ea typeface="Calibri" pitchFamily="34" charset="-122"/>
                <a:cs typeface="Calibri" pitchFamily="34" charset="-120"/>
              </a:rPr>
              <a:t>RISKY MOVE</a:t>
            </a:r>
            <a:endParaRPr lang="en-US" sz="1200" dirty="0"/>
          </a:p>
        </p:txBody>
      </p:sp>
      <p:sp>
        <p:nvSpPr>
          <p:cNvPr id="12" name="Shape 10"/>
          <p:cNvSpPr/>
          <p:nvPr/>
        </p:nvSpPr>
        <p:spPr>
          <a:xfrm>
            <a:off x="822960" y="3200400"/>
            <a:ext cx="6903720" cy="1965960"/>
          </a:xfrm>
          <a:prstGeom prst="roundRect">
            <a:avLst>
              <a:gd name="adj" fmla="val 2791"/>
            </a:avLst>
          </a:prstGeom>
          <a:solidFill>
            <a:srgbClr val="FFFFFF"/>
          </a:solidFill>
          <a:ln w="12700">
            <a:solidFill>
              <a:srgbClr val="C9D3EA"/>
            </a:solidFill>
            <a:prstDash val="solid"/>
          </a:ln>
        </p:spPr>
        <p:txBody>
          <a:bodyPr/>
          <a:lstStyle/>
          <a:p>
            <a:endParaRPr/>
          </a:p>
        </p:txBody>
      </p:sp>
      <p:sp>
        <p:nvSpPr>
          <p:cNvPr id="13" name="Shape 11"/>
          <p:cNvSpPr/>
          <p:nvPr/>
        </p:nvSpPr>
        <p:spPr>
          <a:xfrm>
            <a:off x="822960" y="3200400"/>
            <a:ext cx="54864" cy="1965960"/>
          </a:xfrm>
          <a:prstGeom prst="rect">
            <a:avLst/>
          </a:prstGeom>
          <a:solidFill>
            <a:srgbClr val="B23A2E"/>
          </a:solidFill>
          <a:ln/>
        </p:spPr>
        <p:txBody>
          <a:bodyPr/>
          <a:lstStyle/>
          <a:p>
            <a:endParaRPr/>
          </a:p>
        </p:txBody>
      </p:sp>
      <p:sp>
        <p:nvSpPr>
          <p:cNvPr id="14" name="Text 12"/>
          <p:cNvSpPr txBox="1"/>
          <p:nvPr/>
        </p:nvSpPr>
        <p:spPr>
          <a:xfrm>
            <a:off x="1097280" y="3337560"/>
            <a:ext cx="6537960" cy="1691640"/>
          </a:xfrm>
          <a:prstGeom prst="rect">
            <a:avLst/>
          </a:prstGeom>
          <a:noFill/>
          <a:ln/>
        </p:spPr>
        <p:txBody>
          <a:bodyPr wrap="square" lIns="0" tIns="0" rIns="0" bIns="0" rtlCol="0" anchor="t"/>
          <a:lstStyle/>
          <a:p>
            <a:pPr marL="0" indent="0">
              <a:lnSpc>
                <a:spcPct val="125000"/>
              </a:lnSpc>
              <a:buNone/>
            </a:pPr>
            <a:r>
              <a:rPr lang="en-US" sz="1300" dirty="0">
                <a:solidFill>
                  <a:srgbClr val="1B1F3B"/>
                </a:solidFill>
                <a:latin typeface="Calibri" pitchFamily="34" charset="0"/>
                <a:ea typeface="Calibri" pitchFamily="34" charset="-122"/>
                <a:cs typeface="Calibri" pitchFamily="34" charset="-120"/>
              </a:rPr>
              <a:t>You waited, hoping to catch up on your own. By the next morning your part still wasn’t ready, and there was no time left to fix it or bring in help.</a:t>
            </a:r>
            <a:endParaRPr lang="en-US" sz="1300" dirty="0"/>
          </a:p>
        </p:txBody>
      </p:sp>
      <p:sp>
        <p:nvSpPr>
          <p:cNvPr id="15" name="Text 13"/>
          <p:cNvSpPr txBox="1"/>
          <p:nvPr/>
        </p:nvSpPr>
        <p:spPr>
          <a:xfrm>
            <a:off x="822960" y="5303520"/>
            <a:ext cx="6903720" cy="868680"/>
          </a:xfrm>
          <a:prstGeom prst="rect">
            <a:avLst/>
          </a:prstGeom>
          <a:noFill/>
          <a:ln/>
        </p:spPr>
        <p:txBody>
          <a:bodyPr wrap="square" lIns="0" tIns="0" rIns="0" bIns="0" rtlCol="0" anchor="t"/>
          <a:lstStyle/>
          <a:p>
            <a:pPr marL="0" indent="0">
              <a:lnSpc>
                <a:spcPct val="120000"/>
              </a:lnSpc>
              <a:buNone/>
            </a:pPr>
            <a:r>
              <a:rPr lang="en-US" sz="1150" b="1" i="1" dirty="0">
                <a:solidFill>
                  <a:srgbClr val="5B6785"/>
                </a:solidFill>
                <a:latin typeface="Calibri" pitchFamily="34" charset="0"/>
                <a:ea typeface="Calibri" pitchFamily="34" charset="-122"/>
                <a:cs typeface="Calibri" pitchFamily="34" charset="-120"/>
              </a:rPr>
              <a:t>Consequence:  Priya found out only when the deliverable was already late — and now she’s wondering why you didn’t say anything sooner.</a:t>
            </a:r>
            <a:endParaRPr lang="en-US" sz="1150" dirty="0"/>
          </a:p>
        </p:txBody>
      </p:sp>
      <p:sp>
        <p:nvSpPr>
          <p:cNvPr id="16" name="Shape 14"/>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7" name="Text 15"/>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LAYER</a:t>
            </a:r>
            <a:endParaRPr lang="en-US" sz="900" dirty="0"/>
          </a:p>
        </p:txBody>
      </p:sp>
      <p:sp>
        <p:nvSpPr>
          <p:cNvPr id="18" name="Text 16"/>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6.3 A</a:t>
            </a:r>
            <a:endParaRPr lang="en-US" sz="1500" dirty="0"/>
          </a:p>
        </p:txBody>
      </p:sp>
      <p:sp>
        <p:nvSpPr>
          <p:cNvPr id="19" name="Shape 17"/>
          <p:cNvSpPr/>
          <p:nvPr/>
        </p:nvSpPr>
        <p:spPr>
          <a:xfrm>
            <a:off x="8595360" y="2432304"/>
            <a:ext cx="2862072" cy="10973"/>
          </a:xfrm>
          <a:prstGeom prst="rect">
            <a:avLst/>
          </a:prstGeom>
          <a:solidFill>
            <a:srgbClr val="39447A"/>
          </a:solidFill>
          <a:ln/>
        </p:spPr>
        <p:txBody>
          <a:bodyPr/>
          <a:lstStyle/>
          <a:p>
            <a:endParaRPr/>
          </a:p>
        </p:txBody>
      </p:sp>
      <p:sp>
        <p:nvSpPr>
          <p:cNvPr id="20" name="Text 18"/>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1" name="Text 19"/>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reaches this layer only after choosing A. Slide-in feedback panel with a red status tag and a Continue button to 6.4.</a:t>
            </a:r>
            <a:endParaRPr lang="en-US" sz="1150" dirty="0"/>
          </a:p>
        </p:txBody>
      </p:sp>
      <p:sp>
        <p:nvSpPr>
          <p:cNvPr id="22" name="Shape 20"/>
          <p:cNvSpPr/>
          <p:nvPr/>
        </p:nvSpPr>
        <p:spPr>
          <a:xfrm>
            <a:off x="8595360" y="3758184"/>
            <a:ext cx="2862072" cy="10973"/>
          </a:xfrm>
          <a:prstGeom prst="rect">
            <a:avLst/>
          </a:prstGeom>
          <a:solidFill>
            <a:srgbClr val="39447A"/>
          </a:solidFill>
          <a:ln/>
        </p:spPr>
        <p:txBody>
          <a:bodyPr/>
          <a:lstStyle/>
          <a:p>
            <a:endParaRPr/>
          </a:p>
        </p:txBody>
      </p:sp>
      <p:sp>
        <p:nvSpPr>
          <p:cNvPr id="23" name="Text 21"/>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4" name="Text 22"/>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Show feedback as a layer, not a new base slide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Icon: warning triangle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Continue button → 6.4 (all branches converge)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Log Choice_6 = A for reporting</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Prev is disabled on the layer</a:t>
            </a:r>
            <a:endParaRPr lang="en-US" sz="10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6 STORYBOARD</a:t>
            </a:r>
            <a:endParaRPr lang="en-US" sz="900" dirty="0"/>
          </a:p>
        </p:txBody>
      </p:sp>
      <p:sp>
        <p:nvSpPr>
          <p:cNvPr id="26" name="Text 24"/>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6.3 A</a:t>
            </a:r>
            <a:endParaRPr lang="en-US" sz="900" dirty="0"/>
          </a:p>
        </p:txBody>
      </p:sp>
      <p:sp>
        <p:nvSpPr>
          <p:cNvPr id="27"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Evaluate</a:t>
            </a:r>
          </a:p>
          <a:p>
            <a:pPr marL="0" indent="0" algn="r">
              <a:buNone/>
            </a:pPr>
            <a:r>
              <a:rPr lang="en-US" sz="1000" i="1" dirty="0">
                <a:solidFill>
                  <a:srgbClr val="5B6785"/>
                </a:solidFill>
                <a:latin typeface="Calibri" pitchFamily="34" charset="0"/>
                <a:ea typeface="Calibri" pitchFamily="34" charset="-122"/>
                <a:cs typeface="Calibri" pitchFamily="34" charset="-120"/>
              </a:rPr>
              <a:t>Judges the choice against its consequence for the working relationship.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LAYER 6.3 B  ·  ON SLIDE 6.2 DECISION POINT</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Consequence &amp; Feedback</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“The Deadline Problem” — branch outcome</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6</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2743200" cy="228600"/>
          </a:xfrm>
          <a:prstGeom prst="rect">
            <a:avLst/>
          </a:prstGeom>
          <a:noFill/>
          <a:ln/>
        </p:spPr>
        <p:txBody>
          <a:bodyPr wrap="square" lIns="0" tIns="0" rIns="0" bIns="0" rtlCol="0" anchor="ctr"/>
          <a:lstStyle/>
          <a:p>
            <a:pPr marL="0" indent="0">
              <a:buNone/>
            </a:pPr>
            <a:r>
              <a:rPr lang="en-US" sz="900" b="1" kern="0" spc="120" dirty="0">
                <a:solidFill>
                  <a:srgbClr val="5B6785"/>
                </a:solidFill>
                <a:latin typeface="Calibri" pitchFamily="34" charset="0"/>
                <a:ea typeface="Calibri" pitchFamily="34" charset="-122"/>
                <a:cs typeface="Calibri" pitchFamily="34" charset="-120"/>
              </a:rPr>
              <a:t>YOU CHOSE</a:t>
            </a:r>
            <a:endParaRPr lang="en-US" sz="900" dirty="0"/>
          </a:p>
        </p:txBody>
      </p:sp>
      <p:sp>
        <p:nvSpPr>
          <p:cNvPr id="9" name="Text 7"/>
          <p:cNvSpPr txBox="1"/>
          <p:nvPr/>
        </p:nvSpPr>
        <p:spPr>
          <a:xfrm>
            <a:off x="822960" y="1984248"/>
            <a:ext cx="6903720" cy="50292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B — “Tell Priya and my manager early.”</a:t>
            </a:r>
            <a:endParaRPr lang="en-US" sz="1600" dirty="0"/>
          </a:p>
        </p:txBody>
      </p:sp>
      <p:sp>
        <p:nvSpPr>
          <p:cNvPr id="10" name="Shape 8"/>
          <p:cNvSpPr/>
          <p:nvPr/>
        </p:nvSpPr>
        <p:spPr>
          <a:xfrm>
            <a:off x="822960" y="2606040"/>
            <a:ext cx="2834640" cy="384048"/>
          </a:xfrm>
          <a:prstGeom prst="roundRect">
            <a:avLst>
              <a:gd name="adj" fmla="val 50000"/>
            </a:avLst>
          </a:prstGeom>
          <a:solidFill>
            <a:srgbClr val="E6F2EB"/>
          </a:solidFill>
          <a:ln w="12700">
            <a:solidFill>
              <a:srgbClr val="2C7A4B"/>
            </a:solidFill>
            <a:prstDash val="solid"/>
          </a:ln>
        </p:spPr>
        <p:txBody>
          <a:bodyPr/>
          <a:lstStyle/>
          <a:p>
            <a:endParaRPr/>
          </a:p>
        </p:txBody>
      </p:sp>
      <p:sp>
        <p:nvSpPr>
          <p:cNvPr id="11" name="Text 9"/>
          <p:cNvSpPr txBox="1"/>
          <p:nvPr/>
        </p:nvSpPr>
        <p:spPr>
          <a:xfrm>
            <a:off x="822960" y="2606040"/>
            <a:ext cx="2834640" cy="384048"/>
          </a:xfrm>
          <a:prstGeom prst="rect">
            <a:avLst/>
          </a:prstGeom>
          <a:noFill/>
          <a:ln/>
        </p:spPr>
        <p:txBody>
          <a:bodyPr wrap="square" lIns="0" tIns="0" rIns="0" bIns="0" rtlCol="0" anchor="ctr"/>
          <a:lstStyle/>
          <a:p>
            <a:pPr marL="0" indent="0" algn="ctr">
              <a:buNone/>
            </a:pPr>
            <a:r>
              <a:rPr lang="en-US" sz="1200" b="1" kern="0" spc="50" dirty="0">
                <a:solidFill>
                  <a:srgbClr val="2C7A4B"/>
                </a:solidFill>
                <a:latin typeface="Calibri" pitchFamily="34" charset="0"/>
                <a:ea typeface="Calibri" pitchFamily="34" charset="-122"/>
                <a:cs typeface="Calibri" pitchFamily="34" charset="-120"/>
              </a:rPr>
              <a:t>STRONGEST RESPONSE</a:t>
            </a:r>
            <a:endParaRPr lang="en-US" sz="1200" dirty="0"/>
          </a:p>
        </p:txBody>
      </p:sp>
      <p:sp>
        <p:nvSpPr>
          <p:cNvPr id="12" name="Shape 10"/>
          <p:cNvSpPr/>
          <p:nvPr/>
        </p:nvSpPr>
        <p:spPr>
          <a:xfrm>
            <a:off x="822960" y="3200400"/>
            <a:ext cx="6903720" cy="1965960"/>
          </a:xfrm>
          <a:prstGeom prst="roundRect">
            <a:avLst>
              <a:gd name="adj" fmla="val 2791"/>
            </a:avLst>
          </a:prstGeom>
          <a:solidFill>
            <a:srgbClr val="FFFFFF"/>
          </a:solidFill>
          <a:ln w="12700">
            <a:solidFill>
              <a:srgbClr val="C9D3EA"/>
            </a:solidFill>
            <a:prstDash val="solid"/>
          </a:ln>
        </p:spPr>
        <p:txBody>
          <a:bodyPr/>
          <a:lstStyle/>
          <a:p>
            <a:endParaRPr/>
          </a:p>
        </p:txBody>
      </p:sp>
      <p:sp>
        <p:nvSpPr>
          <p:cNvPr id="13" name="Shape 11"/>
          <p:cNvSpPr/>
          <p:nvPr/>
        </p:nvSpPr>
        <p:spPr>
          <a:xfrm>
            <a:off x="822960" y="3200400"/>
            <a:ext cx="54864" cy="1965960"/>
          </a:xfrm>
          <a:prstGeom prst="rect">
            <a:avLst/>
          </a:prstGeom>
          <a:solidFill>
            <a:srgbClr val="2C7A4B"/>
          </a:solidFill>
          <a:ln/>
        </p:spPr>
        <p:txBody>
          <a:bodyPr/>
          <a:lstStyle/>
          <a:p>
            <a:endParaRPr/>
          </a:p>
        </p:txBody>
      </p:sp>
      <p:sp>
        <p:nvSpPr>
          <p:cNvPr id="14" name="Text 12"/>
          <p:cNvSpPr txBox="1"/>
          <p:nvPr/>
        </p:nvSpPr>
        <p:spPr>
          <a:xfrm>
            <a:off x="1097280" y="3337560"/>
            <a:ext cx="6537960" cy="1691640"/>
          </a:xfrm>
          <a:prstGeom prst="rect">
            <a:avLst/>
          </a:prstGeom>
          <a:noFill/>
          <a:ln/>
        </p:spPr>
        <p:txBody>
          <a:bodyPr wrap="square" lIns="0" tIns="0" rIns="0" bIns="0" rtlCol="0" anchor="t"/>
          <a:lstStyle/>
          <a:p>
            <a:pPr marL="0" indent="0">
              <a:lnSpc>
                <a:spcPct val="125000"/>
              </a:lnSpc>
              <a:buNone/>
            </a:pPr>
            <a:r>
              <a:rPr lang="en-US" sz="1300" dirty="0">
                <a:solidFill>
                  <a:srgbClr val="1B1F3B"/>
                </a:solidFill>
                <a:latin typeface="Calibri" pitchFamily="34" charset="0"/>
                <a:ea typeface="Calibri" pitchFamily="34" charset="-122"/>
                <a:cs typeface="Calibri" pitchFamily="34" charset="-120"/>
              </a:rPr>
              <a:t>You flagged it early. Priya adjusted her timeline, and your manager helped reprioritise another task so you could focus. The deliverable went out on time.</a:t>
            </a:r>
            <a:endParaRPr lang="en-US" sz="1300" dirty="0"/>
          </a:p>
        </p:txBody>
      </p:sp>
      <p:sp>
        <p:nvSpPr>
          <p:cNvPr id="15" name="Text 13"/>
          <p:cNvSpPr txBox="1"/>
          <p:nvPr/>
        </p:nvSpPr>
        <p:spPr>
          <a:xfrm>
            <a:off x="822960" y="5303520"/>
            <a:ext cx="6903720" cy="868680"/>
          </a:xfrm>
          <a:prstGeom prst="rect">
            <a:avLst/>
          </a:prstGeom>
          <a:noFill/>
          <a:ln/>
        </p:spPr>
        <p:txBody>
          <a:bodyPr wrap="square" lIns="0" tIns="0" rIns="0" bIns="0" rtlCol="0" anchor="t"/>
          <a:lstStyle/>
          <a:p>
            <a:pPr marL="0" indent="0">
              <a:lnSpc>
                <a:spcPct val="120000"/>
              </a:lnSpc>
              <a:buNone/>
            </a:pPr>
            <a:r>
              <a:rPr lang="en-US" sz="1150" b="1" i="1" dirty="0">
                <a:solidFill>
                  <a:srgbClr val="5B6785"/>
                </a:solidFill>
                <a:latin typeface="Calibri" pitchFamily="34" charset="0"/>
                <a:ea typeface="Calibri" pitchFamily="34" charset="-122"/>
                <a:cs typeface="Calibri" pitchFamily="34" charset="-120"/>
              </a:rPr>
              <a:t>Consequence:  Priya said she appreciated knowing early enough to actually help, instead of finding out at the last minute.</a:t>
            </a:r>
            <a:endParaRPr lang="en-US" sz="1150" dirty="0"/>
          </a:p>
        </p:txBody>
      </p:sp>
      <p:sp>
        <p:nvSpPr>
          <p:cNvPr id="16" name="Shape 14"/>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7" name="Text 15"/>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LAYER</a:t>
            </a:r>
            <a:endParaRPr lang="en-US" sz="900" dirty="0"/>
          </a:p>
        </p:txBody>
      </p:sp>
      <p:sp>
        <p:nvSpPr>
          <p:cNvPr id="18" name="Text 16"/>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6.3 B</a:t>
            </a:r>
            <a:endParaRPr lang="en-US" sz="1500" dirty="0"/>
          </a:p>
        </p:txBody>
      </p:sp>
      <p:sp>
        <p:nvSpPr>
          <p:cNvPr id="19" name="Shape 17"/>
          <p:cNvSpPr/>
          <p:nvPr/>
        </p:nvSpPr>
        <p:spPr>
          <a:xfrm>
            <a:off x="8595360" y="2432304"/>
            <a:ext cx="2862072" cy="10973"/>
          </a:xfrm>
          <a:prstGeom prst="rect">
            <a:avLst/>
          </a:prstGeom>
          <a:solidFill>
            <a:srgbClr val="39447A"/>
          </a:solidFill>
          <a:ln/>
        </p:spPr>
        <p:txBody>
          <a:bodyPr/>
          <a:lstStyle/>
          <a:p>
            <a:endParaRPr/>
          </a:p>
        </p:txBody>
      </p:sp>
      <p:sp>
        <p:nvSpPr>
          <p:cNvPr id="20" name="Text 18"/>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1" name="Text 19"/>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reaches this layer only after choosing B. Slide-in feedback panel with a green status tag and a Continue button to 6.4.</a:t>
            </a:r>
            <a:endParaRPr lang="en-US" sz="1150" dirty="0"/>
          </a:p>
        </p:txBody>
      </p:sp>
      <p:sp>
        <p:nvSpPr>
          <p:cNvPr id="22" name="Shape 20"/>
          <p:cNvSpPr/>
          <p:nvPr/>
        </p:nvSpPr>
        <p:spPr>
          <a:xfrm>
            <a:off x="8595360" y="3758184"/>
            <a:ext cx="2862072" cy="10973"/>
          </a:xfrm>
          <a:prstGeom prst="rect">
            <a:avLst/>
          </a:prstGeom>
          <a:solidFill>
            <a:srgbClr val="39447A"/>
          </a:solidFill>
          <a:ln/>
        </p:spPr>
        <p:txBody>
          <a:bodyPr/>
          <a:lstStyle/>
          <a:p>
            <a:endParaRPr/>
          </a:p>
        </p:txBody>
      </p:sp>
      <p:sp>
        <p:nvSpPr>
          <p:cNvPr id="23" name="Text 21"/>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4" name="Text 22"/>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Show feedback as a layer, not a new base slide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Icon: check mark</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Continue button → 6.4 (all branches converge)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Log Choice_6 = B for reporting</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Prev is disabled on the layer</a:t>
            </a:r>
            <a:endParaRPr lang="en-US" sz="10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6 STORYBOARD</a:t>
            </a:r>
            <a:endParaRPr lang="en-US" sz="900" dirty="0"/>
          </a:p>
        </p:txBody>
      </p:sp>
      <p:sp>
        <p:nvSpPr>
          <p:cNvPr id="26" name="Text 24"/>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6.3 B</a:t>
            </a:r>
            <a:endParaRPr lang="en-US" sz="900" dirty="0"/>
          </a:p>
        </p:txBody>
      </p:sp>
      <p:sp>
        <p:nvSpPr>
          <p:cNvPr id="27"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Evaluate</a:t>
            </a:r>
          </a:p>
          <a:p>
            <a:pPr marL="0" indent="0" algn="r">
              <a:buNone/>
            </a:pPr>
            <a:r>
              <a:rPr lang="en-US" sz="1000" i="1" dirty="0">
                <a:solidFill>
                  <a:srgbClr val="5B6785"/>
                </a:solidFill>
                <a:latin typeface="Calibri" pitchFamily="34" charset="0"/>
                <a:ea typeface="Calibri" pitchFamily="34" charset="-122"/>
                <a:cs typeface="Calibri" pitchFamily="34" charset="-120"/>
              </a:rPr>
              <a:t>Judges the choice against its consequence for the working relationship.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LAYER 6.3 C  ·  ON SLIDE 6.2 DECISION POINT</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Consequence &amp; Feedback</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“The Deadline Problem” — branch outcome</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6</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2743200" cy="228600"/>
          </a:xfrm>
          <a:prstGeom prst="rect">
            <a:avLst/>
          </a:prstGeom>
          <a:noFill/>
          <a:ln/>
        </p:spPr>
        <p:txBody>
          <a:bodyPr wrap="square" lIns="0" tIns="0" rIns="0" bIns="0" rtlCol="0" anchor="ctr"/>
          <a:lstStyle/>
          <a:p>
            <a:pPr marL="0" indent="0">
              <a:buNone/>
            </a:pPr>
            <a:r>
              <a:rPr lang="en-US" sz="900" b="1" kern="0" spc="120" dirty="0">
                <a:solidFill>
                  <a:srgbClr val="5B6785"/>
                </a:solidFill>
                <a:latin typeface="Calibri" pitchFamily="34" charset="0"/>
                <a:ea typeface="Calibri" pitchFamily="34" charset="-122"/>
                <a:cs typeface="Calibri" pitchFamily="34" charset="-120"/>
              </a:rPr>
              <a:t>YOU CHOSE</a:t>
            </a:r>
            <a:endParaRPr lang="en-US" sz="900" dirty="0"/>
          </a:p>
        </p:txBody>
      </p:sp>
      <p:sp>
        <p:nvSpPr>
          <p:cNvPr id="9" name="Text 7"/>
          <p:cNvSpPr txBox="1"/>
          <p:nvPr/>
        </p:nvSpPr>
        <p:spPr>
          <a:xfrm>
            <a:off x="822960" y="1984248"/>
            <a:ext cx="6903720" cy="50292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C — “Ask Priya to quietly cover my part.”</a:t>
            </a:r>
            <a:endParaRPr lang="en-US" sz="1600" dirty="0"/>
          </a:p>
        </p:txBody>
      </p:sp>
      <p:sp>
        <p:nvSpPr>
          <p:cNvPr id="10" name="Shape 8"/>
          <p:cNvSpPr/>
          <p:nvPr/>
        </p:nvSpPr>
        <p:spPr>
          <a:xfrm>
            <a:off x="822960" y="2606040"/>
            <a:ext cx="2834640" cy="384048"/>
          </a:xfrm>
          <a:prstGeom prst="roundRect">
            <a:avLst>
              <a:gd name="adj" fmla="val 50000"/>
            </a:avLst>
          </a:prstGeom>
          <a:solidFill>
            <a:srgbClr val="EEEFF2"/>
          </a:solidFill>
          <a:ln w="12700">
            <a:solidFill>
              <a:srgbClr val="5B6472"/>
            </a:solidFill>
            <a:prstDash val="solid"/>
          </a:ln>
        </p:spPr>
        <p:txBody>
          <a:bodyPr/>
          <a:lstStyle/>
          <a:p>
            <a:endParaRPr/>
          </a:p>
        </p:txBody>
      </p:sp>
      <p:sp>
        <p:nvSpPr>
          <p:cNvPr id="11" name="Text 9"/>
          <p:cNvSpPr txBox="1"/>
          <p:nvPr/>
        </p:nvSpPr>
        <p:spPr>
          <a:xfrm>
            <a:off x="822960" y="2606040"/>
            <a:ext cx="2834640" cy="384048"/>
          </a:xfrm>
          <a:prstGeom prst="rect">
            <a:avLst/>
          </a:prstGeom>
          <a:noFill/>
          <a:ln/>
        </p:spPr>
        <p:txBody>
          <a:bodyPr wrap="square" lIns="0" tIns="0" rIns="0" bIns="0" rtlCol="0" anchor="ctr"/>
          <a:lstStyle/>
          <a:p>
            <a:pPr marL="0" indent="0" algn="ctr">
              <a:buNone/>
            </a:pPr>
            <a:r>
              <a:rPr lang="en-US" sz="1200" b="1" kern="0" spc="50" dirty="0">
                <a:solidFill>
                  <a:srgbClr val="5B6472"/>
                </a:solidFill>
                <a:latin typeface="Calibri" pitchFamily="34" charset="0"/>
                <a:ea typeface="Calibri" pitchFamily="34" charset="-122"/>
                <a:cs typeface="Calibri" pitchFamily="34" charset="-120"/>
              </a:rPr>
              <a:t>AVOIDS THE PROBLEM</a:t>
            </a:r>
            <a:endParaRPr lang="en-US" sz="1200" dirty="0"/>
          </a:p>
        </p:txBody>
      </p:sp>
      <p:sp>
        <p:nvSpPr>
          <p:cNvPr id="12" name="Shape 10"/>
          <p:cNvSpPr/>
          <p:nvPr/>
        </p:nvSpPr>
        <p:spPr>
          <a:xfrm>
            <a:off x="822960" y="3200400"/>
            <a:ext cx="6903720" cy="1965960"/>
          </a:xfrm>
          <a:prstGeom prst="roundRect">
            <a:avLst>
              <a:gd name="adj" fmla="val 2791"/>
            </a:avLst>
          </a:prstGeom>
          <a:solidFill>
            <a:srgbClr val="FFFFFF"/>
          </a:solidFill>
          <a:ln w="12700">
            <a:solidFill>
              <a:srgbClr val="C9D3EA"/>
            </a:solidFill>
            <a:prstDash val="solid"/>
          </a:ln>
        </p:spPr>
        <p:txBody>
          <a:bodyPr/>
          <a:lstStyle/>
          <a:p>
            <a:endParaRPr/>
          </a:p>
        </p:txBody>
      </p:sp>
      <p:sp>
        <p:nvSpPr>
          <p:cNvPr id="13" name="Shape 11"/>
          <p:cNvSpPr/>
          <p:nvPr/>
        </p:nvSpPr>
        <p:spPr>
          <a:xfrm>
            <a:off x="822960" y="3200400"/>
            <a:ext cx="54864" cy="1965960"/>
          </a:xfrm>
          <a:prstGeom prst="rect">
            <a:avLst/>
          </a:prstGeom>
          <a:solidFill>
            <a:srgbClr val="5B6472"/>
          </a:solidFill>
          <a:ln/>
        </p:spPr>
        <p:txBody>
          <a:bodyPr/>
          <a:lstStyle/>
          <a:p>
            <a:endParaRPr/>
          </a:p>
        </p:txBody>
      </p:sp>
      <p:sp>
        <p:nvSpPr>
          <p:cNvPr id="14" name="Text 12"/>
          <p:cNvSpPr txBox="1"/>
          <p:nvPr/>
        </p:nvSpPr>
        <p:spPr>
          <a:xfrm>
            <a:off x="1097280" y="3337560"/>
            <a:ext cx="6537960" cy="1691640"/>
          </a:xfrm>
          <a:prstGeom prst="rect">
            <a:avLst/>
          </a:prstGeom>
          <a:noFill/>
          <a:ln/>
        </p:spPr>
        <p:txBody>
          <a:bodyPr wrap="square" lIns="0" tIns="0" rIns="0" bIns="0" rtlCol="0" anchor="t"/>
          <a:lstStyle/>
          <a:p>
            <a:pPr marL="0" indent="0">
              <a:lnSpc>
                <a:spcPct val="125000"/>
              </a:lnSpc>
              <a:buNone/>
            </a:pPr>
            <a:r>
              <a:rPr lang="en-US" sz="1300" dirty="0">
                <a:solidFill>
                  <a:srgbClr val="1B1F3B"/>
                </a:solidFill>
                <a:latin typeface="Calibri" pitchFamily="34" charset="0"/>
                <a:ea typeface="Calibri" pitchFamily="34" charset="-122"/>
                <a:cs typeface="Calibri" pitchFamily="34" charset="-120"/>
              </a:rPr>
              <a:t>Priya picked up your part without knowing why, and got it done — but she was left confused about what happened, and a little frustrated you didn’t just tell her.</a:t>
            </a:r>
            <a:endParaRPr lang="en-US" sz="1300" dirty="0"/>
          </a:p>
        </p:txBody>
      </p:sp>
      <p:sp>
        <p:nvSpPr>
          <p:cNvPr id="15" name="Text 13"/>
          <p:cNvSpPr txBox="1"/>
          <p:nvPr/>
        </p:nvSpPr>
        <p:spPr>
          <a:xfrm>
            <a:off x="822960" y="5303520"/>
            <a:ext cx="6903720" cy="868680"/>
          </a:xfrm>
          <a:prstGeom prst="rect">
            <a:avLst/>
          </a:prstGeom>
          <a:noFill/>
          <a:ln/>
        </p:spPr>
        <p:txBody>
          <a:bodyPr wrap="square" lIns="0" tIns="0" rIns="0" bIns="0" rtlCol="0" anchor="t"/>
          <a:lstStyle/>
          <a:p>
            <a:pPr marL="0" indent="0">
              <a:lnSpc>
                <a:spcPct val="120000"/>
              </a:lnSpc>
              <a:buNone/>
            </a:pPr>
            <a:r>
              <a:rPr lang="en-US" sz="1150" b="1" i="1" dirty="0">
                <a:solidFill>
                  <a:srgbClr val="5B6785"/>
                </a:solidFill>
                <a:latin typeface="Calibri" pitchFamily="34" charset="0"/>
                <a:ea typeface="Calibri" pitchFamily="34" charset="-122"/>
                <a:cs typeface="Calibri" pitchFamily="34" charset="-120"/>
              </a:rPr>
              <a:t>Consequence:  The deliverable went out fine, but next time you’re behind, Priya may be less willing to jump in without an explanation.</a:t>
            </a:r>
            <a:endParaRPr lang="en-US" sz="1150" dirty="0"/>
          </a:p>
        </p:txBody>
      </p:sp>
      <p:sp>
        <p:nvSpPr>
          <p:cNvPr id="16" name="Shape 14"/>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7" name="Text 15"/>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LAYER</a:t>
            </a:r>
            <a:endParaRPr lang="en-US" sz="900" dirty="0"/>
          </a:p>
        </p:txBody>
      </p:sp>
      <p:sp>
        <p:nvSpPr>
          <p:cNvPr id="18" name="Text 16"/>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6.3 C</a:t>
            </a:r>
            <a:endParaRPr lang="en-US" sz="1500" dirty="0"/>
          </a:p>
        </p:txBody>
      </p:sp>
      <p:sp>
        <p:nvSpPr>
          <p:cNvPr id="19" name="Shape 17"/>
          <p:cNvSpPr/>
          <p:nvPr/>
        </p:nvSpPr>
        <p:spPr>
          <a:xfrm>
            <a:off x="8595360" y="2432304"/>
            <a:ext cx="2862072" cy="10973"/>
          </a:xfrm>
          <a:prstGeom prst="rect">
            <a:avLst/>
          </a:prstGeom>
          <a:solidFill>
            <a:srgbClr val="39447A"/>
          </a:solidFill>
          <a:ln/>
        </p:spPr>
        <p:txBody>
          <a:bodyPr/>
          <a:lstStyle/>
          <a:p>
            <a:endParaRPr/>
          </a:p>
        </p:txBody>
      </p:sp>
      <p:sp>
        <p:nvSpPr>
          <p:cNvPr id="20" name="Text 18"/>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1" name="Text 19"/>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reaches this layer only after choosing C. Slide-in feedback panel with a gray status tag and a Continue button to 6.4.</a:t>
            </a:r>
            <a:endParaRPr lang="en-US" sz="1150" dirty="0"/>
          </a:p>
        </p:txBody>
      </p:sp>
      <p:sp>
        <p:nvSpPr>
          <p:cNvPr id="22" name="Shape 20"/>
          <p:cNvSpPr/>
          <p:nvPr/>
        </p:nvSpPr>
        <p:spPr>
          <a:xfrm>
            <a:off x="8595360" y="3758184"/>
            <a:ext cx="2862072" cy="10973"/>
          </a:xfrm>
          <a:prstGeom prst="rect">
            <a:avLst/>
          </a:prstGeom>
          <a:solidFill>
            <a:srgbClr val="39447A"/>
          </a:solidFill>
          <a:ln/>
        </p:spPr>
        <p:txBody>
          <a:bodyPr/>
          <a:lstStyle/>
          <a:p>
            <a:endParaRPr/>
          </a:p>
        </p:txBody>
      </p:sp>
      <p:sp>
        <p:nvSpPr>
          <p:cNvPr id="23" name="Text 21"/>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4" name="Text 22"/>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Show feedback as a layer, not a new base slide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Icon: minus / dash</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Continue button → 6.4 (all branches converge)</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Log Choice_6 = C for reporting</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 Prev is disabled on the layer</a:t>
            </a:r>
            <a:endParaRPr lang="en-US" sz="10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6 STORYBOARD</a:t>
            </a:r>
            <a:endParaRPr lang="en-US" sz="900" dirty="0"/>
          </a:p>
        </p:txBody>
      </p:sp>
      <p:sp>
        <p:nvSpPr>
          <p:cNvPr id="26" name="Text 24"/>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6.3 C</a:t>
            </a:r>
            <a:endParaRPr lang="en-US" sz="900" dirty="0"/>
          </a:p>
        </p:txBody>
      </p:sp>
      <p:sp>
        <p:nvSpPr>
          <p:cNvPr id="27"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Evaluate</a:t>
            </a:r>
          </a:p>
          <a:p>
            <a:pPr marL="0" indent="0" algn="r">
              <a:buNone/>
            </a:pPr>
            <a:r>
              <a:rPr lang="en-US" sz="1000" i="1" dirty="0">
                <a:solidFill>
                  <a:srgbClr val="5B6785"/>
                </a:solidFill>
                <a:latin typeface="Calibri" pitchFamily="34" charset="0"/>
                <a:ea typeface="Calibri" pitchFamily="34" charset="-122"/>
                <a:cs typeface="Calibri" pitchFamily="34" charset="-120"/>
              </a:rPr>
              <a:t>Judges the choice against its consequence for the working relationship.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SCREEN 6.5  ·  TRANSFER PRACTICE</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Transfer Practice</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Optional — a smaller version of the same judgement call</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6</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417320"/>
            <a:ext cx="7635240" cy="4892040"/>
          </a:xfrm>
          <a:prstGeom prst="roundRect">
            <a:avLst>
              <a:gd name="adj" fmla="val 1495"/>
            </a:avLst>
          </a:prstGeom>
          <a:solidFill>
            <a:srgbClr val="EEF3FD"/>
          </a:solidFill>
          <a:ln w="12700">
            <a:solidFill>
              <a:srgbClr val="C9D3EA"/>
            </a:solidFill>
            <a:prstDash val="solid"/>
          </a:ln>
        </p:spPr>
        <p:txBody>
          <a:bodyPr/>
          <a:lstStyle/>
          <a:p>
            <a:endParaRPr/>
          </a:p>
        </p:txBody>
      </p:sp>
      <p:sp>
        <p:nvSpPr>
          <p:cNvPr id="8" name="Text 6"/>
          <p:cNvSpPr txBox="1"/>
          <p:nvPr/>
        </p:nvSpPr>
        <p:spPr>
          <a:xfrm>
            <a:off x="822960" y="1737360"/>
            <a:ext cx="6903720" cy="640080"/>
          </a:xfrm>
          <a:prstGeom prst="rect">
            <a:avLst/>
          </a:prstGeom>
          <a:noFill/>
          <a:ln/>
        </p:spPr>
        <p:txBody>
          <a:bodyPr wrap="square" lIns="0" tIns="0" rIns="0" bIns="0" rtlCol="0" anchor="ctr"/>
          <a:lstStyle/>
          <a:p>
            <a:pPr marL="0" indent="0">
              <a:lnSpc>
                <a:spcPct val="115000"/>
              </a:lnSpc>
              <a:buNone/>
            </a:pPr>
            <a:r>
              <a:rPr lang="en-US" sz="1500" b="1" dirty="0">
                <a:solidFill>
                  <a:srgbClr val="1B1F3B"/>
                </a:solidFill>
                <a:latin typeface="Cambria" pitchFamily="34" charset="0"/>
                <a:ea typeface="Cambria" pitchFamily="34" charset="-122"/>
                <a:cs typeface="Cambria" pitchFamily="34" charset="-120"/>
              </a:rPr>
              <a:t>A teammate asks you to double-check their numbers before a report goes out tomorrow. You’re stretched thin, but it seems minor.</a:t>
            </a:r>
            <a:endParaRPr lang="en-US" sz="1500" dirty="0"/>
          </a:p>
        </p:txBody>
      </p:sp>
      <p:sp>
        <p:nvSpPr>
          <p:cNvPr id="9" name="Shape 7"/>
          <p:cNvSpPr/>
          <p:nvPr/>
        </p:nvSpPr>
        <p:spPr>
          <a:xfrm>
            <a:off x="822960" y="2651760"/>
            <a:ext cx="6903720" cy="960120"/>
          </a:xfrm>
          <a:prstGeom prst="roundRect">
            <a:avLst>
              <a:gd name="adj" fmla="val 5714"/>
            </a:avLst>
          </a:prstGeom>
          <a:solidFill>
            <a:srgbClr val="FFFFFF"/>
          </a:solidFill>
          <a:ln w="12700">
            <a:solidFill>
              <a:srgbClr val="C9D3EA"/>
            </a:solidFill>
            <a:prstDash val="solid"/>
          </a:ln>
        </p:spPr>
        <p:txBody>
          <a:bodyPr/>
          <a:lstStyle/>
          <a:p>
            <a:endParaRPr/>
          </a:p>
        </p:txBody>
      </p:sp>
      <p:sp>
        <p:nvSpPr>
          <p:cNvPr id="10" name="Shape 8"/>
          <p:cNvSpPr/>
          <p:nvPr/>
        </p:nvSpPr>
        <p:spPr>
          <a:xfrm>
            <a:off x="1005840" y="2930652"/>
            <a:ext cx="402336" cy="402336"/>
          </a:xfrm>
          <a:prstGeom prst="ellipse">
            <a:avLst/>
          </a:prstGeom>
          <a:solidFill>
            <a:srgbClr val="B23A2E"/>
          </a:solidFill>
          <a:ln/>
        </p:spPr>
        <p:txBody>
          <a:bodyPr/>
          <a:lstStyle/>
          <a:p>
            <a:endParaRPr/>
          </a:p>
        </p:txBody>
      </p:sp>
      <p:sp>
        <p:nvSpPr>
          <p:cNvPr id="11" name="Text 9"/>
          <p:cNvSpPr txBox="1"/>
          <p:nvPr/>
        </p:nvSpPr>
        <p:spPr>
          <a:xfrm>
            <a:off x="1005840" y="293065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10"/>
          <p:cNvSpPr txBox="1"/>
          <p:nvPr/>
        </p:nvSpPr>
        <p:spPr>
          <a:xfrm>
            <a:off x="1554480" y="2651760"/>
            <a:ext cx="5943600" cy="960120"/>
          </a:xfrm>
          <a:prstGeom prst="rect">
            <a:avLst/>
          </a:prstGeom>
          <a:noFill/>
          <a:ln/>
        </p:spPr>
        <p:txBody>
          <a:bodyPr wrap="square" lIns="0" tIns="0" rIns="0" bIns="0" rtlCol="0" anchor="ctr"/>
          <a:lstStyle/>
          <a:p>
            <a:pPr marL="0" indent="0">
              <a:lnSpc>
                <a:spcPct val="110000"/>
              </a:lnSpc>
              <a:buNone/>
            </a:pPr>
            <a:r>
              <a:rPr lang="en-US" sz="1250" dirty="0">
                <a:solidFill>
                  <a:srgbClr val="1B1F3B"/>
                </a:solidFill>
                <a:latin typeface="Calibri" pitchFamily="34" charset="0"/>
                <a:ea typeface="Calibri" pitchFamily="34" charset="-122"/>
                <a:cs typeface="Calibri" pitchFamily="34" charset="-120"/>
              </a:rPr>
              <a:t>Assume it’s fine and skip it.</a:t>
            </a:r>
            <a:endParaRPr lang="en-US" sz="1250" dirty="0"/>
          </a:p>
        </p:txBody>
      </p:sp>
      <p:sp>
        <p:nvSpPr>
          <p:cNvPr id="13" name="Shape 11"/>
          <p:cNvSpPr/>
          <p:nvPr/>
        </p:nvSpPr>
        <p:spPr>
          <a:xfrm>
            <a:off x="822960" y="3794760"/>
            <a:ext cx="6903720" cy="960120"/>
          </a:xfrm>
          <a:prstGeom prst="roundRect">
            <a:avLst>
              <a:gd name="adj" fmla="val 5714"/>
            </a:avLst>
          </a:prstGeom>
          <a:solidFill>
            <a:srgbClr val="FFFFFF"/>
          </a:solidFill>
          <a:ln w="12700">
            <a:solidFill>
              <a:srgbClr val="C9D3EA"/>
            </a:solidFill>
            <a:prstDash val="solid"/>
          </a:ln>
        </p:spPr>
        <p:txBody>
          <a:bodyPr/>
          <a:lstStyle/>
          <a:p>
            <a:endParaRPr/>
          </a:p>
        </p:txBody>
      </p:sp>
      <p:sp>
        <p:nvSpPr>
          <p:cNvPr id="14" name="Shape 12"/>
          <p:cNvSpPr/>
          <p:nvPr/>
        </p:nvSpPr>
        <p:spPr>
          <a:xfrm>
            <a:off x="1005840" y="4073652"/>
            <a:ext cx="402336" cy="402336"/>
          </a:xfrm>
          <a:prstGeom prst="ellipse">
            <a:avLst/>
          </a:prstGeom>
          <a:solidFill>
            <a:srgbClr val="2C7A4B"/>
          </a:solidFill>
          <a:ln/>
        </p:spPr>
        <p:txBody>
          <a:bodyPr/>
          <a:lstStyle/>
          <a:p>
            <a:endParaRPr/>
          </a:p>
        </p:txBody>
      </p:sp>
      <p:sp>
        <p:nvSpPr>
          <p:cNvPr id="15" name="Text 13"/>
          <p:cNvSpPr txBox="1"/>
          <p:nvPr/>
        </p:nvSpPr>
        <p:spPr>
          <a:xfrm>
            <a:off x="1005840" y="407365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4"/>
          <p:cNvSpPr txBox="1"/>
          <p:nvPr/>
        </p:nvSpPr>
        <p:spPr>
          <a:xfrm>
            <a:off x="1554480" y="3794760"/>
            <a:ext cx="5943600" cy="960120"/>
          </a:xfrm>
          <a:prstGeom prst="rect">
            <a:avLst/>
          </a:prstGeom>
          <a:noFill/>
          <a:ln/>
        </p:spPr>
        <p:txBody>
          <a:bodyPr wrap="square" lIns="0" tIns="0" rIns="0" bIns="0" rtlCol="0" anchor="ctr"/>
          <a:lstStyle/>
          <a:p>
            <a:pPr marL="0" indent="0">
              <a:lnSpc>
                <a:spcPct val="110000"/>
              </a:lnSpc>
              <a:buNone/>
            </a:pPr>
            <a:r>
              <a:rPr lang="en-US" sz="1250" dirty="0">
                <a:solidFill>
                  <a:srgbClr val="1B1F3B"/>
                </a:solidFill>
                <a:latin typeface="Calibri" pitchFamily="34" charset="0"/>
                <a:ea typeface="Calibri" pitchFamily="34" charset="-122"/>
                <a:cs typeface="Calibri" pitchFamily="34" charset="-120"/>
              </a:rPr>
              <a:t>Let them know today that you’re stretched thin, so they can plan around it.</a:t>
            </a:r>
            <a:endParaRPr lang="en-US" sz="1250" dirty="0"/>
          </a:p>
        </p:txBody>
      </p:sp>
      <p:sp>
        <p:nvSpPr>
          <p:cNvPr id="17" name="Text 15"/>
          <p:cNvSpPr txBox="1"/>
          <p:nvPr/>
        </p:nvSpPr>
        <p:spPr>
          <a:xfrm>
            <a:off x="822960" y="5029200"/>
            <a:ext cx="6903720" cy="457200"/>
          </a:xfrm>
          <a:prstGeom prst="rect">
            <a:avLst/>
          </a:prstGeom>
          <a:noFill/>
          <a:ln/>
        </p:spPr>
        <p:txBody>
          <a:bodyPr wrap="square" lIns="0" tIns="0" rIns="0" bIns="0" rtlCol="0" anchor="ctr"/>
          <a:lstStyle/>
          <a:p>
            <a:pPr marL="0" indent="0">
              <a:buNone/>
            </a:pPr>
            <a:r>
              <a:rPr lang="en-US" sz="1150" i="1" dirty="0">
                <a:solidFill>
                  <a:srgbClr val="5B6785"/>
                </a:solidFill>
                <a:latin typeface="Calibri" pitchFamily="34" charset="0"/>
                <a:ea typeface="Calibri" pitchFamily="34" charset="-122"/>
                <a:cs typeface="Calibri" pitchFamily="34" charset="-120"/>
              </a:rPr>
              <a:t>B is the stronger move — flagging it early costs a sentence; staying quiet risks the report and their trust in asking you again.</a:t>
            </a:r>
            <a:endParaRPr lang="en-US" sz="1150" dirty="0"/>
          </a:p>
        </p:txBody>
      </p:sp>
      <p:sp>
        <p:nvSpPr>
          <p:cNvPr id="18" name="Shape 16"/>
          <p:cNvSpPr/>
          <p:nvPr/>
        </p:nvSpPr>
        <p:spPr>
          <a:xfrm>
            <a:off x="8321040" y="1417320"/>
            <a:ext cx="3410712" cy="4892040"/>
          </a:xfrm>
          <a:prstGeom prst="roundRect">
            <a:avLst>
              <a:gd name="adj" fmla="val 2145"/>
            </a:avLst>
          </a:prstGeom>
          <a:solidFill>
            <a:srgbClr val="1E2761"/>
          </a:solidFill>
          <a:ln/>
          <a:effectLst>
            <a:outerShdw blurRad="101600" dist="38100" dir="5400000" algn="bl" rotWithShape="0">
              <a:srgbClr val="1B1F3B">
                <a:alpha val="25000"/>
              </a:srgbClr>
            </a:outerShdw>
          </a:effectLst>
        </p:spPr>
        <p:txBody>
          <a:bodyPr/>
          <a:lstStyle/>
          <a:p>
            <a:endParaRPr/>
          </a:p>
        </p:txBody>
      </p:sp>
      <p:sp>
        <p:nvSpPr>
          <p:cNvPr id="19" name="Text 17"/>
          <p:cNvSpPr txBox="1"/>
          <p:nvPr/>
        </p:nvSpPr>
        <p:spPr>
          <a:xfrm>
            <a:off x="8595360" y="1673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SCREEN</a:t>
            </a:r>
            <a:endParaRPr lang="en-US" sz="900" dirty="0"/>
          </a:p>
        </p:txBody>
      </p:sp>
      <p:sp>
        <p:nvSpPr>
          <p:cNvPr id="20" name="Text 18"/>
          <p:cNvSpPr txBox="1"/>
          <p:nvPr/>
        </p:nvSpPr>
        <p:spPr>
          <a:xfrm>
            <a:off x="8595360" y="1929384"/>
            <a:ext cx="2862072"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6.5</a:t>
            </a:r>
            <a:endParaRPr lang="en-US" sz="1500" dirty="0"/>
          </a:p>
        </p:txBody>
      </p:sp>
      <p:sp>
        <p:nvSpPr>
          <p:cNvPr id="21" name="Shape 19"/>
          <p:cNvSpPr/>
          <p:nvPr/>
        </p:nvSpPr>
        <p:spPr>
          <a:xfrm>
            <a:off x="8595360" y="2432304"/>
            <a:ext cx="2862072" cy="10973"/>
          </a:xfrm>
          <a:prstGeom prst="rect">
            <a:avLst/>
          </a:prstGeom>
          <a:solidFill>
            <a:srgbClr val="39447A"/>
          </a:solidFill>
          <a:ln/>
        </p:spPr>
        <p:txBody>
          <a:bodyPr/>
          <a:lstStyle/>
          <a:p>
            <a:endParaRPr/>
          </a:p>
        </p:txBody>
      </p:sp>
      <p:sp>
        <p:nvSpPr>
          <p:cNvPr id="22" name="Text 20"/>
          <p:cNvSpPr txBox="1"/>
          <p:nvPr/>
        </p:nvSpPr>
        <p:spPr>
          <a:xfrm>
            <a:off x="8595360" y="263347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INTERACTION</a:t>
            </a:r>
            <a:endParaRPr lang="en-US" sz="900" dirty="0"/>
          </a:p>
        </p:txBody>
      </p:sp>
      <p:sp>
        <p:nvSpPr>
          <p:cNvPr id="23" name="Text 21"/>
          <p:cNvSpPr txBox="1"/>
          <p:nvPr/>
        </p:nvSpPr>
        <p:spPr>
          <a:xfrm>
            <a:off x="8595360" y="2889504"/>
            <a:ext cx="2862072" cy="822960"/>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Learner picks one of two options. Unlike 6.2, this screen shows brief inline guidance beneath the choices rather than branching to a separate layer — lower-stakes, optional practice.</a:t>
            </a:r>
            <a:endParaRPr lang="en-US" sz="1150" dirty="0"/>
          </a:p>
        </p:txBody>
      </p:sp>
      <p:sp>
        <p:nvSpPr>
          <p:cNvPr id="24" name="Shape 22"/>
          <p:cNvSpPr/>
          <p:nvPr/>
        </p:nvSpPr>
        <p:spPr>
          <a:xfrm>
            <a:off x="8595360" y="3758184"/>
            <a:ext cx="2862072" cy="10973"/>
          </a:xfrm>
          <a:prstGeom prst="rect">
            <a:avLst/>
          </a:prstGeom>
          <a:solidFill>
            <a:srgbClr val="39447A"/>
          </a:solidFill>
          <a:ln/>
        </p:spPr>
        <p:txBody>
          <a:bodyPr/>
          <a:lstStyle/>
          <a:p>
            <a:endParaRPr/>
          </a:p>
        </p:txBody>
      </p:sp>
      <p:sp>
        <p:nvSpPr>
          <p:cNvPr id="25" name="Text 23"/>
          <p:cNvSpPr txBox="1"/>
          <p:nvPr/>
        </p:nvSpPr>
        <p:spPr>
          <a:xfrm>
            <a:off x="8595360" y="3959352"/>
            <a:ext cx="2862072"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BUILD NOTES</a:t>
            </a:r>
            <a:endParaRPr lang="en-US" sz="900" dirty="0"/>
          </a:p>
        </p:txBody>
      </p:sp>
      <p:sp>
        <p:nvSpPr>
          <p:cNvPr id="26" name="Text 24"/>
          <p:cNvSpPr txBox="1"/>
          <p:nvPr/>
        </p:nvSpPr>
        <p:spPr>
          <a:xfrm>
            <a:off x="8595360" y="4215384"/>
            <a:ext cx="2862072" cy="1865376"/>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layers or variables — this screen is optional practice, not scored or reported</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Both cards remain clickable; no lock/disable logic needed since there’s no branch to protect</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Trigger: Continue button → jump to 6.6 on click</a:t>
            </a:r>
            <a:endParaRPr lang="en-US" sz="1050" dirty="0"/>
          </a:p>
          <a:p>
            <a:pPr marL="152400" indent="-152400">
              <a:spcAft>
                <a:spcPts val="600"/>
              </a:spcAft>
              <a:buSzPct val="100000"/>
              <a:buChar char="•"/>
            </a:pPr>
            <a:r>
              <a:rPr lang="en-US" sz="1050" dirty="0">
                <a:solidFill>
                  <a:srgbClr val="D7DDF2"/>
                </a:solidFill>
                <a:latin typeface="Calibri" pitchFamily="34" charset="0"/>
                <a:ea typeface="Calibri" pitchFamily="34" charset="-122"/>
                <a:cs typeface="Calibri" pitchFamily="34" charset="-120"/>
              </a:rPr>
              <a:t>No voice-over</a:t>
            </a:r>
            <a:endParaRPr lang="en-US" sz="1050" dirty="0"/>
          </a:p>
        </p:txBody>
      </p:sp>
      <p:sp>
        <p:nvSpPr>
          <p:cNvPr id="27" name="Text 25"/>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6 STORYBOARD</a:t>
            </a:r>
            <a:endParaRPr lang="en-US" sz="900" dirty="0"/>
          </a:p>
        </p:txBody>
      </p:sp>
      <p:sp>
        <p:nvSpPr>
          <p:cNvPr id="28" name="Text 26"/>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6.5</a:t>
            </a:r>
            <a:endParaRPr lang="en-US" sz="900" dirty="0"/>
          </a:p>
        </p:txBody>
      </p:sp>
      <p:sp>
        <p:nvSpPr>
          <p:cNvPr id="29" name="Bloom Tag"/>
          <p:cNvSpPr txBox="1"/>
          <p:nvPr/>
        </p:nvSpPr>
        <p:spPr>
          <a:xfrm>
            <a:off x="6400800" y="694944"/>
            <a:ext cx="5330952" cy="640080"/>
          </a:xfrm>
          <a:prstGeom prst="rect">
            <a:avLst/>
          </a:prstGeom>
          <a:noFill/>
          <a:ln/>
        </p:spPr>
        <p:txBody>
          <a:bodyPr wrap="square" lIns="0" tIns="0" rIns="0" bIns="0" rtlCol="0" anchor="t"/>
          <a:lstStyle/>
          <a:p>
            <a:pPr marL="0" indent="0" algn="r">
              <a:spcAft>
                <a:spcPts val="100"/>
              </a:spcAft>
              <a:buNone/>
            </a:pPr>
            <a:r>
              <a:rPr lang="en-US" sz="900" b="1" kern="0" spc="120" dirty="0">
                <a:solidFill>
                  <a:srgbClr val="5B6785"/>
                </a:solidFill>
                <a:latin typeface="Calibri" pitchFamily="34" charset="0"/>
                <a:ea typeface="Calibri" pitchFamily="34" charset="-122"/>
                <a:cs typeface="Calibri" pitchFamily="34" charset="-120"/>
              </a:rPr>
              <a:t>BLOOM’S LEVEL</a:t>
            </a:r>
          </a:p>
          <a:p>
            <a:pPr marL="0" indent="0" algn="r">
              <a:spcAft>
                <a:spcPts val="100"/>
              </a:spcAft>
              <a:buNone/>
            </a:pPr>
            <a:r>
              <a:rPr lang="en-US" sz="1300" b="1" dirty="0">
                <a:solidFill>
                  <a:srgbClr val="1E2761"/>
                </a:solidFill>
                <a:latin typeface="Calibri" pitchFamily="34" charset="0"/>
                <a:ea typeface="Calibri" pitchFamily="34" charset="-122"/>
                <a:cs typeface="Calibri" pitchFamily="34" charset="-120"/>
              </a:rPr>
              <a:t>Apply</a:t>
            </a:r>
          </a:p>
          <a:p>
            <a:pPr marL="0" indent="0" algn="r">
              <a:buNone/>
            </a:pPr>
            <a:r>
              <a:rPr lang="en-US" sz="1000" i="1" dirty="0">
                <a:solidFill>
                  <a:srgbClr val="5B6785"/>
                </a:solidFill>
                <a:latin typeface="Calibri" pitchFamily="34" charset="0"/>
                <a:ea typeface="Calibri" pitchFamily="34" charset="-122"/>
                <a:cs typeface="Calibri" pitchFamily="34" charset="-120"/>
              </a:rPr>
              <a:t>Applies the same judgement to a smaller, lower-stakes example.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9418320" y="4206240"/>
            <a:ext cx="4572000" cy="4572000"/>
          </a:xfrm>
          <a:prstGeom prst="ellipse">
            <a:avLst/>
          </a:prstGeom>
          <a:solidFill>
            <a:srgbClr val="1E2761">
              <a:alpha val="55000"/>
            </a:srgbClr>
          </a:solidFill>
          <a:ln/>
        </p:spPr>
        <p:txBody>
          <a:bodyPr/>
          <a:lstStyle/>
          <a:p>
            <a:r>
              <a:t>SCREEN 6.4  ·  TAKEAWAY</a:t>
            </a:r>
          </a:p>
        </p:txBody>
      </p:sp>
      <p:sp>
        <p:nvSpPr>
          <p:cNvPr id="3" name="Text 1"/>
          <p:cNvSpPr txBox="1"/>
          <p:nvPr/>
        </p:nvSpPr>
        <p:spPr>
          <a:xfrm>
            <a:off x="822960" y="502920"/>
            <a:ext cx="7315200" cy="292608"/>
          </a:xfrm>
          <a:prstGeom prst="rect">
            <a:avLst/>
          </a:prstGeom>
          <a:noFill/>
          <a:ln/>
        </p:spPr>
        <p:txBody>
          <a:bodyPr wrap="square" lIns="0" tIns="0" rIns="0" bIns="0" rtlCol="0" anchor="ctr"/>
          <a:lstStyle/>
          <a:p>
            <a:pPr marL="0" indent="0">
              <a:buNone/>
            </a:pPr>
            <a:r>
              <a:rPr lang="en-US" sz="1100" b="1" kern="0" spc="150" dirty="0">
                <a:solidFill>
                  <a:srgbClr val="CADCFC"/>
                </a:solidFill>
                <a:latin typeface="Calibri" pitchFamily="34" charset="0"/>
                <a:ea typeface="Calibri" pitchFamily="34" charset="-122"/>
                <a:cs typeface="Calibri" pitchFamily="34" charset="-120"/>
              </a:rPr>
              <a:t>SCREEN 6.4  ·  TAKEAWAY</a:t>
            </a:r>
            <a:endParaRPr lang="en-US" sz="1100" dirty="0"/>
          </a:p>
        </p:txBody>
      </p:sp>
      <p:sp>
        <p:nvSpPr>
          <p:cNvPr id="4" name="Shape 2"/>
          <p:cNvSpPr/>
          <p:nvPr/>
        </p:nvSpPr>
        <p:spPr>
          <a:xfrm>
            <a:off x="822960" y="1828800"/>
            <a:ext cx="822960" cy="822960"/>
          </a:xfrm>
          <a:prstGeom prst="roundRect">
            <a:avLst>
              <a:gd name="adj" fmla="val 50000"/>
            </a:avLst>
          </a:prstGeom>
          <a:solidFill>
            <a:srgbClr val="CADCFC"/>
          </a:solidFill>
          <a:ln/>
        </p:spPr>
        <p:txBody>
          <a:bodyPr/>
          <a:lstStyle/>
          <a:p>
            <a:endParaRPr/>
          </a:p>
        </p:txBody>
      </p:sp>
      <p:sp>
        <p:nvSpPr>
          <p:cNvPr id="5" name="Text 3"/>
          <p:cNvSpPr txBox="1"/>
          <p:nvPr/>
        </p:nvSpPr>
        <p:spPr>
          <a:xfrm>
            <a:off x="822960" y="1828800"/>
            <a:ext cx="822960" cy="822960"/>
          </a:xfrm>
          <a:prstGeom prst="rect">
            <a:avLst/>
          </a:prstGeom>
          <a:noFill/>
          <a:ln/>
        </p:spPr>
        <p:txBody>
          <a:bodyPr wrap="square" lIns="0" tIns="0" rIns="0" bIns="0"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a:t>
            </a:r>
            <a:endParaRPr lang="en-US" sz="3000" dirty="0"/>
          </a:p>
        </p:txBody>
      </p:sp>
      <p:sp>
        <p:nvSpPr>
          <p:cNvPr id="6" name="Text 4"/>
          <p:cNvSpPr txBox="1"/>
          <p:nvPr/>
        </p:nvSpPr>
        <p:spPr>
          <a:xfrm>
            <a:off x="822960" y="2834640"/>
            <a:ext cx="9875520" cy="1737360"/>
          </a:xfrm>
          <a:prstGeom prst="rect">
            <a:avLst/>
          </a:prstGeom>
          <a:noFill/>
          <a:ln/>
        </p:spPr>
        <p:txBody>
          <a:bodyPr wrap="square" lIns="0" tIns="0" rIns="0" bIns="0" rtlCol="0" anchor="ctr"/>
          <a:lstStyle/>
          <a:p>
            <a:pPr marL="0" indent="0">
              <a:lnSpc>
                <a:spcPct val="130000"/>
              </a:lnSpc>
              <a:buNone/>
            </a:pPr>
            <a:r>
              <a:rPr lang="en-US" sz="2500" dirty="0">
                <a:solidFill>
                  <a:srgbClr val="FFFFFF"/>
                </a:solidFill>
                <a:latin typeface="Cambria" pitchFamily="34" charset="0"/>
                <a:ea typeface="Cambria" pitchFamily="34" charset="-122"/>
                <a:cs typeface="Cambria" pitchFamily="34" charset="-120"/>
              </a:rPr>
              <a:t>“Ownership doesn’t mean solving every problem alone. It means recognising risk early, and communicating before a small delay becomes a bigger one.”</a:t>
            </a:r>
            <a:endParaRPr lang="en-US" sz="2500" dirty="0"/>
          </a:p>
        </p:txBody>
      </p:sp>
      <p:sp>
        <p:nvSpPr>
          <p:cNvPr id="7" name="Text 5"/>
          <p:cNvSpPr txBox="1"/>
          <p:nvPr/>
        </p:nvSpPr>
        <p:spPr>
          <a:xfrm>
            <a:off x="822960" y="4617720"/>
            <a:ext cx="9144000" cy="822960"/>
          </a:xfrm>
          <a:prstGeom prst="rect">
            <a:avLst/>
          </a:prstGeom>
          <a:noFill/>
          <a:ln/>
        </p:spPr>
        <p:txBody>
          <a:bodyPr wrap="square" lIns="0" tIns="0" rIns="0" bIns="0" rtlCol="0" anchor="ctr"/>
          <a:lstStyle/>
          <a:p>
            <a:pPr marL="0" indent="0">
              <a:lnSpc>
                <a:spcPct val="125000"/>
              </a:lnSpc>
              <a:buNone/>
            </a:pPr>
            <a:r>
              <a:rPr lang="en-US" sz="1300" i="1" dirty="0">
                <a:solidFill>
                  <a:srgbClr val="AAB4DC"/>
                </a:solidFill>
                <a:latin typeface="Calibri" pitchFamily="34" charset="0"/>
                <a:ea typeface="Calibri" pitchFamily="34" charset="-122"/>
                <a:cs typeface="Calibri" pitchFamily="34" charset="-120"/>
              </a:rPr>
              <a:t>Two different moves — staying quiet, or quietly offloading — both dodge the same conversation. The version that actually works is the one where you say something before it’s too late to help.</a:t>
            </a:r>
            <a:endParaRPr lang="en-US" sz="1300" dirty="0"/>
          </a:p>
        </p:txBody>
      </p:sp>
      <p:sp>
        <p:nvSpPr>
          <p:cNvPr id="8" name="Text 6"/>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8892B8"/>
                </a:solidFill>
                <a:latin typeface="Calibri" pitchFamily="34" charset="0"/>
                <a:ea typeface="Calibri" pitchFamily="34" charset="-122"/>
                <a:cs typeface="Calibri" pitchFamily="34" charset="-120"/>
              </a:rPr>
              <a:t>NEXATECH ONBOARDING PATHWAY  ·  MODULE 6 STORYBOARD</a:t>
            </a:r>
            <a:endParaRPr lang="en-US" sz="900" dirty="0"/>
          </a:p>
        </p:txBody>
      </p:sp>
      <p:sp>
        <p:nvSpPr>
          <p:cNvPr id="9" name="Text 7"/>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8892B8"/>
                </a:solidFill>
                <a:latin typeface="Calibri" pitchFamily="34" charset="0"/>
                <a:ea typeface="Calibri" pitchFamily="34" charset="-122"/>
                <a:cs typeface="Calibri" pitchFamily="34" charset="-120"/>
              </a:rPr>
              <a:t>6.4</a:t>
            </a:r>
            <a:endParaRPr lang="en-US" sz="900" dirty="0"/>
          </a:p>
        </p:txBody>
      </p:sp>
      <p:sp>
        <p:nvSpPr>
          <p:cNvPr id="10" name="Bloom Tag"/>
          <p:cNvSpPr txBox="1"/>
          <p:nvPr/>
        </p:nvSpPr>
        <p:spPr>
          <a:xfrm>
            <a:off x="822960" y="795528"/>
            <a:ext cx="7315200" cy="228600"/>
          </a:xfrm>
          <a:prstGeom prst="rect">
            <a:avLst/>
          </a:prstGeom>
          <a:noFill/>
          <a:ln/>
        </p:spPr>
        <p:txBody>
          <a:bodyPr wrap="square" lIns="0" tIns="0" rIns="0" bIns="0" rtlCol="0" anchor="ctr"/>
          <a:lstStyle/>
          <a:p>
            <a:pPr marL="0" indent="0">
              <a:buNone/>
            </a:pPr>
            <a:r>
              <a:rPr lang="en-US" sz="900" b="1" kern="0" spc="120" dirty="0">
                <a:solidFill>
                  <a:srgbClr val="CADCFC"/>
                </a:solidFill>
                <a:latin typeface="Calibri" pitchFamily="34" charset="0"/>
                <a:ea typeface="Calibri" pitchFamily="34" charset="-122"/>
                <a:cs typeface="Calibri" pitchFamily="34" charset="-120"/>
              </a:rPr>
              <a:t>BLOOM’S LEVEL  ·  UNDERSTAND → ANALYZE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E2761">
              <a:alpha val="55000"/>
            </a:srgbClr>
          </a:solidFill>
          <a:ln/>
        </p:spPr>
        <p:txBody>
          <a:bodyPr/>
          <a:lstStyle/>
          <a:p>
            <a:r>
              <a:t>SCREEN 6.6  ·  TRANSITION</a:t>
            </a:r>
          </a:p>
        </p:txBody>
      </p:sp>
      <p:sp>
        <p:nvSpPr>
          <p:cNvPr id="3" name="Text 1"/>
          <p:cNvSpPr txBox="1"/>
          <p:nvPr/>
        </p:nvSpPr>
        <p:spPr>
          <a:xfrm>
            <a:off x="822960" y="502920"/>
            <a:ext cx="7315200" cy="292608"/>
          </a:xfrm>
          <a:prstGeom prst="rect">
            <a:avLst/>
          </a:prstGeom>
          <a:noFill/>
          <a:ln/>
        </p:spPr>
        <p:txBody>
          <a:bodyPr wrap="square" lIns="0" tIns="0" rIns="0" bIns="0" rtlCol="0" anchor="ctr"/>
          <a:lstStyle/>
          <a:p>
            <a:pPr marL="0" indent="0">
              <a:buNone/>
            </a:pPr>
            <a:r>
              <a:rPr lang="en-US" sz="1100" b="1" kern="0" spc="150" dirty="0">
                <a:solidFill>
                  <a:srgbClr val="CADCFC"/>
                </a:solidFill>
                <a:latin typeface="Calibri" pitchFamily="34" charset="0"/>
                <a:ea typeface="Calibri" pitchFamily="34" charset="-122"/>
                <a:cs typeface="Calibri" pitchFamily="34" charset="-120"/>
              </a:rPr>
              <a:t>SCREEN 6.6  ·  TRANSITION</a:t>
            </a:r>
            <a:endParaRPr lang="en-US" sz="1100" dirty="0"/>
          </a:p>
        </p:txBody>
      </p:sp>
      <p:sp>
        <p:nvSpPr>
          <p:cNvPr id="4" name="Text 2"/>
          <p:cNvSpPr txBox="1"/>
          <p:nvPr/>
        </p:nvSpPr>
        <p:spPr>
          <a:xfrm>
            <a:off x="822960" y="2377440"/>
            <a:ext cx="96012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Ownership isn’t about carrying everything yourself.</a:t>
            </a:r>
            <a:endParaRPr lang="en-US" sz="3000" dirty="0"/>
          </a:p>
        </p:txBody>
      </p:sp>
      <p:sp>
        <p:nvSpPr>
          <p:cNvPr id="5" name="Text 3"/>
          <p:cNvSpPr txBox="1"/>
          <p:nvPr/>
        </p:nvSpPr>
        <p:spPr>
          <a:xfrm>
            <a:off x="822960" y="3063240"/>
            <a:ext cx="9601200" cy="640080"/>
          </a:xfrm>
          <a:prstGeom prst="rect">
            <a:avLst/>
          </a:prstGeom>
          <a:noFill/>
          <a:ln/>
        </p:spPr>
        <p:txBody>
          <a:bodyPr wrap="square" lIns="0" tIns="0" rIns="0" bIns="0" rtlCol="0" anchor="ctr"/>
          <a:lstStyle/>
          <a:p>
            <a:pPr marL="0" indent="0">
              <a:buNone/>
            </a:pPr>
            <a:r>
              <a:rPr lang="en-US" sz="2600" i="1" dirty="0">
                <a:solidFill>
                  <a:srgbClr val="CADCFC"/>
                </a:solidFill>
                <a:latin typeface="Cambria" pitchFamily="34" charset="0"/>
                <a:ea typeface="Cambria" pitchFamily="34" charset="-122"/>
                <a:cs typeface="Cambria" pitchFamily="34" charset="-120"/>
              </a:rPr>
              <a:t>It’s about speaking up before it becomes someone else’s problem too.</a:t>
            </a:r>
            <a:endParaRPr lang="en-US" sz="2600" dirty="0"/>
          </a:p>
        </p:txBody>
      </p:sp>
      <p:sp>
        <p:nvSpPr>
          <p:cNvPr id="6" name="Shape 4"/>
          <p:cNvSpPr/>
          <p:nvPr/>
        </p:nvSpPr>
        <p:spPr>
          <a:xfrm>
            <a:off x="822960" y="4389120"/>
            <a:ext cx="5120640" cy="822960"/>
          </a:xfrm>
          <a:prstGeom prst="roundRect">
            <a:avLst>
              <a:gd name="adj" fmla="val 50000"/>
            </a:avLst>
          </a:prstGeom>
          <a:solidFill>
            <a:srgbClr val="CADCFC"/>
          </a:solidFill>
          <a:ln/>
        </p:spPr>
        <p:txBody>
          <a:bodyPr/>
          <a:lstStyle/>
          <a:p>
            <a:endParaRPr/>
          </a:p>
        </p:txBody>
      </p:sp>
      <p:sp>
        <p:nvSpPr>
          <p:cNvPr id="7" name="Text 5"/>
          <p:cNvSpPr txBox="1"/>
          <p:nvPr/>
        </p:nvSpPr>
        <p:spPr>
          <a:xfrm>
            <a:off x="822960" y="4389120"/>
            <a:ext cx="5120640" cy="82296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Continue to Module 7  —  Tools, Resources &amp; Support</a:t>
            </a:r>
            <a:endParaRPr lang="en-US" sz="1400" dirty="0"/>
          </a:p>
        </p:txBody>
      </p:sp>
      <p:sp>
        <p:nvSpPr>
          <p:cNvPr id="8" name="Text 6"/>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8892B8"/>
                </a:solidFill>
                <a:latin typeface="Calibri" pitchFamily="34" charset="0"/>
                <a:ea typeface="Calibri" pitchFamily="34" charset="-122"/>
                <a:cs typeface="Calibri" pitchFamily="34" charset="-120"/>
              </a:rPr>
              <a:t>NEXATECH ONBOARDING PATHWAY  ·  MODULE 6 STORYBOARD</a:t>
            </a:r>
            <a:endParaRPr lang="en-US" sz="900" dirty="0"/>
          </a:p>
        </p:txBody>
      </p:sp>
      <p:sp>
        <p:nvSpPr>
          <p:cNvPr id="9" name="Text 7"/>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8892B8"/>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5486400" cy="274320"/>
          </a:xfrm>
          <a:prstGeom prst="rect">
            <a:avLst/>
          </a:prstGeom>
          <a:noFill/>
          <a:ln/>
        </p:spPr>
        <p:txBody>
          <a:bodyPr wrap="square" lIns="0" tIns="0" rIns="0" bIns="0" rtlCol="0" anchor="ctr"/>
          <a:lstStyle/>
          <a:p>
            <a:pPr marL="0" indent="0">
              <a:buNone/>
            </a:pPr>
            <a:r>
              <a:rPr lang="en-US" sz="1100" b="1" kern="0" spc="120" dirty="0">
                <a:solidFill>
                  <a:srgbClr val="1E2761"/>
                </a:solidFill>
                <a:latin typeface="Calibri" pitchFamily="34" charset="0"/>
                <a:ea typeface="Calibri" pitchFamily="34" charset="-122"/>
                <a:cs typeface="Calibri" pitchFamily="34" charset="-120"/>
              </a:rPr>
              <a:t>DEVELOPMENT SPEC  ·  STORYBOARD REFERENCE ONLY — NOT SCHEDULED FOR DEVELOPMENT</a:t>
            </a:r>
            <a:endParaRPr lang="en-US" sz="1100" dirty="0"/>
          </a:p>
        </p:txBody>
      </p:sp>
      <p:sp>
        <p:nvSpPr>
          <p:cNvPr id="3" name="Text 1"/>
          <p:cNvSpPr txBox="1"/>
          <p:nvPr/>
        </p:nvSpPr>
        <p:spPr>
          <a:xfrm>
            <a:off x="457200" y="530352"/>
            <a:ext cx="8778240" cy="502920"/>
          </a:xfrm>
          <a:prstGeom prst="rect">
            <a:avLst/>
          </a:prstGeom>
          <a:noFill/>
          <a:ln/>
        </p:spPr>
        <p:txBody>
          <a:bodyPr wrap="square" lIns="0" tIns="0" rIns="0" bIns="0" rtlCol="0" anchor="ctr"/>
          <a:lstStyle/>
          <a:p>
            <a:pPr marL="0" indent="0">
              <a:buNone/>
            </a:pPr>
            <a:r>
              <a:rPr lang="en-US" sz="2500" b="1" dirty="0">
                <a:solidFill>
                  <a:srgbClr val="1B1F3B"/>
                </a:solidFill>
                <a:latin typeface="Cambria" pitchFamily="34" charset="0"/>
                <a:ea typeface="Cambria" pitchFamily="34" charset="-122"/>
                <a:cs typeface="Cambria" pitchFamily="34" charset="-120"/>
              </a:rPr>
              <a:t>Storyline Build Summary (Hypothetical)</a:t>
            </a:r>
            <a:endParaRPr lang="en-US" sz="2500" dirty="0"/>
          </a:p>
        </p:txBody>
      </p:sp>
      <p:sp>
        <p:nvSpPr>
          <p:cNvPr id="4" name="Text 2"/>
          <p:cNvSpPr txBox="1"/>
          <p:nvPr/>
        </p:nvSpPr>
        <p:spPr>
          <a:xfrm>
            <a:off x="457200" y="969264"/>
            <a:ext cx="8778240" cy="274320"/>
          </a:xfrm>
          <a:prstGeom prst="rect">
            <a:avLst/>
          </a:prstGeom>
          <a:noFill/>
          <a:ln/>
        </p:spPr>
        <p:txBody>
          <a:bodyPr wrap="square" lIns="0" tIns="0" rIns="0" bIns="0" rtlCol="0" anchor="ctr"/>
          <a:lstStyle/>
          <a:p>
            <a:pPr marL="0" indent="0">
              <a:buNone/>
            </a:pPr>
            <a:r>
              <a:rPr lang="en-US" sz="1200" i="1" dirty="0">
                <a:solidFill>
                  <a:srgbClr val="5B6785"/>
                </a:solidFill>
                <a:latin typeface="Calibri" pitchFamily="34" charset="0"/>
                <a:ea typeface="Calibri" pitchFamily="34" charset="-122"/>
                <a:cs typeface="Calibri" pitchFamily="34" charset="-120"/>
              </a:rPr>
              <a:t>What this scenario would need if it were built — kept to Module 4’s level of detail for portfolio parity</a:t>
            </a:r>
            <a:endParaRPr lang="en-US" sz="1200" dirty="0"/>
          </a:p>
        </p:txBody>
      </p:sp>
      <p:sp>
        <p:nvSpPr>
          <p:cNvPr id="5" name="Text 3"/>
          <p:cNvSpPr txBox="1"/>
          <p:nvPr/>
        </p:nvSpPr>
        <p:spPr>
          <a:xfrm>
            <a:off x="10058400" y="292608"/>
            <a:ext cx="1673352"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MODULE 6</a:t>
            </a:r>
            <a:endParaRPr lang="en-US" sz="1000" dirty="0"/>
          </a:p>
        </p:txBody>
      </p:sp>
      <p:sp>
        <p:nvSpPr>
          <p:cNvPr id="6" name="Shape 4"/>
          <p:cNvSpPr/>
          <p:nvPr/>
        </p:nvSpPr>
        <p:spPr>
          <a:xfrm>
            <a:off x="10058400" y="548640"/>
            <a:ext cx="1673352" cy="36576"/>
          </a:xfrm>
          <a:prstGeom prst="rect">
            <a:avLst/>
          </a:prstGeom>
          <a:solidFill>
            <a:srgbClr val="1E2761"/>
          </a:solidFill>
          <a:ln/>
        </p:spPr>
        <p:txBody>
          <a:bodyPr/>
          <a:lstStyle/>
          <a:p>
            <a:endParaRPr/>
          </a:p>
        </p:txBody>
      </p:sp>
      <p:sp>
        <p:nvSpPr>
          <p:cNvPr id="7" name="Shape 5"/>
          <p:cNvSpPr/>
          <p:nvPr/>
        </p:nvSpPr>
        <p:spPr>
          <a:xfrm>
            <a:off x="457200" y="1371600"/>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8" name="Text 6"/>
          <p:cNvSpPr txBox="1"/>
          <p:nvPr/>
        </p:nvSpPr>
        <p:spPr>
          <a:xfrm>
            <a:off x="685800" y="1371600"/>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Variables</a:t>
            </a:r>
            <a:endParaRPr lang="en-US" sz="1250" dirty="0"/>
          </a:p>
        </p:txBody>
      </p:sp>
      <p:sp>
        <p:nvSpPr>
          <p:cNvPr id="9" name="Text 7"/>
          <p:cNvSpPr txBox="1"/>
          <p:nvPr/>
        </p:nvSpPr>
        <p:spPr>
          <a:xfrm>
            <a:off x="3108960" y="1371600"/>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Choice_6 (text: A/B/C) from 6.2. No variable needed for 6.5 — it’s ungated practice, not a tracked decision.</a:t>
            </a:r>
            <a:endParaRPr lang="en-US" sz="1150" dirty="0"/>
          </a:p>
        </p:txBody>
      </p:sp>
      <p:sp>
        <p:nvSpPr>
          <p:cNvPr id="10" name="Shape 8"/>
          <p:cNvSpPr/>
          <p:nvPr/>
        </p:nvSpPr>
        <p:spPr>
          <a:xfrm>
            <a:off x="457200" y="2176272"/>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11" name="Text 9"/>
          <p:cNvSpPr txBox="1"/>
          <p:nvPr/>
        </p:nvSpPr>
        <p:spPr>
          <a:xfrm>
            <a:off x="685800" y="2176272"/>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Slide / layer structure</a:t>
            </a:r>
            <a:endParaRPr lang="en-US" sz="1250" dirty="0"/>
          </a:p>
        </p:txBody>
      </p:sp>
      <p:sp>
        <p:nvSpPr>
          <p:cNvPr id="12" name="Text 10"/>
          <p:cNvSpPr txBox="1"/>
          <p:nvPr/>
        </p:nvSpPr>
        <p:spPr>
          <a:xfrm>
            <a:off x="3108960" y="2176272"/>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Base slides 6.1–6.6 in a single scene. Layers 6.3 A–C sit on 6.2 (Decision Point) — the slide stays visible behind the feedback, the same pattern used on Module 4’s 1.3.</a:t>
            </a:r>
            <a:endParaRPr lang="en-US" sz="1150" dirty="0"/>
          </a:p>
        </p:txBody>
      </p:sp>
      <p:sp>
        <p:nvSpPr>
          <p:cNvPr id="13" name="Shape 11"/>
          <p:cNvSpPr/>
          <p:nvPr/>
        </p:nvSpPr>
        <p:spPr>
          <a:xfrm>
            <a:off x="457200" y="2980944"/>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14" name="Text 12"/>
          <p:cNvSpPr txBox="1"/>
          <p:nvPr/>
        </p:nvSpPr>
        <p:spPr>
          <a:xfrm>
            <a:off x="685800" y="2980944"/>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Branching logic</a:t>
            </a:r>
            <a:endParaRPr lang="en-US" sz="1250" dirty="0"/>
          </a:p>
        </p:txBody>
      </p:sp>
      <p:sp>
        <p:nvSpPr>
          <p:cNvPr id="15" name="Text 13"/>
          <p:cNvSpPr txBox="1"/>
          <p:nvPr/>
        </p:nvSpPr>
        <p:spPr>
          <a:xfrm>
            <a:off x="3108960" y="2980944"/>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Each option card on 6.2 would run one trigger sequence on click: set Choice_6, set all three cards to Disabled, mark the clicked card Selected, show its matching layer. All three layers would share one Continue button that jumps to 6.4.</a:t>
            </a:r>
            <a:endParaRPr lang="en-US" sz="1150" dirty="0"/>
          </a:p>
        </p:txBody>
      </p:sp>
      <p:sp>
        <p:nvSpPr>
          <p:cNvPr id="16" name="Shape 14"/>
          <p:cNvSpPr/>
          <p:nvPr/>
        </p:nvSpPr>
        <p:spPr>
          <a:xfrm>
            <a:off x="457200" y="3785616"/>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17" name="Text 15"/>
          <p:cNvSpPr txBox="1"/>
          <p:nvPr/>
        </p:nvSpPr>
        <p:spPr>
          <a:xfrm>
            <a:off x="685800" y="3785616"/>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Transfer screen (6.5)</a:t>
            </a:r>
            <a:endParaRPr lang="en-US" sz="1250" dirty="0"/>
          </a:p>
        </p:txBody>
      </p:sp>
      <p:sp>
        <p:nvSpPr>
          <p:cNvPr id="18" name="Text 16"/>
          <p:cNvSpPr txBox="1"/>
          <p:nvPr/>
        </p:nvSpPr>
        <p:spPr>
          <a:xfrm>
            <a:off x="3108960" y="3785616"/>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6.5 needs no gating and no variable — both cards stay clickable throughout, and feedback is shown inline rather than as a separate layer, since it’s optional practice rather than a scored decision.</a:t>
            </a:r>
            <a:endParaRPr lang="en-US" sz="1150" dirty="0"/>
          </a:p>
        </p:txBody>
      </p:sp>
      <p:sp>
        <p:nvSpPr>
          <p:cNvPr id="19" name="Shape 17"/>
          <p:cNvSpPr/>
          <p:nvPr/>
        </p:nvSpPr>
        <p:spPr>
          <a:xfrm>
            <a:off x="457200" y="4590288"/>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20" name="Text 18"/>
          <p:cNvSpPr txBox="1"/>
          <p:nvPr/>
        </p:nvSpPr>
        <p:spPr>
          <a:xfrm>
            <a:off x="685800" y="4590288"/>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States</a:t>
            </a:r>
            <a:endParaRPr lang="en-US" sz="1250" dirty="0"/>
          </a:p>
        </p:txBody>
      </p:sp>
      <p:sp>
        <p:nvSpPr>
          <p:cNvPr id="21" name="Text 19"/>
          <p:cNvSpPr txBox="1"/>
          <p:nvPr/>
        </p:nvSpPr>
        <p:spPr>
          <a:xfrm>
            <a:off x="3108960" y="4590288"/>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Option cards on 6.2: Normal → Hover → Selected → Disabled, identical to Module 4’s 1.3. The 6.5 cards need only Normal → Hover, since nothing locks.</a:t>
            </a:r>
            <a:endParaRPr lang="en-US" sz="1150" dirty="0"/>
          </a:p>
        </p:txBody>
      </p:sp>
      <p:sp>
        <p:nvSpPr>
          <p:cNvPr id="22" name="Shape 20"/>
          <p:cNvSpPr/>
          <p:nvPr/>
        </p:nvSpPr>
        <p:spPr>
          <a:xfrm>
            <a:off x="457200" y="5394960"/>
            <a:ext cx="11247120" cy="731520"/>
          </a:xfrm>
          <a:prstGeom prst="roundRect">
            <a:avLst>
              <a:gd name="adj" fmla="val 6250"/>
            </a:avLst>
          </a:prstGeom>
          <a:solidFill>
            <a:srgbClr val="EEF3FD"/>
          </a:solidFill>
          <a:ln w="12700">
            <a:solidFill>
              <a:srgbClr val="C9D3EA"/>
            </a:solidFill>
            <a:prstDash val="solid"/>
          </a:ln>
        </p:spPr>
        <p:txBody>
          <a:bodyPr/>
          <a:lstStyle/>
          <a:p>
            <a:endParaRPr/>
          </a:p>
        </p:txBody>
      </p:sp>
      <p:sp>
        <p:nvSpPr>
          <p:cNvPr id="23" name="Text 21"/>
          <p:cNvSpPr txBox="1"/>
          <p:nvPr/>
        </p:nvSpPr>
        <p:spPr>
          <a:xfrm>
            <a:off x="685800" y="5394960"/>
            <a:ext cx="2286000" cy="73152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Reporting</a:t>
            </a:r>
            <a:endParaRPr lang="en-US" sz="1250" dirty="0"/>
          </a:p>
        </p:txBody>
      </p:sp>
      <p:sp>
        <p:nvSpPr>
          <p:cNvPr id="24" name="Text 22"/>
          <p:cNvSpPr txBox="1"/>
          <p:nvPr/>
        </p:nvSpPr>
        <p:spPr>
          <a:xfrm>
            <a:off x="3108960" y="5394960"/>
            <a:ext cx="8503920" cy="731520"/>
          </a:xfrm>
          <a:prstGeom prst="rect">
            <a:avLst/>
          </a:prstGeom>
          <a:noFill/>
          <a:ln/>
        </p:spPr>
        <p:txBody>
          <a:bodyPr wrap="square" lIns="0" tIns="0" rIns="0" bIns="0" rtlCol="0" anchor="ctr"/>
          <a:lstStyle/>
          <a:p>
            <a:pPr marL="0" indent="0">
              <a:lnSpc>
                <a:spcPct val="112000"/>
              </a:lnSpc>
              <a:buNone/>
            </a:pPr>
            <a:r>
              <a:rPr lang="en-US" sz="1150" dirty="0">
                <a:solidFill>
                  <a:srgbClr val="1B1F3B"/>
                </a:solidFill>
                <a:latin typeface="Calibri" pitchFamily="34" charset="0"/>
                <a:ea typeface="Calibri" pitchFamily="34" charset="-122"/>
                <a:cs typeface="Calibri" pitchFamily="34" charset="-120"/>
              </a:rPr>
              <a:t>Choice_6 could be reported to the LMS as an interaction result if this module is ever built; not required for a storyboard-only deliverable.</a:t>
            </a:r>
            <a:endParaRPr lang="en-US" sz="11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kern="0" spc="50" dirty="0">
                <a:solidFill>
                  <a:srgbClr val="5B6785"/>
                </a:solidFill>
                <a:latin typeface="Calibri" pitchFamily="34" charset="0"/>
                <a:ea typeface="Calibri" pitchFamily="34" charset="-122"/>
                <a:cs typeface="Calibri" pitchFamily="34" charset="-120"/>
              </a:rPr>
              <a:t>NEXATECH ONBOARDING PATHWAY  ·  MODULE 6 STORYBOARD</a:t>
            </a:r>
            <a:endParaRPr lang="en-US" sz="900" dirty="0"/>
          </a:p>
        </p:txBody>
      </p:sp>
      <p:sp>
        <p:nvSpPr>
          <p:cNvPr id="26" name="Text 24"/>
          <p:cNvSpPr txBox="1"/>
          <p:nvPr/>
        </p:nvSpPr>
        <p:spPr>
          <a:xfrm>
            <a:off x="9902952" y="6510528"/>
            <a:ext cx="1828800" cy="274320"/>
          </a:xfrm>
          <a:prstGeom prst="rect">
            <a:avLst/>
          </a:prstGeom>
          <a:noFill/>
          <a:ln/>
        </p:spPr>
        <p:txBody>
          <a:bodyPr wrap="square" lIns="0" tIns="0" rIns="0" bIns="0" rtlCol="0" anchor="ctr"/>
          <a:lstStyle/>
          <a:p>
            <a:pPr marL="0" indent="0" algn="r">
              <a:buNone/>
            </a:pPr>
            <a:r>
              <a:rPr lang="en-US" sz="900" kern="0" spc="50" dirty="0">
                <a:solidFill>
                  <a:srgbClr val="5B6785"/>
                </a:solidFill>
                <a:latin typeface="Calibri" pitchFamily="34" charset="0"/>
                <a:ea typeface="Calibri" pitchFamily="34" charset="-122"/>
                <a:cs typeface="Calibri" pitchFamily="34" charset="-120"/>
              </a:rPr>
              <a:t>SPEC</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1964</Words>
  <Application>Microsoft Office PowerPoint</Application>
  <PresentationFormat>Widescreen</PresentationFormat>
  <Paragraphs>237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Sanjana Kashyap</cp:lastModifiedBy>
  <cp:revision>2</cp:revision>
  <dcterms:created xsi:type="dcterms:W3CDTF">2026-09-21T11:27:53Z</dcterms:created>
  <dcterms:modified xsi:type="dcterms:W3CDTF">2026-10-01T08:12:25Z</dcterms:modified>
</cp:coreProperties>
</file>